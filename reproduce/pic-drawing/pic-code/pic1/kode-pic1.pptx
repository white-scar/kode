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3716000" cy="9144000"/>
  <p:notesSz cx="9144000" cy="13716000"/>
  <p:custDataLst>
    <p:tags r:id="rId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9A5A"/>
    <a:srgbClr val="49C779"/>
    <a:srgbClr val="4B83E6"/>
    <a:srgbClr val="D82C5B"/>
    <a:srgbClr val="FFE2C4"/>
    <a:srgbClr val="1C8B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5" name="组合 1414"/>
          <p:cNvGrpSpPr/>
          <p:nvPr/>
        </p:nvGrpSpPr>
        <p:grpSpPr>
          <a:xfrm>
            <a:off x="109855" y="13970"/>
            <a:ext cx="13468985" cy="8636635"/>
            <a:chOff x="173" y="22"/>
            <a:chExt cx="21211" cy="13601"/>
          </a:xfrm>
        </p:grpSpPr>
        <p:sp>
          <p:nvSpPr>
            <p:cNvPr id="2" name="Text 0"/>
            <p:cNvSpPr txBox="1"/>
            <p:nvPr/>
          </p:nvSpPr>
          <p:spPr>
            <a:xfrm>
              <a:off x="173" y="22"/>
              <a:ext cx="360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a</a:t>
              </a:r>
              <a:endParaRPr lang="en-US" sz="165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76" y="36"/>
              <a:ext cx="8568" cy="518"/>
            </a:xfrm>
            <a:prstGeom prst="roundRect">
              <a:avLst>
                <a:gd name="adj" fmla="val 22222"/>
              </a:avLst>
            </a:prstGeom>
            <a:solidFill>
              <a:srgbClr val="F4F7FA"/>
            </a:solidFill>
            <a:ln w="8890">
              <a:solidFill>
                <a:srgbClr val="F4F7FA"/>
              </a:solidFill>
              <a:prstDash val="solid"/>
            </a:ln>
          </p:spPr>
        </p:sp>
        <p:sp>
          <p:nvSpPr>
            <p:cNvPr id="4" name="Text 2"/>
            <p:cNvSpPr txBox="1"/>
            <p:nvPr/>
          </p:nvSpPr>
          <p:spPr>
            <a:xfrm>
              <a:off x="778" y="65"/>
              <a:ext cx="813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From static prediction at one time point ...</a:t>
              </a:r>
              <a:endParaRPr lang="en-US" sz="146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8669" y="36"/>
              <a:ext cx="12715" cy="518"/>
            </a:xfrm>
            <a:prstGeom prst="roundRect">
              <a:avLst>
                <a:gd name="adj" fmla="val 22222"/>
              </a:avLst>
            </a:prstGeom>
            <a:solidFill>
              <a:srgbClr val="D9F7E1"/>
            </a:solidFill>
            <a:ln w="8890">
              <a:solidFill>
                <a:srgbClr val="D9F7E1"/>
              </a:solidFill>
              <a:prstDash val="solid"/>
            </a:ln>
          </p:spPr>
        </p:sp>
        <p:sp>
          <p:nvSpPr>
            <p:cNvPr id="6" name="Text 4"/>
            <p:cNvSpPr txBox="1"/>
            <p:nvPr/>
          </p:nvSpPr>
          <p:spPr>
            <a:xfrm>
              <a:off x="9245" y="65"/>
              <a:ext cx="1173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... to genotype-conditioned continuous-time developmental dynamics</a:t>
              </a:r>
              <a:endParaRPr lang="en-US" sz="141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173" y="619"/>
              <a:ext cx="7229" cy="3082"/>
            </a:xfrm>
            <a:prstGeom prst="roundRect">
              <a:avLst>
                <a:gd name="adj" fmla="val 3738"/>
              </a:avLst>
            </a:prstGeom>
            <a:solidFill>
              <a:srgbClr val="F4F7FA"/>
            </a:solidFill>
            <a:ln w="8255">
              <a:solidFill>
                <a:srgbClr val="D4DDE5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173" y="619"/>
              <a:ext cx="7229" cy="562"/>
            </a:xfrm>
            <a:prstGeom prst="roundRect">
              <a:avLst>
                <a:gd name="adj" fmla="val 20513"/>
              </a:avLst>
            </a:prstGeom>
            <a:solidFill>
              <a:srgbClr val="E4EAF0"/>
            </a:solidFill>
            <a:ln w="8890">
              <a:solidFill>
                <a:srgbClr val="E4EAF0"/>
              </a:solidFill>
              <a:prstDash val="solid"/>
            </a:ln>
          </p:spPr>
        </p:sp>
        <p:sp>
          <p:nvSpPr>
            <p:cNvPr id="9" name="Text 7"/>
            <p:cNvSpPr txBox="1"/>
            <p:nvPr/>
          </p:nvSpPr>
          <p:spPr>
            <a:xfrm>
              <a:off x="360" y="706"/>
              <a:ext cx="6854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4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Traditional genomic prediction (GP)</a:t>
              </a:r>
              <a:endParaRPr lang="en-US" sz="114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411" y="1411"/>
              <a:ext cx="907" cy="1224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1430">
              <a:solidFill>
                <a:srgbClr val="2D82C7"/>
              </a:solidFill>
              <a:prstDash val="solid"/>
            </a:ln>
          </p:spPr>
        </p:sp>
        <p:sp>
          <p:nvSpPr>
            <p:cNvPr id="11" name="Text 9"/>
            <p:cNvSpPr txBox="1"/>
            <p:nvPr/>
          </p:nvSpPr>
          <p:spPr>
            <a:xfrm>
              <a:off x="1454" y="1440"/>
              <a:ext cx="821" cy="1166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730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950" y="2750"/>
              <a:ext cx="1829" cy="331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7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 (G)</a:t>
              </a:r>
              <a:endParaRPr lang="en-US" sz="87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168" y="2045"/>
              <a:ext cx="691" cy="0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14" name="Shape 12"/>
            <p:cNvSpPr/>
            <p:nvPr/>
          </p:nvSpPr>
          <p:spPr>
            <a:xfrm>
              <a:off x="4766" y="1325"/>
              <a:ext cx="1123" cy="1483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1430">
              <a:solidFill>
                <a:srgbClr val="4A9E28"/>
              </a:solidFill>
              <a:prstDash val="solid"/>
            </a:ln>
          </p:spPr>
        </p:sp>
        <p:sp>
          <p:nvSpPr>
            <p:cNvPr id="15" name="Text 13"/>
            <p:cNvSpPr txBox="1"/>
            <p:nvPr/>
          </p:nvSpPr>
          <p:spPr>
            <a:xfrm>
              <a:off x="4810" y="1354"/>
              <a:ext cx="1037" cy="1426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73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4104" y="2822"/>
              <a:ext cx="2448" cy="619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4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Trait value</a:t>
              </a:r>
              <a:endParaRPr lang="en-US" sz="840" dirty="0"/>
            </a:p>
            <a:p>
              <a:pPr marL="0" indent="0" algn="ctr">
                <a:buNone/>
              </a:pPr>
              <a:r>
                <a:rPr lang="en-US" sz="84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at a single time point (y</a:t>
              </a:r>
              <a:r>
                <a:rPr lang="en-US" sz="840" b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  <a:r>
                <a:rPr lang="en-US" sz="84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)</a:t>
              </a:r>
              <a:endParaRPr lang="en-US" sz="84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425" y="1601"/>
              <a:ext cx="729" cy="1042"/>
            </a:xfrm>
            <a:prstGeom prst="chevron">
              <a:avLst/>
            </a:prstGeom>
            <a:solidFill>
              <a:srgbClr val="68D7E6">
                <a:alpha val="90000"/>
              </a:srgbClr>
            </a:solidFill>
            <a:ln w="12700">
              <a:solidFill>
                <a:srgbClr val="68D7E6">
                  <a:alpha val="0"/>
                </a:srgbClr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8154" y="619"/>
              <a:ext cx="13230" cy="3082"/>
            </a:xfrm>
            <a:prstGeom prst="roundRect">
              <a:avLst>
                <a:gd name="adj" fmla="val 3738"/>
              </a:avLst>
            </a:prstGeom>
            <a:solidFill>
              <a:srgbClr val="EFFBF3"/>
            </a:solidFill>
            <a:ln w="8255">
              <a:solidFill>
                <a:srgbClr val="C2E8C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8230" y="619"/>
              <a:ext cx="13154" cy="562"/>
            </a:xfrm>
            <a:prstGeom prst="roundRect">
              <a:avLst>
                <a:gd name="adj" fmla="val 20513"/>
              </a:avLst>
            </a:prstGeom>
            <a:solidFill>
              <a:srgbClr val="D8F3DF"/>
            </a:solidFill>
            <a:ln w="8890">
              <a:solidFill>
                <a:srgbClr val="D8F3DF"/>
              </a:solidFill>
              <a:prstDash val="solid"/>
            </a:ln>
          </p:spPr>
        </p:sp>
        <p:sp>
          <p:nvSpPr>
            <p:cNvPr id="21" name="Text 19"/>
            <p:cNvSpPr txBox="1"/>
            <p:nvPr/>
          </p:nvSpPr>
          <p:spPr>
            <a:xfrm>
              <a:off x="8222" y="706"/>
              <a:ext cx="12931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4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Kode: learn continuous developmental dynamics for each genotype</a:t>
              </a:r>
              <a:endParaRPr lang="en-US" sz="114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8957" y="1426"/>
              <a:ext cx="864" cy="1181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1430">
              <a:solidFill>
                <a:srgbClr val="2D82C7"/>
              </a:solidFill>
              <a:prstDash val="solid"/>
            </a:ln>
          </p:spPr>
        </p:sp>
        <p:sp>
          <p:nvSpPr>
            <p:cNvPr id="23" name="Text 21"/>
            <p:cNvSpPr txBox="1"/>
            <p:nvPr/>
          </p:nvSpPr>
          <p:spPr>
            <a:xfrm>
              <a:off x="9000" y="1454"/>
              <a:ext cx="778" cy="1123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710" dirty="0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8510" y="2722"/>
              <a:ext cx="1757" cy="331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 (G)</a:t>
              </a:r>
              <a:endParaRPr lang="en-US" sz="85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10469" y="1915"/>
              <a:ext cx="360" cy="360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 fontScale="90000"/>
            </a:bodyPr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+</a:t>
              </a:r>
              <a:endParaRPr lang="en-US" sz="17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11592" y="1512"/>
              <a:ext cx="1037" cy="1138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1430">
              <a:solidFill>
                <a:srgbClr val="4A9E28"/>
              </a:solidFill>
              <a:prstDash val="solid"/>
            </a:ln>
          </p:spPr>
        </p:sp>
        <p:sp>
          <p:nvSpPr>
            <p:cNvPr id="27" name="Text 25"/>
            <p:cNvSpPr txBox="1"/>
            <p:nvPr/>
          </p:nvSpPr>
          <p:spPr>
            <a:xfrm>
              <a:off x="11635" y="1541"/>
              <a:ext cx="950" cy="1080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660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10915" y="2750"/>
              <a:ext cx="2405" cy="54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Early phenotype</a:t>
              </a:r>
              <a:endParaRPr lang="en-US" sz="810" dirty="0"/>
            </a:p>
            <a:p>
              <a:pPr marL="0" indent="0" algn="ctr">
                <a:buNone/>
              </a:pPr>
              <a:r>
                <a:rPr lang="en-US" sz="8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(state at </a:t>
              </a:r>
              <a:r>
                <a:rPr lang="en-US" sz="810" b="1" dirty="0">
                  <a:solidFill>
                    <a:srgbClr val="111827"/>
                  </a:solidFill>
                  <a:latin typeface="Cambria Math" panose="02040503050406030204" pitchFamily="34" charset="0"/>
                  <a:ea typeface="Arial" panose="020B0604020202020204" pitchFamily="34" charset="-122"/>
                  <a:cs typeface="Cambria Math" panose="02040503050406030204" pitchFamily="34" charset="0"/>
                </a:rPr>
                <a:t>t</a:t>
              </a:r>
              <a:r>
                <a:rPr lang="en-US" sz="810" b="1" baseline="-25000" dirty="0">
                  <a:solidFill>
                    <a:srgbClr val="111827"/>
                  </a:solidFill>
                  <a:latin typeface="Cambria Math" panose="02040503050406030204" pitchFamily="34" charset="0"/>
                  <a:ea typeface="Arial" panose="020B0604020202020204" pitchFamily="34" charset="-122"/>
                  <a:cs typeface="Cambria Math" panose="02040503050406030204" pitchFamily="34" charset="0"/>
                </a:rPr>
                <a:t>1</a:t>
              </a:r>
              <a:r>
                <a:rPr lang="en-US" sz="810" b="1" dirty="0">
                  <a:solidFill>
                    <a:srgbClr val="111827"/>
                  </a:solidFill>
                  <a:latin typeface="Cambria Math" panose="02040503050406030204" pitchFamily="34" charset="0"/>
                  <a:ea typeface="Arial" panose="020B0604020202020204" pitchFamily="34" charset="-122"/>
                  <a:cs typeface="Cambria Math" panose="02040503050406030204" pitchFamily="34" charset="0"/>
                </a:rPr>
                <a:t>, y</a:t>
              </a:r>
              <a:r>
                <a:rPr lang="en-US" sz="810" b="1" baseline="-25000" dirty="0">
                  <a:solidFill>
                    <a:srgbClr val="111827"/>
                  </a:solidFill>
                  <a:latin typeface="Cambria Math" panose="02040503050406030204" pitchFamily="34" charset="0"/>
                  <a:ea typeface="Arial" panose="020B0604020202020204" pitchFamily="34" charset="-122"/>
                  <a:cs typeface="Cambria Math" panose="02040503050406030204" pitchFamily="34" charset="0"/>
                </a:rPr>
                <a:t>1</a:t>
              </a:r>
              <a:r>
                <a:rPr lang="en-US" sz="8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)</a:t>
              </a:r>
              <a:endParaRPr lang="en-US" sz="81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13291" y="2045"/>
              <a:ext cx="706" cy="0"/>
            </a:xfrm>
            <a:prstGeom prst="line">
              <a:avLst/>
            </a:prstGeom>
            <a:noFill/>
            <a:ln w="22860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35" name="Shape 33"/>
            <p:cNvSpPr/>
            <p:nvPr/>
          </p:nvSpPr>
          <p:spPr>
            <a:xfrm>
              <a:off x="14623" y="2426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15530" y="2254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16466" y="2023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17611" y="1842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14682" y="2643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14500" y="2045"/>
              <a:ext cx="519" cy="576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6985">
              <a:solidFill>
                <a:srgbClr val="4A9E28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15472" y="1742"/>
              <a:ext cx="584" cy="720"/>
            </a:xfrm>
            <a:prstGeom prst="roundRect">
              <a:avLst>
                <a:gd name="adj" fmla="val 12766"/>
              </a:avLst>
            </a:prstGeom>
            <a:solidFill>
              <a:srgbClr val="FFFFFF"/>
            </a:solidFill>
            <a:ln w="6985">
              <a:solidFill>
                <a:srgbClr val="4A9E28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16464" y="1411"/>
              <a:ext cx="665" cy="936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6985">
              <a:solidFill>
                <a:srgbClr val="4A9E28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17568" y="1181"/>
              <a:ext cx="792" cy="1123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6985">
              <a:solidFill>
                <a:srgbClr val="4A9E28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>
              <a:off x="19853" y="2413"/>
              <a:ext cx="173" cy="173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54" name="Text 52"/>
            <p:cNvSpPr txBox="1"/>
            <p:nvPr/>
          </p:nvSpPr>
          <p:spPr>
            <a:xfrm>
              <a:off x="19462" y="2674"/>
              <a:ext cx="1087" cy="40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 fontScale="70000"/>
            </a:bodyPr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  <a:sym typeface="+mn-ea"/>
                </a:rPr>
                <a:t>(unobserved future developmental trajectory</a:t>
              </a:r>
              <a:r>
                <a:rPr lang="en-US" sz="70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)</a:t>
              </a:r>
              <a:endParaRPr lang="en-US" sz="7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 54"/>
                <p:cNvSpPr txBox="1"/>
                <p:nvPr/>
              </p:nvSpPr>
              <p:spPr>
                <a:xfrm>
                  <a:off x="11474" y="3226"/>
                  <a:ext cx="6077" cy="317"/>
                </a:xfrm>
                <a:prstGeom prst="rect">
                  <a:avLst/>
                </a:prstGeom>
                <a:noFill/>
              </p:spPr>
              <p:txBody>
                <a:bodyPr wrap="square" lIns="381" tIns="381" rIns="381" bIns="381" rtlCol="0" anchor="ctr">
                  <a:normAutofit fontScale="90000"/>
                </a:bodyPr>
                <a:lstStyle/>
                <a:p>
                  <a:pPr marL="0" indent="0" algn="ctr">
                    <a:buNone/>
                  </a:pPr>
                  <a:r>
                    <a:rPr lang="en-US" sz="8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(</a:t>
                  </a:r>
                  <a:r>
                    <a:rPr lang="en-US" sz="800" dirty="0">
                      <a:solidFill>
                        <a:srgbClr val="111827"/>
                      </a:solidFill>
                      <a:latin typeface="Cambria Math" panose="02040503050406030204" pitchFamily="34" charset="0"/>
                      <a:ea typeface="Arial" panose="020B0604020202020204" pitchFamily="34" charset="-122"/>
                      <a:cs typeface="Cambria Math" panose="02040503050406030204" pitchFamily="34" charset="0"/>
                    </a:rPr>
                    <a:t>G, y</a:t>
                  </a:r>
                  <a:r>
                    <a:rPr lang="en-US" sz="800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1</a:t>
                  </a:r>
                  <a:r>
                    <a:rPr lang="en-US" sz="8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)  →  developmental system  →  </a:t>
                  </a:r>
                  <a14:m>
                    <m:oMath xmlns:m="http://schemas.openxmlformats.org/officeDocument/2006/math">
                      <m:acc>
                        <m:accPr>
                          <m:ctrlPr>
                            <a:rPr lang="en-US" sz="80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</m:ctrlPr>
                        </m:accPr>
                        <m:e>
                          <m:r>
                            <a:rPr lang="en-US" sz="80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  <m:t>𝒚</m:t>
                          </m:r>
                        </m:e>
                      </m:acc>
                    </m:oMath>
                  </a14:m>
                  <a:r>
                    <a:rPr lang="en-US" sz="800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1</a:t>
                  </a:r>
                  <a:r>
                    <a:rPr lang="en-US" sz="8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  ...  </a:t>
                  </a:r>
                  <a14:m>
                    <m:oMath xmlns:m="http://schemas.openxmlformats.org/officeDocument/2006/math">
                      <m:acc>
                        <m:accPr>
                          <m:ctrlPr>
                            <a:rPr lang="en-US" sz="80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</m:ctrlPr>
                        </m:accPr>
                        <m:e>
                          <m:r>
                            <a:rPr lang="en-US" sz="80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  <m:t>𝒚</m:t>
                          </m:r>
                        </m:e>
                      </m:acc>
                    </m:oMath>
                  </a14:m>
                  <a:r>
                    <a:rPr lang="en-US" sz="800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t</a:t>
                  </a:r>
                  <a:r>
                    <a:rPr lang="en-US" sz="8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  <a:sym typeface="+mn-ea"/>
                    </a:rPr>
                    <a:t>   ...</a:t>
                  </a:r>
                  <a14:m>
                    <m:oMath xmlns:m="http://schemas.openxmlformats.org/officeDocument/2006/math">
                      <m:acc>
                        <m:accPr>
                          <m:ctrlPr>
                            <a:rPr lang="en-US" sz="80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</m:ctrlPr>
                        </m:accPr>
                        <m:e>
                          <m:r>
                            <a:rPr lang="en-US" sz="80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  <m:t>𝒚</m:t>
                          </m:r>
                        </m:e>
                      </m:acc>
                    </m:oMath>
                  </a14:m>
                  <a:r>
                    <a:rPr lang="en-US" sz="800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  <a:sym typeface="+mn-ea"/>
                    </a:rPr>
                    <a:t>T   </a:t>
                  </a:r>
                  <a:r>
                    <a:rPr lang="en-US" sz="8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  <a:sym typeface="+mn-ea"/>
                    </a:rPr>
                    <a:t>(y</a:t>
                  </a:r>
                  <a:r>
                    <a:rPr lang="en-US" sz="800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  <a:sym typeface="+mn-ea"/>
                    </a:rPr>
                    <a:t>t</a:t>
                  </a:r>
                  <a:r>
                    <a:rPr lang="en-US" sz="8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  <a:sym typeface="+mn-ea"/>
                    </a:rPr>
                    <a:t> to y</a:t>
                  </a:r>
                  <a:r>
                    <a:rPr lang="en-US" sz="800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  <a:sym typeface="+mn-ea"/>
                    </a:rPr>
                    <a:t>T</a:t>
                  </a:r>
                  <a:r>
                    <a:rPr lang="en-US" sz="8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  <a:sym typeface="+mn-ea"/>
                    </a:rPr>
                    <a:t> is unobserved in traning data)</a:t>
                  </a:r>
                  <a:endParaRPr lang="en-US" sz="80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  <a:sym typeface="+mn-ea"/>
                  </a:endParaRPr>
                </a:p>
              </p:txBody>
            </p:sp>
          </mc:Choice>
          <mc:Fallback>
            <p:sp>
              <p:nvSpPr>
                <p:cNvPr id="56" name="Text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4" y="3226"/>
                  <a:ext cx="6077" cy="317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 55"/>
            <p:cNvSpPr txBox="1"/>
            <p:nvPr/>
          </p:nvSpPr>
          <p:spPr>
            <a:xfrm>
              <a:off x="173" y="3830"/>
              <a:ext cx="36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b</a:t>
              </a:r>
              <a:endParaRPr lang="en-US" sz="165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562" y="3845"/>
              <a:ext cx="20822" cy="533"/>
            </a:xfrm>
            <a:prstGeom prst="roundRect">
              <a:avLst>
                <a:gd name="adj" fmla="val 21622"/>
              </a:avLst>
            </a:prstGeom>
            <a:solidFill>
              <a:srgbClr val="EDF8FE"/>
            </a:solidFill>
            <a:ln w="8890">
              <a:solidFill>
                <a:srgbClr val="EDF8FE"/>
              </a:solidFill>
              <a:prstDash val="solid"/>
            </a:ln>
          </p:spPr>
        </p:sp>
        <p:sp>
          <p:nvSpPr>
            <p:cNvPr id="59" name="Text 57"/>
            <p:cNvSpPr txBox="1"/>
            <p:nvPr/>
          </p:nvSpPr>
          <p:spPr>
            <a:xfrm>
              <a:off x="749" y="3888"/>
              <a:ext cx="2001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50" b="1" dirty="0">
                  <a:solidFill>
                    <a:srgbClr val="124A8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Kode model: trajectory-supervised learning of genotype-specific continuous dynamics</a:t>
              </a:r>
              <a:endParaRPr lang="en-US" sz="1450" b="1" dirty="0">
                <a:solidFill>
                  <a:srgbClr val="124A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p:sp>
          <p:nvSpPr>
            <p:cNvPr id="60" name="Shape 58"/>
            <p:cNvSpPr/>
            <p:nvPr/>
          </p:nvSpPr>
          <p:spPr>
            <a:xfrm>
              <a:off x="173" y="4435"/>
              <a:ext cx="5213" cy="6048"/>
            </a:xfrm>
            <a:prstGeom prst="roundRect">
              <a:avLst>
                <a:gd name="adj" fmla="val 2210"/>
              </a:avLst>
            </a:prstGeom>
            <a:solidFill>
              <a:srgbClr val="EDF8FE"/>
            </a:solidFill>
            <a:ln w="8255">
              <a:solidFill>
                <a:srgbClr val="B8DEEF"/>
              </a:solidFill>
              <a:prstDash val="solid"/>
            </a:ln>
          </p:spPr>
        </p:sp>
        <p:sp>
          <p:nvSpPr>
            <p:cNvPr id="61" name="Shape 59"/>
            <p:cNvSpPr/>
            <p:nvPr/>
          </p:nvSpPr>
          <p:spPr>
            <a:xfrm>
              <a:off x="173" y="4435"/>
              <a:ext cx="5213" cy="562"/>
            </a:xfrm>
            <a:prstGeom prst="roundRect">
              <a:avLst>
                <a:gd name="adj" fmla="val 20513"/>
              </a:avLst>
            </a:prstGeom>
            <a:solidFill>
              <a:srgbClr val="CDEDFB"/>
            </a:solidFill>
            <a:ln w="3175">
              <a:solidFill>
                <a:srgbClr val="CDEDFB"/>
              </a:solidFill>
              <a:prstDash val="solid"/>
            </a:ln>
          </p:spPr>
        </p:sp>
        <p:sp>
          <p:nvSpPr>
            <p:cNvPr id="62" name="Text 60"/>
            <p:cNvSpPr txBox="1"/>
            <p:nvPr/>
          </p:nvSpPr>
          <p:spPr>
            <a:xfrm>
              <a:off x="346" y="4500"/>
              <a:ext cx="4867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1.  Inputs and conditioning</a:t>
              </a:r>
              <a:endParaRPr lang="en-US" sz="103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5458" y="4435"/>
              <a:ext cx="4766" cy="6048"/>
            </a:xfrm>
            <a:prstGeom prst="roundRect">
              <a:avLst>
                <a:gd name="adj" fmla="val 2417"/>
              </a:avLst>
            </a:prstGeom>
            <a:solidFill>
              <a:srgbClr val="FFF1F4"/>
            </a:solidFill>
            <a:ln w="8255">
              <a:solidFill>
                <a:srgbClr val="F2C5D0"/>
              </a:solidFill>
              <a:prstDash val="solid"/>
            </a:ln>
          </p:spPr>
        </p:sp>
        <p:sp>
          <p:nvSpPr>
            <p:cNvPr id="64" name="Shape 62"/>
            <p:cNvSpPr/>
            <p:nvPr/>
          </p:nvSpPr>
          <p:spPr>
            <a:xfrm>
              <a:off x="5458" y="4435"/>
              <a:ext cx="4766" cy="562"/>
            </a:xfrm>
            <a:prstGeom prst="roundRect">
              <a:avLst>
                <a:gd name="adj" fmla="val 20513"/>
              </a:avLst>
            </a:prstGeom>
            <a:solidFill>
              <a:srgbClr val="FADDE4"/>
            </a:solidFill>
            <a:ln w="3175">
              <a:solidFill>
                <a:srgbClr val="FADDE4"/>
              </a:solidFill>
              <a:prstDash val="solid"/>
            </a:ln>
          </p:spPr>
        </p:sp>
        <p:sp>
          <p:nvSpPr>
            <p:cNvPr id="65" name="Text 63"/>
            <p:cNvSpPr txBox="1"/>
            <p:nvPr/>
          </p:nvSpPr>
          <p:spPr>
            <a:xfrm>
              <a:off x="5630" y="4500"/>
              <a:ext cx="4421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90000" lnSpcReduction="10000"/>
            </a:bodyPr>
            <a:lstStyle/>
            <a:p>
              <a:pPr marL="0" indent="0" algn="l">
                <a:buNone/>
              </a:pPr>
              <a:r>
                <a:rPr lang="en-US" sz="10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2.  Hypernetwork:</a:t>
              </a:r>
              <a:endParaRPr lang="en-US" sz="1030" dirty="0"/>
            </a:p>
            <a:p>
              <a:pPr marL="0" indent="0" algn="l">
                <a:buNone/>
              </a:pPr>
              <a:r>
                <a:rPr lang="en-US" sz="10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individual operator generation</a:t>
              </a:r>
              <a:endParaRPr lang="en-US" sz="103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10296" y="4435"/>
              <a:ext cx="5803" cy="6048"/>
            </a:xfrm>
            <a:prstGeom prst="roundRect">
              <a:avLst>
                <a:gd name="adj" fmla="val 1985"/>
              </a:avLst>
            </a:prstGeom>
            <a:solidFill>
              <a:srgbClr val="EFFBF3"/>
            </a:solidFill>
            <a:ln w="8255">
              <a:solidFill>
                <a:srgbClr val="C2E8CE"/>
              </a:solidFill>
              <a:prstDash val="solid"/>
            </a:ln>
          </p:spPr>
        </p:sp>
        <p:sp>
          <p:nvSpPr>
            <p:cNvPr id="67" name="Shape 65"/>
            <p:cNvSpPr/>
            <p:nvPr/>
          </p:nvSpPr>
          <p:spPr>
            <a:xfrm>
              <a:off x="10296" y="4435"/>
              <a:ext cx="5803" cy="562"/>
            </a:xfrm>
            <a:prstGeom prst="roundRect">
              <a:avLst>
                <a:gd name="adj" fmla="val 20513"/>
              </a:avLst>
            </a:prstGeom>
            <a:solidFill>
              <a:srgbClr val="D8F3DF"/>
            </a:solidFill>
            <a:ln w="3175">
              <a:solidFill>
                <a:srgbClr val="D8F3DF"/>
              </a:solidFill>
              <a:prstDash val="solid"/>
            </a:ln>
          </p:spPr>
        </p:sp>
        <p:sp>
          <p:nvSpPr>
            <p:cNvPr id="68" name="Text 66"/>
            <p:cNvSpPr txBox="1"/>
            <p:nvPr/>
          </p:nvSpPr>
          <p:spPr>
            <a:xfrm>
              <a:off x="10469" y="4500"/>
              <a:ext cx="545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3.  Continuous-time developmental dynamics</a:t>
              </a:r>
              <a:endParaRPr lang="en-US" sz="1030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16171" y="4435"/>
              <a:ext cx="5213" cy="6048"/>
            </a:xfrm>
            <a:prstGeom prst="roundRect">
              <a:avLst>
                <a:gd name="adj" fmla="val 2210"/>
              </a:avLst>
            </a:prstGeom>
            <a:solidFill>
              <a:srgbClr val="FFFBE9"/>
            </a:solidFill>
            <a:ln w="8255">
              <a:solidFill>
                <a:srgbClr val="ECDD9F"/>
              </a:solidFill>
              <a:prstDash val="solid"/>
            </a:ln>
          </p:spPr>
        </p:sp>
        <p:sp>
          <p:nvSpPr>
            <p:cNvPr id="70" name="Shape 68"/>
            <p:cNvSpPr/>
            <p:nvPr/>
          </p:nvSpPr>
          <p:spPr>
            <a:xfrm>
              <a:off x="16171" y="4435"/>
              <a:ext cx="5213" cy="562"/>
            </a:xfrm>
            <a:prstGeom prst="roundRect">
              <a:avLst>
                <a:gd name="adj" fmla="val 20513"/>
              </a:avLst>
            </a:prstGeom>
            <a:solidFill>
              <a:srgbClr val="FFF3C7"/>
            </a:solidFill>
            <a:ln w="3175">
              <a:solidFill>
                <a:srgbClr val="FFF3C7"/>
              </a:solidFill>
              <a:prstDash val="solid"/>
            </a:ln>
          </p:spPr>
        </p:sp>
        <p:sp>
          <p:nvSpPr>
            <p:cNvPr id="71" name="Text 69"/>
            <p:cNvSpPr txBox="1"/>
            <p:nvPr/>
          </p:nvSpPr>
          <p:spPr>
            <a:xfrm>
              <a:off x="16344" y="4500"/>
              <a:ext cx="4867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4.  Output: developmental trajectory</a:t>
              </a:r>
              <a:endParaRPr lang="en-US" sz="103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5198" y="7474"/>
              <a:ext cx="446" cy="0"/>
            </a:xfrm>
            <a:prstGeom prst="line">
              <a:avLst/>
            </a:prstGeom>
            <a:noFill/>
            <a:ln w="18415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74" name="Shape 72"/>
            <p:cNvSpPr/>
            <p:nvPr/>
          </p:nvSpPr>
          <p:spPr>
            <a:xfrm>
              <a:off x="10051" y="7474"/>
              <a:ext cx="432" cy="0"/>
            </a:xfrm>
            <a:prstGeom prst="line">
              <a:avLst/>
            </a:prstGeom>
            <a:noFill/>
            <a:ln w="18415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75" name="Shape 73"/>
            <p:cNvSpPr/>
            <p:nvPr/>
          </p:nvSpPr>
          <p:spPr>
            <a:xfrm>
              <a:off x="15926" y="7474"/>
              <a:ext cx="432" cy="0"/>
            </a:xfrm>
            <a:prstGeom prst="line">
              <a:avLst/>
            </a:prstGeom>
            <a:noFill/>
            <a:ln w="18415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76" name="Text 74"/>
            <p:cNvSpPr txBox="1"/>
            <p:nvPr/>
          </p:nvSpPr>
          <p:spPr>
            <a:xfrm>
              <a:off x="634" y="5112"/>
              <a:ext cx="3168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Genomic relatedness</a:t>
              </a:r>
              <a:endParaRPr lang="en-US" sz="900" dirty="0"/>
            </a:p>
          </p:txBody>
        </p:sp>
        <p:sp>
          <p:nvSpPr>
            <p:cNvPr id="77" name="Text 75"/>
            <p:cNvSpPr txBox="1"/>
            <p:nvPr/>
          </p:nvSpPr>
          <p:spPr>
            <a:xfrm>
              <a:off x="1166" y="5443"/>
              <a:ext cx="2117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4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GRM → PCA</a:t>
              </a:r>
              <a:endParaRPr lang="en-US" sz="84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893" y="5933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79" name="Shape 77"/>
            <p:cNvSpPr/>
            <p:nvPr/>
          </p:nvSpPr>
          <p:spPr>
            <a:xfrm>
              <a:off x="1152" y="5933"/>
              <a:ext cx="259" cy="230"/>
            </a:xfrm>
            <a:prstGeom prst="rect">
              <a:avLst/>
            </a:prstGeom>
            <a:solidFill>
              <a:srgbClr val="D6F3FD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0" name="Shape 78"/>
            <p:cNvSpPr/>
            <p:nvPr/>
          </p:nvSpPr>
          <p:spPr>
            <a:xfrm>
              <a:off x="1411" y="5933"/>
              <a:ext cx="259" cy="230"/>
            </a:xfrm>
            <a:prstGeom prst="rect">
              <a:avLst/>
            </a:prstGeom>
            <a:solidFill>
              <a:srgbClr val="49B9E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1" name="Shape 79"/>
            <p:cNvSpPr/>
            <p:nvPr/>
          </p:nvSpPr>
          <p:spPr>
            <a:xfrm>
              <a:off x="1670" y="593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2" name="Shape 80"/>
            <p:cNvSpPr/>
            <p:nvPr/>
          </p:nvSpPr>
          <p:spPr>
            <a:xfrm>
              <a:off x="1930" y="5933"/>
              <a:ext cx="259" cy="230"/>
            </a:xfrm>
            <a:prstGeom prst="rect">
              <a:avLst/>
            </a:prstGeom>
            <a:solidFill>
              <a:srgbClr val="FAE0E8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3" name="Shape 81"/>
            <p:cNvSpPr/>
            <p:nvPr/>
          </p:nvSpPr>
          <p:spPr>
            <a:xfrm>
              <a:off x="2189" y="5933"/>
              <a:ext cx="259" cy="230"/>
            </a:xfrm>
            <a:prstGeom prst="rect">
              <a:avLst/>
            </a:prstGeom>
            <a:solidFill>
              <a:srgbClr val="F16E94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4" name="Shape 82"/>
            <p:cNvSpPr/>
            <p:nvPr/>
          </p:nvSpPr>
          <p:spPr>
            <a:xfrm>
              <a:off x="2448" y="5933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5" name="Shape 83"/>
            <p:cNvSpPr/>
            <p:nvPr/>
          </p:nvSpPr>
          <p:spPr>
            <a:xfrm>
              <a:off x="2707" y="5933"/>
              <a:ext cx="259" cy="230"/>
            </a:xfrm>
            <a:prstGeom prst="rect">
              <a:avLst/>
            </a:prstGeom>
            <a:solidFill>
              <a:srgbClr val="D6F3FD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6" name="Shape 84"/>
            <p:cNvSpPr/>
            <p:nvPr/>
          </p:nvSpPr>
          <p:spPr>
            <a:xfrm>
              <a:off x="2966" y="5933"/>
              <a:ext cx="259" cy="230"/>
            </a:xfrm>
            <a:prstGeom prst="rect">
              <a:avLst/>
            </a:prstGeom>
            <a:solidFill>
              <a:srgbClr val="49B9E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7" name="Shape 85"/>
            <p:cNvSpPr/>
            <p:nvPr/>
          </p:nvSpPr>
          <p:spPr>
            <a:xfrm>
              <a:off x="893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8" name="Shape 86"/>
            <p:cNvSpPr/>
            <p:nvPr/>
          </p:nvSpPr>
          <p:spPr>
            <a:xfrm>
              <a:off x="1152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89" name="Shape 87"/>
            <p:cNvSpPr/>
            <p:nvPr/>
          </p:nvSpPr>
          <p:spPr>
            <a:xfrm>
              <a:off x="1411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0" name="Shape 88"/>
            <p:cNvSpPr/>
            <p:nvPr/>
          </p:nvSpPr>
          <p:spPr>
            <a:xfrm>
              <a:off x="1670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1" name="Shape 89"/>
            <p:cNvSpPr/>
            <p:nvPr/>
          </p:nvSpPr>
          <p:spPr>
            <a:xfrm>
              <a:off x="1930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2" name="Shape 90"/>
            <p:cNvSpPr/>
            <p:nvPr/>
          </p:nvSpPr>
          <p:spPr>
            <a:xfrm>
              <a:off x="2189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3" name="Shape 91"/>
            <p:cNvSpPr/>
            <p:nvPr/>
          </p:nvSpPr>
          <p:spPr>
            <a:xfrm>
              <a:off x="2448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4" name="Shape 92"/>
            <p:cNvSpPr/>
            <p:nvPr/>
          </p:nvSpPr>
          <p:spPr>
            <a:xfrm>
              <a:off x="2707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5" name="Shape 93"/>
            <p:cNvSpPr/>
            <p:nvPr/>
          </p:nvSpPr>
          <p:spPr>
            <a:xfrm>
              <a:off x="2966" y="6163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6" name="Shape 94"/>
            <p:cNvSpPr/>
            <p:nvPr/>
          </p:nvSpPr>
          <p:spPr>
            <a:xfrm>
              <a:off x="893" y="6394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7" name="Shape 95"/>
            <p:cNvSpPr/>
            <p:nvPr/>
          </p:nvSpPr>
          <p:spPr>
            <a:xfrm>
              <a:off x="1152" y="6394"/>
              <a:ext cx="259" cy="230"/>
            </a:xfrm>
            <a:prstGeom prst="rect">
              <a:avLst/>
            </a:prstGeom>
            <a:solidFill>
              <a:srgbClr val="F16E94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8" name="Shape 96"/>
            <p:cNvSpPr/>
            <p:nvPr/>
          </p:nvSpPr>
          <p:spPr>
            <a:xfrm>
              <a:off x="1411" y="6394"/>
              <a:ext cx="259" cy="230"/>
            </a:xfrm>
            <a:prstGeom prst="rect">
              <a:avLst/>
            </a:prstGeom>
            <a:solidFill>
              <a:srgbClr val="FAE0E8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99" name="Shape 97"/>
            <p:cNvSpPr/>
            <p:nvPr/>
          </p:nvSpPr>
          <p:spPr>
            <a:xfrm>
              <a:off x="1670" y="639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0" name="Shape 98"/>
            <p:cNvSpPr/>
            <p:nvPr/>
          </p:nvSpPr>
          <p:spPr>
            <a:xfrm>
              <a:off x="1930" y="6394"/>
              <a:ext cx="259" cy="230"/>
            </a:xfrm>
            <a:prstGeom prst="rect">
              <a:avLst/>
            </a:prstGeom>
            <a:solidFill>
              <a:srgbClr val="49B9E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1" name="Shape 99"/>
            <p:cNvSpPr/>
            <p:nvPr/>
          </p:nvSpPr>
          <p:spPr>
            <a:xfrm>
              <a:off x="2189" y="6394"/>
              <a:ext cx="259" cy="230"/>
            </a:xfrm>
            <a:prstGeom prst="rect">
              <a:avLst/>
            </a:prstGeom>
            <a:solidFill>
              <a:srgbClr val="D6F3FD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2" name="Shape 100"/>
            <p:cNvSpPr/>
            <p:nvPr/>
          </p:nvSpPr>
          <p:spPr>
            <a:xfrm>
              <a:off x="2448" y="6394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3" name="Shape 101"/>
            <p:cNvSpPr/>
            <p:nvPr/>
          </p:nvSpPr>
          <p:spPr>
            <a:xfrm>
              <a:off x="2707" y="6394"/>
              <a:ext cx="259" cy="230"/>
            </a:xfrm>
            <a:prstGeom prst="rect">
              <a:avLst/>
            </a:prstGeom>
            <a:solidFill>
              <a:srgbClr val="F16E94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4" name="Shape 102"/>
            <p:cNvSpPr/>
            <p:nvPr/>
          </p:nvSpPr>
          <p:spPr>
            <a:xfrm>
              <a:off x="2966" y="6394"/>
              <a:ext cx="259" cy="230"/>
            </a:xfrm>
            <a:prstGeom prst="rect">
              <a:avLst/>
            </a:prstGeom>
            <a:solidFill>
              <a:srgbClr val="FAE0E8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5" name="Shape 103"/>
            <p:cNvSpPr/>
            <p:nvPr/>
          </p:nvSpPr>
          <p:spPr>
            <a:xfrm>
              <a:off x="893" y="662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6" name="Shape 104"/>
            <p:cNvSpPr/>
            <p:nvPr/>
          </p:nvSpPr>
          <p:spPr>
            <a:xfrm>
              <a:off x="1152" y="6624"/>
              <a:ext cx="259" cy="230"/>
            </a:xfrm>
            <a:prstGeom prst="rect">
              <a:avLst/>
            </a:prstGeom>
            <a:solidFill>
              <a:srgbClr val="D6F3FD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7" name="Shape 105"/>
            <p:cNvSpPr/>
            <p:nvPr/>
          </p:nvSpPr>
          <p:spPr>
            <a:xfrm>
              <a:off x="1411" y="6624"/>
              <a:ext cx="259" cy="230"/>
            </a:xfrm>
            <a:prstGeom prst="rect">
              <a:avLst/>
            </a:prstGeom>
            <a:solidFill>
              <a:srgbClr val="F16E94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8" name="Shape 106"/>
            <p:cNvSpPr/>
            <p:nvPr/>
          </p:nvSpPr>
          <p:spPr>
            <a:xfrm>
              <a:off x="1670" y="662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09" name="Shape 107"/>
            <p:cNvSpPr/>
            <p:nvPr/>
          </p:nvSpPr>
          <p:spPr>
            <a:xfrm>
              <a:off x="1930" y="6624"/>
              <a:ext cx="259" cy="230"/>
            </a:xfrm>
            <a:prstGeom prst="rect">
              <a:avLst/>
            </a:prstGeom>
            <a:solidFill>
              <a:srgbClr val="D6F3FD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0" name="Shape 108"/>
            <p:cNvSpPr/>
            <p:nvPr/>
          </p:nvSpPr>
          <p:spPr>
            <a:xfrm>
              <a:off x="2189" y="6624"/>
              <a:ext cx="259" cy="230"/>
            </a:xfrm>
            <a:prstGeom prst="rect">
              <a:avLst/>
            </a:prstGeom>
            <a:solidFill>
              <a:srgbClr val="F16E94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1" name="Shape 109"/>
            <p:cNvSpPr/>
            <p:nvPr/>
          </p:nvSpPr>
          <p:spPr>
            <a:xfrm>
              <a:off x="2448" y="662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2" name="Shape 110"/>
            <p:cNvSpPr/>
            <p:nvPr/>
          </p:nvSpPr>
          <p:spPr>
            <a:xfrm>
              <a:off x="2707" y="6624"/>
              <a:ext cx="259" cy="230"/>
            </a:xfrm>
            <a:prstGeom prst="rect">
              <a:avLst/>
            </a:prstGeom>
            <a:solidFill>
              <a:srgbClr val="D6F3FD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3" name="Shape 111"/>
            <p:cNvSpPr/>
            <p:nvPr/>
          </p:nvSpPr>
          <p:spPr>
            <a:xfrm>
              <a:off x="2966" y="6624"/>
              <a:ext cx="259" cy="230"/>
            </a:xfrm>
            <a:prstGeom prst="rect">
              <a:avLst/>
            </a:prstGeom>
            <a:solidFill>
              <a:srgbClr val="F16E94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4" name="Shape 112"/>
            <p:cNvSpPr/>
            <p:nvPr/>
          </p:nvSpPr>
          <p:spPr>
            <a:xfrm>
              <a:off x="893" y="6854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5" name="Shape 113"/>
            <p:cNvSpPr/>
            <p:nvPr/>
          </p:nvSpPr>
          <p:spPr>
            <a:xfrm>
              <a:off x="1152" y="685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6" name="Shape 114"/>
            <p:cNvSpPr/>
            <p:nvPr/>
          </p:nvSpPr>
          <p:spPr>
            <a:xfrm>
              <a:off x="1411" y="6854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7" name="Shape 115"/>
            <p:cNvSpPr/>
            <p:nvPr/>
          </p:nvSpPr>
          <p:spPr>
            <a:xfrm>
              <a:off x="1670" y="685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8" name="Shape 116"/>
            <p:cNvSpPr/>
            <p:nvPr/>
          </p:nvSpPr>
          <p:spPr>
            <a:xfrm>
              <a:off x="1930" y="6854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19" name="Shape 117"/>
            <p:cNvSpPr/>
            <p:nvPr/>
          </p:nvSpPr>
          <p:spPr>
            <a:xfrm>
              <a:off x="2189" y="685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0" name="Shape 118"/>
            <p:cNvSpPr/>
            <p:nvPr/>
          </p:nvSpPr>
          <p:spPr>
            <a:xfrm>
              <a:off x="2448" y="6854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1" name="Shape 119"/>
            <p:cNvSpPr/>
            <p:nvPr/>
          </p:nvSpPr>
          <p:spPr>
            <a:xfrm>
              <a:off x="2707" y="6854"/>
              <a:ext cx="259" cy="230"/>
            </a:xfrm>
            <a:prstGeom prst="rect">
              <a:avLst/>
            </a:prstGeom>
            <a:solidFill>
              <a:srgbClr val="8ED8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2" name="Shape 120"/>
            <p:cNvSpPr/>
            <p:nvPr/>
          </p:nvSpPr>
          <p:spPr>
            <a:xfrm>
              <a:off x="2966" y="6854"/>
              <a:ext cx="259" cy="230"/>
            </a:xfrm>
            <a:prstGeom prst="rect">
              <a:avLst/>
            </a:prstGeom>
            <a:solidFill>
              <a:srgbClr val="F8A8B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3" name="Shape 121"/>
            <p:cNvSpPr/>
            <p:nvPr/>
          </p:nvSpPr>
          <p:spPr>
            <a:xfrm>
              <a:off x="893" y="5933"/>
              <a:ext cx="2333" cy="115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6985">
              <a:solidFill>
                <a:srgbClr val="9FB1C2"/>
              </a:solidFill>
              <a:prstDash val="solid"/>
            </a:ln>
          </p:spPr>
        </p:sp>
        <p:sp>
          <p:nvSpPr>
            <p:cNvPr id="124" name="Text 122"/>
            <p:cNvSpPr txBox="1"/>
            <p:nvPr/>
          </p:nvSpPr>
          <p:spPr>
            <a:xfrm rot="16200000">
              <a:off x="158" y="6322"/>
              <a:ext cx="1123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9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Genotypes</a:t>
              </a:r>
              <a:endParaRPr lang="en-US" sz="690" dirty="0"/>
            </a:p>
          </p:txBody>
        </p:sp>
        <p:sp>
          <p:nvSpPr>
            <p:cNvPr id="125" name="Shape 123"/>
            <p:cNvSpPr/>
            <p:nvPr/>
          </p:nvSpPr>
          <p:spPr>
            <a:xfrm>
              <a:off x="1152" y="7258"/>
              <a:ext cx="230" cy="245"/>
            </a:xfrm>
            <a:prstGeom prst="rect">
              <a:avLst/>
            </a:prstGeom>
            <a:solidFill>
              <a:srgbClr val="6CCAF1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6" name="Shape 124"/>
            <p:cNvSpPr/>
            <p:nvPr/>
          </p:nvSpPr>
          <p:spPr>
            <a:xfrm>
              <a:off x="1382" y="7258"/>
              <a:ext cx="230" cy="245"/>
            </a:xfrm>
            <a:prstGeom prst="rect">
              <a:avLst/>
            </a:prstGeom>
            <a:solidFill>
              <a:srgbClr val="8DD7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7" name="Shape 125"/>
            <p:cNvSpPr/>
            <p:nvPr/>
          </p:nvSpPr>
          <p:spPr>
            <a:xfrm>
              <a:off x="1613" y="7258"/>
              <a:ext cx="230" cy="245"/>
            </a:xfrm>
            <a:prstGeom prst="rect">
              <a:avLst/>
            </a:prstGeom>
            <a:solidFill>
              <a:srgbClr val="4EB3DF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8" name="Shape 126"/>
            <p:cNvSpPr/>
            <p:nvPr/>
          </p:nvSpPr>
          <p:spPr>
            <a:xfrm>
              <a:off x="1843" y="7258"/>
              <a:ext cx="230" cy="245"/>
            </a:xfrm>
            <a:prstGeom prst="rect">
              <a:avLst/>
            </a:prstGeom>
            <a:solidFill>
              <a:srgbClr val="B7E9F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29" name="Shape 127"/>
            <p:cNvSpPr/>
            <p:nvPr/>
          </p:nvSpPr>
          <p:spPr>
            <a:xfrm>
              <a:off x="2074" y="7258"/>
              <a:ext cx="230" cy="245"/>
            </a:xfrm>
            <a:prstGeom prst="rect">
              <a:avLst/>
            </a:prstGeom>
            <a:solidFill>
              <a:srgbClr val="6CCAF1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30" name="Shape 128"/>
            <p:cNvSpPr/>
            <p:nvPr/>
          </p:nvSpPr>
          <p:spPr>
            <a:xfrm>
              <a:off x="2304" y="7258"/>
              <a:ext cx="230" cy="245"/>
            </a:xfrm>
            <a:prstGeom prst="rect">
              <a:avLst/>
            </a:prstGeom>
            <a:solidFill>
              <a:srgbClr val="8DD7F5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31" name="Shape 129"/>
            <p:cNvSpPr/>
            <p:nvPr/>
          </p:nvSpPr>
          <p:spPr>
            <a:xfrm>
              <a:off x="2534" y="7258"/>
              <a:ext cx="230" cy="245"/>
            </a:xfrm>
            <a:prstGeom prst="rect">
              <a:avLst/>
            </a:prstGeom>
            <a:solidFill>
              <a:srgbClr val="4EB3DF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32" name="Shape 130"/>
            <p:cNvSpPr/>
            <p:nvPr/>
          </p:nvSpPr>
          <p:spPr>
            <a:xfrm>
              <a:off x="2765" y="7258"/>
              <a:ext cx="230" cy="245"/>
            </a:xfrm>
            <a:prstGeom prst="rect">
              <a:avLst/>
            </a:prstGeom>
            <a:solidFill>
              <a:srgbClr val="B7E9FA"/>
            </a:solidFill>
            <a:ln w="4445">
              <a:solidFill>
                <a:srgbClr val="FFFFFF"/>
              </a:solidFill>
              <a:prstDash val="solid"/>
            </a:ln>
          </p:spPr>
        </p:sp>
        <p:sp>
          <p:nvSpPr>
            <p:cNvPr id="133" name="Shape 131"/>
            <p:cNvSpPr/>
            <p:nvPr/>
          </p:nvSpPr>
          <p:spPr>
            <a:xfrm>
              <a:off x="1152" y="7245"/>
              <a:ext cx="1843" cy="24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6985">
              <a:solidFill>
                <a:srgbClr val="2D82C7"/>
              </a:solidFill>
              <a:prstDash val="solid"/>
            </a:ln>
          </p:spPr>
        </p:sp>
        <p:sp>
          <p:nvSpPr>
            <p:cNvPr id="134" name="Text 132"/>
            <p:cNvSpPr txBox="1"/>
            <p:nvPr/>
          </p:nvSpPr>
          <p:spPr>
            <a:xfrm>
              <a:off x="907" y="7527"/>
              <a:ext cx="2088" cy="57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Top D</a:t>
              </a:r>
              <a:r>
                <a:rPr lang="en-US" sz="760" b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</a:t>
              </a:r>
              <a:r>
                <a:rPr lang="en-US" sz="7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 PCs</a:t>
              </a:r>
              <a:endParaRPr lang="en-US" sz="76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  <a:p>
              <a:pPr marL="0" indent="0" algn="ctr">
                <a:buNone/>
              </a:pPr>
              <a:r>
                <a:rPr lang="en-US" sz="7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 (z</a:t>
              </a:r>
              <a:r>
                <a:rPr lang="en-US" sz="760" b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</a:t>
              </a:r>
              <a:r>
                <a:rPr lang="en-US" sz="7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)</a:t>
              </a:r>
              <a:endParaRPr lang="en-US" sz="760" dirty="0"/>
            </a:p>
          </p:txBody>
        </p:sp>
        <p:sp>
          <p:nvSpPr>
            <p:cNvPr id="135" name="Text 133"/>
            <p:cNvSpPr txBox="1"/>
            <p:nvPr/>
          </p:nvSpPr>
          <p:spPr>
            <a:xfrm>
              <a:off x="533" y="8165"/>
              <a:ext cx="3139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Early phenotype at t₁</a:t>
              </a:r>
              <a:endParaRPr lang="en-US" sz="860" dirty="0"/>
            </a:p>
          </p:txBody>
        </p:sp>
        <p:sp>
          <p:nvSpPr>
            <p:cNvPr id="136" name="Shape 134"/>
            <p:cNvSpPr/>
            <p:nvPr/>
          </p:nvSpPr>
          <p:spPr>
            <a:xfrm>
              <a:off x="792" y="8582"/>
              <a:ext cx="691" cy="806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6985">
              <a:solidFill>
                <a:srgbClr val="4A9E28"/>
              </a:solidFill>
              <a:prstDash val="solid"/>
            </a:ln>
          </p:spPr>
        </p:sp>
        <p:sp>
          <p:nvSpPr>
            <p:cNvPr id="137" name="Text 135"/>
            <p:cNvSpPr txBox="1"/>
            <p:nvPr/>
          </p:nvSpPr>
          <p:spPr>
            <a:xfrm>
              <a:off x="835" y="8611"/>
              <a:ext cx="605" cy="749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470" dirty="0"/>
            </a:p>
          </p:txBody>
        </p:sp>
        <p:sp>
          <p:nvSpPr>
            <p:cNvPr id="138" name="Shape 136"/>
            <p:cNvSpPr/>
            <p:nvPr/>
          </p:nvSpPr>
          <p:spPr>
            <a:xfrm>
              <a:off x="1598" y="8582"/>
              <a:ext cx="691" cy="806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6985">
              <a:solidFill>
                <a:srgbClr val="4A9E28"/>
              </a:solidFill>
              <a:prstDash val="solid"/>
            </a:ln>
          </p:spPr>
        </p:sp>
        <p:sp>
          <p:nvSpPr>
            <p:cNvPr id="139" name="Text 137"/>
            <p:cNvSpPr txBox="1"/>
            <p:nvPr/>
          </p:nvSpPr>
          <p:spPr>
            <a:xfrm>
              <a:off x="1642" y="8611"/>
              <a:ext cx="605" cy="749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470" dirty="0"/>
            </a:p>
          </p:txBody>
        </p:sp>
        <p:sp>
          <p:nvSpPr>
            <p:cNvPr id="140" name="Shape 138"/>
            <p:cNvSpPr/>
            <p:nvPr/>
          </p:nvSpPr>
          <p:spPr>
            <a:xfrm>
              <a:off x="2405" y="8582"/>
              <a:ext cx="691" cy="806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6985">
              <a:solidFill>
                <a:srgbClr val="4A9E28"/>
              </a:solidFill>
              <a:prstDash val="solid"/>
            </a:ln>
          </p:spPr>
        </p:sp>
        <p:sp>
          <p:nvSpPr>
            <p:cNvPr id="141" name="Text 139"/>
            <p:cNvSpPr txBox="1"/>
            <p:nvPr/>
          </p:nvSpPr>
          <p:spPr>
            <a:xfrm>
              <a:off x="2448" y="8611"/>
              <a:ext cx="605" cy="749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470" dirty="0"/>
            </a:p>
          </p:txBody>
        </p:sp>
        <p:sp>
          <p:nvSpPr>
            <p:cNvPr id="142" name="Text 140"/>
            <p:cNvSpPr txBox="1"/>
            <p:nvPr/>
          </p:nvSpPr>
          <p:spPr>
            <a:xfrm>
              <a:off x="3154" y="8813"/>
              <a:ext cx="403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 fontScale="90000"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…</a:t>
              </a:r>
              <a:endParaRPr lang="en-US" sz="1300" dirty="0"/>
            </a:p>
          </p:txBody>
        </p:sp>
        <p:sp>
          <p:nvSpPr>
            <p:cNvPr id="143" name="Shape 141"/>
            <p:cNvSpPr/>
            <p:nvPr/>
          </p:nvSpPr>
          <p:spPr>
            <a:xfrm>
              <a:off x="893" y="9590"/>
              <a:ext cx="403" cy="230"/>
            </a:xfrm>
            <a:prstGeom prst="rect">
              <a:avLst/>
            </a:prstGeom>
            <a:solidFill>
              <a:srgbClr val="66BEE8"/>
            </a:solidFill>
            <a:ln w="5715">
              <a:solidFill>
                <a:srgbClr val="2D82C7"/>
              </a:solidFill>
              <a:prstDash val="solid"/>
            </a:ln>
          </p:spPr>
        </p:sp>
        <p:sp>
          <p:nvSpPr>
            <p:cNvPr id="144" name="Shape 142"/>
            <p:cNvSpPr/>
            <p:nvPr/>
          </p:nvSpPr>
          <p:spPr>
            <a:xfrm>
              <a:off x="1296" y="9590"/>
              <a:ext cx="403" cy="230"/>
            </a:xfrm>
            <a:prstGeom prst="rect">
              <a:avLst/>
            </a:prstGeom>
            <a:solidFill>
              <a:srgbClr val="9BDCF4"/>
            </a:solidFill>
            <a:ln w="5715">
              <a:solidFill>
                <a:srgbClr val="2D82C7"/>
              </a:solidFill>
              <a:prstDash val="solid"/>
            </a:ln>
          </p:spPr>
        </p:sp>
        <p:sp>
          <p:nvSpPr>
            <p:cNvPr id="145" name="Shape 143"/>
            <p:cNvSpPr/>
            <p:nvPr/>
          </p:nvSpPr>
          <p:spPr>
            <a:xfrm>
              <a:off x="1699" y="9590"/>
              <a:ext cx="403" cy="230"/>
            </a:xfrm>
            <a:prstGeom prst="rect">
              <a:avLst/>
            </a:prstGeom>
            <a:solidFill>
              <a:srgbClr val="F5A9B9"/>
            </a:solidFill>
            <a:ln w="5715">
              <a:solidFill>
                <a:srgbClr val="D82C5B"/>
              </a:solidFill>
              <a:prstDash val="solid"/>
            </a:ln>
          </p:spPr>
        </p:sp>
        <p:sp>
          <p:nvSpPr>
            <p:cNvPr id="146" name="Shape 144"/>
            <p:cNvSpPr/>
            <p:nvPr/>
          </p:nvSpPr>
          <p:spPr>
            <a:xfrm>
              <a:off x="2102" y="9590"/>
              <a:ext cx="403" cy="230"/>
            </a:xfrm>
            <a:prstGeom prst="rect">
              <a:avLst/>
            </a:prstGeom>
            <a:solidFill>
              <a:srgbClr val="FFE2C4"/>
            </a:solidFill>
            <a:ln w="5715">
              <a:solidFill>
                <a:srgbClr val="FFE2C4"/>
              </a:solidFill>
              <a:prstDash val="solid"/>
            </a:ln>
          </p:spPr>
        </p:sp>
        <p:sp>
          <p:nvSpPr>
            <p:cNvPr id="147" name="Text 145"/>
            <p:cNvSpPr txBox="1"/>
            <p:nvPr/>
          </p:nvSpPr>
          <p:spPr>
            <a:xfrm>
              <a:off x="1123" y="9835"/>
              <a:ext cx="1512" cy="504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 traits</a:t>
              </a:r>
              <a:endParaRPr lang="en-US" sz="760" dirty="0"/>
            </a:p>
            <a:p>
              <a:pPr marL="0" indent="0" algn="ctr">
                <a:buNone/>
              </a:pPr>
              <a:r>
                <a:rPr lang="en-US" sz="7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(y</a:t>
              </a:r>
              <a:r>
                <a:rPr lang="en-US" sz="760" b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1</a:t>
              </a:r>
              <a:r>
                <a:rPr lang="en-US" sz="76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)</a:t>
              </a:r>
              <a:endParaRPr lang="en-US" sz="760" dirty="0"/>
            </a:p>
          </p:txBody>
        </p:sp>
        <p:sp>
          <p:nvSpPr>
            <p:cNvPr id="148" name="Shape 146"/>
            <p:cNvSpPr/>
            <p:nvPr/>
          </p:nvSpPr>
          <p:spPr>
            <a:xfrm>
              <a:off x="3614" y="6653"/>
              <a:ext cx="0" cy="2837"/>
            </a:xfrm>
            <a:prstGeom prst="line">
              <a:avLst/>
            </a:prstGeom>
            <a:noFill/>
            <a:ln w="10160">
              <a:solidFill>
                <a:srgbClr val="94A3B1"/>
              </a:solidFill>
              <a:prstDash val="solid"/>
            </a:ln>
          </p:spPr>
        </p:sp>
        <p:sp>
          <p:nvSpPr>
            <p:cNvPr id="149" name="Shape 147"/>
            <p:cNvSpPr/>
            <p:nvPr/>
          </p:nvSpPr>
          <p:spPr>
            <a:xfrm flipH="1">
              <a:off x="3283" y="6653"/>
              <a:ext cx="331" cy="0"/>
            </a:xfrm>
            <a:prstGeom prst="line">
              <a:avLst/>
            </a:prstGeom>
            <a:noFill/>
            <a:ln w="10160">
              <a:solidFill>
                <a:srgbClr val="94A3B1"/>
              </a:solidFill>
              <a:prstDash val="solid"/>
            </a:ln>
          </p:spPr>
        </p:sp>
        <p:sp>
          <p:nvSpPr>
            <p:cNvPr id="150" name="Shape 148"/>
            <p:cNvSpPr/>
            <p:nvPr/>
          </p:nvSpPr>
          <p:spPr>
            <a:xfrm flipH="1">
              <a:off x="3283" y="9490"/>
              <a:ext cx="331" cy="0"/>
            </a:xfrm>
            <a:prstGeom prst="line">
              <a:avLst/>
            </a:prstGeom>
            <a:noFill/>
            <a:ln w="10160">
              <a:solidFill>
                <a:srgbClr val="94A3B1"/>
              </a:solidFill>
              <a:prstDash val="solid"/>
            </a:ln>
          </p:spPr>
        </p:sp>
        <p:sp>
          <p:nvSpPr>
            <p:cNvPr id="151" name="Shape 149"/>
            <p:cNvSpPr/>
            <p:nvPr/>
          </p:nvSpPr>
          <p:spPr>
            <a:xfrm>
              <a:off x="3715" y="8093"/>
              <a:ext cx="547" cy="0"/>
            </a:xfrm>
            <a:prstGeom prst="line">
              <a:avLst/>
            </a:prstGeom>
            <a:noFill/>
            <a:ln w="12700">
              <a:solidFill>
                <a:srgbClr val="586674"/>
              </a:solidFill>
              <a:prstDash val="solid"/>
              <a:tailEnd type="triangle"/>
            </a:ln>
          </p:spPr>
        </p:sp>
        <p:grpSp>
          <p:nvGrpSpPr>
            <p:cNvPr id="1000" name="组合 999"/>
            <p:cNvGrpSpPr/>
            <p:nvPr/>
          </p:nvGrpSpPr>
          <p:grpSpPr>
            <a:xfrm>
              <a:off x="4391" y="7339"/>
              <a:ext cx="261" cy="1468"/>
              <a:chOff x="4334" y="7157"/>
              <a:chExt cx="261" cy="1468"/>
            </a:xfrm>
          </p:grpSpPr>
          <p:sp>
            <p:nvSpPr>
              <p:cNvPr id="152" name="Shape 150"/>
              <p:cNvSpPr/>
              <p:nvPr/>
            </p:nvSpPr>
            <p:spPr>
              <a:xfrm>
                <a:off x="4334" y="7157"/>
                <a:ext cx="259" cy="245"/>
              </a:xfrm>
              <a:prstGeom prst="rect">
                <a:avLst/>
              </a:prstGeom>
              <a:solidFill>
                <a:srgbClr val="5DBCE6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53" name="Shape 151"/>
              <p:cNvSpPr/>
              <p:nvPr/>
            </p:nvSpPr>
            <p:spPr>
              <a:xfrm>
                <a:off x="4337" y="8381"/>
                <a:ext cx="259" cy="245"/>
              </a:xfrm>
              <a:prstGeom prst="rect">
                <a:avLst/>
              </a:prstGeom>
              <a:solidFill>
                <a:srgbClr val="FFE2C4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54" name="Shape 152"/>
              <p:cNvSpPr/>
              <p:nvPr/>
            </p:nvSpPr>
            <p:spPr>
              <a:xfrm>
                <a:off x="4334" y="7891"/>
                <a:ext cx="259" cy="245"/>
              </a:xfrm>
              <a:prstGeom prst="rect">
                <a:avLst/>
              </a:prstGeom>
              <a:solidFill>
                <a:srgbClr val="F28BAB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55" name="Shape 153"/>
              <p:cNvSpPr/>
              <p:nvPr/>
            </p:nvSpPr>
            <p:spPr>
              <a:xfrm>
                <a:off x="4335" y="7406"/>
                <a:ext cx="259" cy="245"/>
              </a:xfrm>
              <a:prstGeom prst="rect">
                <a:avLst/>
              </a:prstGeom>
              <a:solidFill>
                <a:srgbClr val="A6E3F5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56" name="Shape 154"/>
              <p:cNvSpPr/>
              <p:nvPr/>
            </p:nvSpPr>
            <p:spPr>
              <a:xfrm>
                <a:off x="4334" y="8136"/>
                <a:ext cx="259" cy="245"/>
              </a:xfrm>
              <a:prstGeom prst="rect">
                <a:avLst/>
              </a:prstGeom>
              <a:solidFill>
                <a:srgbClr val="F7D3DC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57" name="Shape 155"/>
              <p:cNvSpPr/>
              <p:nvPr/>
            </p:nvSpPr>
            <p:spPr>
              <a:xfrm>
                <a:off x="4336" y="7651"/>
                <a:ext cx="259" cy="245"/>
              </a:xfrm>
              <a:prstGeom prst="rect">
                <a:avLst/>
              </a:prstGeom>
              <a:solidFill>
                <a:srgbClr val="84D4EF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</p:grpSp>
        <p:sp>
          <p:nvSpPr>
            <p:cNvPr id="159" name="Shape 157"/>
            <p:cNvSpPr/>
            <p:nvPr/>
          </p:nvSpPr>
          <p:spPr>
            <a:xfrm>
              <a:off x="4392" y="7338"/>
              <a:ext cx="259" cy="14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6985">
              <a:solidFill>
                <a:srgbClr val="6F8293"/>
              </a:solidFill>
              <a:prstDash val="solid"/>
            </a:ln>
          </p:spPr>
        </p:sp>
        <p:sp>
          <p:nvSpPr>
            <p:cNvPr id="160" name="Text 158"/>
            <p:cNvSpPr txBox="1"/>
            <p:nvPr/>
          </p:nvSpPr>
          <p:spPr>
            <a:xfrm>
              <a:off x="3946" y="9029"/>
              <a:ext cx="1181" cy="54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2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Condition</a:t>
              </a:r>
              <a:endParaRPr lang="en-US" sz="720" dirty="0"/>
            </a:p>
            <a:p>
              <a:pPr marL="0" indent="0" algn="ctr">
                <a:buNone/>
              </a:pPr>
              <a:r>
                <a:rPr lang="en-US" sz="72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vector</a:t>
              </a:r>
              <a:endParaRPr lang="en-US" sz="720" dirty="0"/>
            </a:p>
          </p:txBody>
        </p:sp>
        <p:sp>
          <p:nvSpPr>
            <p:cNvPr id="161" name="Text 159"/>
            <p:cNvSpPr txBox="1"/>
            <p:nvPr/>
          </p:nvSpPr>
          <p:spPr>
            <a:xfrm>
              <a:off x="3758" y="9792"/>
              <a:ext cx="1512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2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 = [z</a:t>
              </a:r>
              <a:r>
                <a:rPr lang="en-US" sz="820" b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</a:t>
              </a:r>
              <a:r>
                <a:rPr lang="en-US" sz="82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; y</a:t>
              </a:r>
              <a:r>
                <a:rPr lang="en-US" sz="820" b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1</a:t>
              </a:r>
              <a:r>
                <a:rPr lang="en-US" sz="82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]</a:t>
              </a:r>
              <a:endParaRPr lang="en-US" sz="820" dirty="0"/>
            </a:p>
          </p:txBody>
        </p:sp>
        <p:sp>
          <p:nvSpPr>
            <p:cNvPr id="207" name="Text 205"/>
            <p:cNvSpPr txBox="1"/>
            <p:nvPr/>
          </p:nvSpPr>
          <p:spPr>
            <a:xfrm>
              <a:off x="5925" y="9993"/>
              <a:ext cx="3600" cy="490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Genotype-specific</a:t>
              </a:r>
              <a:endParaRPr lang="en-US" sz="810" dirty="0"/>
            </a:p>
            <a:p>
              <a:pPr marL="0" indent="0" algn="ctr">
                <a:buNone/>
              </a:pPr>
              <a:r>
                <a:rPr lang="en-US" sz="8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low-rank dynamics parameters</a:t>
              </a:r>
              <a:endParaRPr lang="en-US" sz="810" dirty="0"/>
            </a:p>
          </p:txBody>
        </p:sp>
        <p:sp>
          <p:nvSpPr>
            <p:cNvPr id="208" name="Text 206"/>
            <p:cNvSpPr txBox="1"/>
            <p:nvPr/>
          </p:nvSpPr>
          <p:spPr>
            <a:xfrm>
              <a:off x="11563" y="5256"/>
              <a:ext cx="3312" cy="331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Latent state dynamics (ODE)</a:t>
              </a:r>
              <a:endParaRPr lang="en-US" sz="900" dirty="0"/>
            </a:p>
          </p:txBody>
        </p:sp>
        <p:sp>
          <p:nvSpPr>
            <p:cNvPr id="209" name="Shape 207"/>
            <p:cNvSpPr/>
            <p:nvPr/>
          </p:nvSpPr>
          <p:spPr>
            <a:xfrm>
              <a:off x="11117" y="5688"/>
              <a:ext cx="4234" cy="1958"/>
            </a:xfrm>
            <a:prstGeom prst="roundRect">
              <a:avLst>
                <a:gd name="adj" fmla="val 4412"/>
              </a:avLst>
            </a:prstGeom>
            <a:solidFill>
              <a:srgbClr val="FFFFFF">
                <a:alpha val="94000"/>
              </a:srgbClr>
            </a:solidFill>
            <a:ln w="7620">
              <a:solidFill>
                <a:srgbClr val="C2E8CE"/>
              </a:solidFill>
              <a:prstDash val="solid"/>
            </a:ln>
          </p:spPr>
        </p:sp>
        <p:sp>
          <p:nvSpPr>
            <p:cNvPr id="210" name="Text 208"/>
            <p:cNvSpPr txBox="1"/>
            <p:nvPr/>
          </p:nvSpPr>
          <p:spPr>
            <a:xfrm>
              <a:off x="11261" y="5976"/>
              <a:ext cx="3586" cy="461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80" b="1" i="1" dirty="0">
                  <a:solidFill>
                    <a:srgbClr val="111827"/>
                  </a:solidFill>
                  <a:latin typeface="Cambria Math" panose="02040503050406030204" pitchFamily="34" charset="0"/>
                  <a:ea typeface="Cambria Math" panose="02040503050406030204" pitchFamily="34" charset="-122"/>
                  <a:cs typeface="Cambria Math" panose="02040503050406030204" pitchFamily="34" charset="-120"/>
                </a:rPr>
                <a:t>dh(t) /dt          h(t)Aᵢᵀ      bᵢ</a:t>
              </a:r>
              <a:endParaRPr lang="en-US" sz="1580" dirty="0"/>
            </a:p>
          </p:txBody>
        </p:sp>
        <p:sp>
          <p:nvSpPr>
            <p:cNvPr id="213" name="Text 211"/>
            <p:cNvSpPr txBox="1"/>
            <p:nvPr/>
          </p:nvSpPr>
          <p:spPr>
            <a:xfrm>
              <a:off x="12557" y="6048"/>
              <a:ext cx="331" cy="374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11827"/>
                  </a:solidFill>
                  <a:latin typeface="Cambria Math" panose="02040503050406030204" pitchFamily="34" charset="0"/>
                  <a:ea typeface="Cambria Math" panose="02040503050406030204" pitchFamily="34" charset="-122"/>
                  <a:cs typeface="Cambria Math" panose="02040503050406030204" pitchFamily="34" charset="-120"/>
                </a:rPr>
                <a:t>  =</a:t>
              </a:r>
              <a:endParaRPr lang="en-US" sz="1300" dirty="0"/>
            </a:p>
          </p:txBody>
        </p:sp>
        <p:sp>
          <p:nvSpPr>
            <p:cNvPr id="214" name="Text 212"/>
            <p:cNvSpPr txBox="1"/>
            <p:nvPr/>
          </p:nvSpPr>
          <p:spPr>
            <a:xfrm>
              <a:off x="14227" y="6068"/>
              <a:ext cx="360" cy="374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11827"/>
                  </a:solidFill>
                  <a:latin typeface="Cambria Math" panose="02040503050406030204" pitchFamily="34" charset="0"/>
                  <a:ea typeface="Cambria Math" panose="02040503050406030204" pitchFamily="34" charset="-122"/>
                  <a:cs typeface="Cambria Math" panose="02040503050406030204" pitchFamily="34" charset="-120"/>
                </a:rPr>
                <a:t>+</a:t>
              </a:r>
              <a:endParaRPr lang="en-US" sz="1300" dirty="0"/>
            </a:p>
          </p:txBody>
        </p:sp>
        <p:sp>
          <p:nvSpPr>
            <p:cNvPr id="215" name="Shape 213"/>
            <p:cNvSpPr/>
            <p:nvPr/>
          </p:nvSpPr>
          <p:spPr>
            <a:xfrm>
              <a:off x="12931" y="6466"/>
              <a:ext cx="1066" cy="0"/>
            </a:xfrm>
            <a:prstGeom prst="line">
              <a:avLst/>
            </a:prstGeom>
            <a:noFill/>
            <a:ln w="8255">
              <a:solidFill>
                <a:srgbClr val="2D82C7"/>
              </a:solidFill>
              <a:prstDash val="solid"/>
            </a:ln>
          </p:spPr>
        </p:sp>
        <p:sp>
          <p:nvSpPr>
            <p:cNvPr id="216" name="Shape 214"/>
            <p:cNvSpPr/>
            <p:nvPr/>
          </p:nvSpPr>
          <p:spPr>
            <a:xfrm>
              <a:off x="14501" y="6466"/>
              <a:ext cx="403" cy="0"/>
            </a:xfrm>
            <a:prstGeom prst="line">
              <a:avLst/>
            </a:prstGeom>
            <a:noFill/>
            <a:ln w="8255">
              <a:solidFill>
                <a:srgbClr val="D82C5B"/>
              </a:solidFill>
              <a:prstDash val="solid"/>
            </a:ln>
          </p:spPr>
        </p:sp>
        <p:sp>
          <p:nvSpPr>
            <p:cNvPr id="217" name="Text 215"/>
            <p:cNvSpPr txBox="1"/>
            <p:nvPr/>
          </p:nvSpPr>
          <p:spPr>
            <a:xfrm>
              <a:off x="12557" y="6482"/>
              <a:ext cx="1872" cy="87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20" b="1" dirty="0">
                  <a:solidFill>
                    <a:srgbClr val="2D82C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Genotype-specific</a:t>
              </a:r>
              <a:endParaRPr lang="en-US" sz="720" dirty="0"/>
            </a:p>
            <a:p>
              <a:pPr marL="0" indent="0" algn="ctr">
                <a:buNone/>
              </a:pPr>
              <a:r>
                <a:rPr lang="en-US" sz="720" b="1" dirty="0">
                  <a:solidFill>
                    <a:srgbClr val="2D82C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low-rank dynamics</a:t>
              </a:r>
              <a:endParaRPr lang="en-US" sz="720" dirty="0"/>
            </a:p>
            <a:p>
              <a:pPr marL="0" indent="0" algn="ctr">
                <a:buNone/>
              </a:pPr>
              <a:r>
                <a:rPr lang="en-US" sz="720" b="1" dirty="0">
                  <a:solidFill>
                    <a:srgbClr val="2D82C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(Aᵢ = UᵢVᵢ)</a:t>
              </a:r>
              <a:endParaRPr lang="en-US" sz="720" dirty="0"/>
            </a:p>
          </p:txBody>
        </p:sp>
        <p:sp>
          <p:nvSpPr>
            <p:cNvPr id="218" name="Text 216"/>
            <p:cNvSpPr txBox="1"/>
            <p:nvPr/>
          </p:nvSpPr>
          <p:spPr>
            <a:xfrm>
              <a:off x="14227" y="6613"/>
              <a:ext cx="1080" cy="562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D82C5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Genotype-specific baseline shift</a:t>
              </a:r>
              <a:endParaRPr lang="en-US" sz="700" b="1" dirty="0">
                <a:solidFill>
                  <a:srgbClr val="D82C5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p:sp>
          <p:nvSpPr>
            <p:cNvPr id="219" name="Text 217"/>
            <p:cNvSpPr txBox="1"/>
            <p:nvPr/>
          </p:nvSpPr>
          <p:spPr>
            <a:xfrm>
              <a:off x="11030" y="7891"/>
              <a:ext cx="4291" cy="605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State propagation over actual elapsed intervals</a:t>
              </a:r>
              <a:endParaRPr lang="en-US" sz="83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  <a:p>
              <a:pPr marL="0" indent="0" algn="ctr">
                <a:buNone/>
              </a:pPr>
              <a:r>
                <a:rPr lang="en-US" sz="8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(Δt can be irregular and unequal)</a:t>
              </a:r>
              <a:endParaRPr lang="en-US" sz="830" dirty="0"/>
            </a:p>
          </p:txBody>
        </p:sp>
        <p:sp>
          <p:nvSpPr>
            <p:cNvPr id="220" name="Shape 218"/>
            <p:cNvSpPr/>
            <p:nvPr/>
          </p:nvSpPr>
          <p:spPr>
            <a:xfrm>
              <a:off x="10872" y="9432"/>
              <a:ext cx="4680" cy="0"/>
            </a:xfrm>
            <a:prstGeom prst="line">
              <a:avLst/>
            </a:prstGeom>
            <a:noFill/>
            <a:ln w="15240">
              <a:solidFill>
                <a:srgbClr val="1C8B3D"/>
              </a:solidFill>
              <a:prstDash val="solid"/>
            </a:ln>
          </p:spPr>
        </p:sp>
        <p:sp>
          <p:nvSpPr>
            <p:cNvPr id="221" name="Shape 219"/>
            <p:cNvSpPr/>
            <p:nvPr/>
          </p:nvSpPr>
          <p:spPr>
            <a:xfrm>
              <a:off x="10771" y="9331"/>
              <a:ext cx="202" cy="202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222" name="Text 220"/>
            <p:cNvSpPr txBox="1"/>
            <p:nvPr/>
          </p:nvSpPr>
          <p:spPr>
            <a:xfrm>
              <a:off x="10512" y="9605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3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  <a:r>
                <a:rPr lang="en-US" sz="730" i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1</a:t>
              </a:r>
              <a:endParaRPr lang="en-US" sz="730" i="1" baseline="-250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p:sp>
          <p:nvSpPr>
            <p:cNvPr id="223" name="Shape 221"/>
            <p:cNvSpPr/>
            <p:nvPr/>
          </p:nvSpPr>
          <p:spPr>
            <a:xfrm>
              <a:off x="11941" y="9331"/>
              <a:ext cx="202" cy="202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224" name="Text 222"/>
            <p:cNvSpPr txBox="1"/>
            <p:nvPr/>
          </p:nvSpPr>
          <p:spPr>
            <a:xfrm>
              <a:off x="11682" y="9605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3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  <a:r>
                <a:rPr lang="en-US" sz="730" i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2</a:t>
              </a:r>
              <a:endParaRPr lang="en-US" sz="730" i="1" baseline="-250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p:sp>
          <p:nvSpPr>
            <p:cNvPr id="225" name="Shape 223"/>
            <p:cNvSpPr/>
            <p:nvPr/>
          </p:nvSpPr>
          <p:spPr>
            <a:xfrm>
              <a:off x="13111" y="9331"/>
              <a:ext cx="202" cy="202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226" name="Text 224"/>
            <p:cNvSpPr txBox="1"/>
            <p:nvPr/>
          </p:nvSpPr>
          <p:spPr>
            <a:xfrm>
              <a:off x="12852" y="9605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3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  <a:r>
                <a:rPr lang="en-US" sz="730" i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3</a:t>
              </a:r>
              <a:endParaRPr lang="en-US" sz="730" i="1" baseline="-250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p:sp>
          <p:nvSpPr>
            <p:cNvPr id="227" name="Shape 225"/>
            <p:cNvSpPr/>
            <p:nvPr/>
          </p:nvSpPr>
          <p:spPr>
            <a:xfrm>
              <a:off x="14281" y="9331"/>
              <a:ext cx="202" cy="202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228" name="Text 226"/>
            <p:cNvSpPr txBox="1"/>
            <p:nvPr/>
          </p:nvSpPr>
          <p:spPr>
            <a:xfrm>
              <a:off x="14022" y="9605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3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…</a:t>
              </a:r>
              <a:endParaRPr lang="en-US" sz="730" dirty="0"/>
            </a:p>
          </p:txBody>
        </p:sp>
        <p:sp>
          <p:nvSpPr>
            <p:cNvPr id="229" name="Shape 227"/>
            <p:cNvSpPr/>
            <p:nvPr/>
          </p:nvSpPr>
          <p:spPr>
            <a:xfrm>
              <a:off x="15451" y="9331"/>
              <a:ext cx="202" cy="202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230" name="Text 228"/>
            <p:cNvSpPr txBox="1"/>
            <p:nvPr/>
          </p:nvSpPr>
          <p:spPr>
            <a:xfrm>
              <a:off x="15192" y="9605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3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  <a:r>
                <a:rPr lang="en-US" sz="730" i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  <a:endParaRPr lang="en-US" sz="730" dirty="0"/>
            </a:p>
          </p:txBody>
        </p:sp>
        <p:sp>
          <p:nvSpPr>
            <p:cNvPr id="231" name="Shape 229"/>
            <p:cNvSpPr/>
            <p:nvPr/>
          </p:nvSpPr>
          <p:spPr>
            <a:xfrm flipV="1">
              <a:off x="10872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232" name="Shape 230"/>
            <p:cNvSpPr/>
            <p:nvPr/>
          </p:nvSpPr>
          <p:spPr>
            <a:xfrm>
              <a:off x="11457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233" name="Shape 231"/>
            <p:cNvSpPr/>
            <p:nvPr/>
          </p:nvSpPr>
          <p:spPr>
            <a:xfrm flipV="1">
              <a:off x="12042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234" name="Shape 232"/>
            <p:cNvSpPr/>
            <p:nvPr/>
          </p:nvSpPr>
          <p:spPr>
            <a:xfrm>
              <a:off x="12627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235" name="Shape 233"/>
            <p:cNvSpPr/>
            <p:nvPr/>
          </p:nvSpPr>
          <p:spPr>
            <a:xfrm flipV="1">
              <a:off x="13212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236" name="Shape 234"/>
            <p:cNvSpPr/>
            <p:nvPr/>
          </p:nvSpPr>
          <p:spPr>
            <a:xfrm>
              <a:off x="13797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237" name="Shape 235"/>
            <p:cNvSpPr/>
            <p:nvPr/>
          </p:nvSpPr>
          <p:spPr>
            <a:xfrm flipV="1">
              <a:off x="14382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238" name="Shape 236"/>
            <p:cNvSpPr/>
            <p:nvPr/>
          </p:nvSpPr>
          <p:spPr>
            <a:xfrm>
              <a:off x="14967" y="9029"/>
              <a:ext cx="585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239" name="Text 237"/>
            <p:cNvSpPr txBox="1"/>
            <p:nvPr/>
          </p:nvSpPr>
          <p:spPr>
            <a:xfrm>
              <a:off x="11203" y="8712"/>
              <a:ext cx="749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60" i="1" dirty="0">
                  <a:solidFill>
                    <a:srgbClr val="52606D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Δt₁</a:t>
              </a:r>
              <a:endParaRPr lang="en-US" sz="760" dirty="0"/>
            </a:p>
          </p:txBody>
        </p:sp>
        <p:sp>
          <p:nvSpPr>
            <p:cNvPr id="240" name="Text 238"/>
            <p:cNvSpPr txBox="1"/>
            <p:nvPr/>
          </p:nvSpPr>
          <p:spPr>
            <a:xfrm>
              <a:off x="12373" y="8712"/>
              <a:ext cx="749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60" i="1" dirty="0">
                  <a:solidFill>
                    <a:srgbClr val="52606D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Δt₂</a:t>
              </a:r>
              <a:endParaRPr lang="en-US" sz="760" dirty="0"/>
            </a:p>
          </p:txBody>
        </p:sp>
        <p:sp>
          <p:nvSpPr>
            <p:cNvPr id="241" name="Text 239"/>
            <p:cNvSpPr txBox="1"/>
            <p:nvPr/>
          </p:nvSpPr>
          <p:spPr>
            <a:xfrm>
              <a:off x="13543" y="8712"/>
              <a:ext cx="749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60" i="1" dirty="0">
                  <a:solidFill>
                    <a:srgbClr val="52606D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Δt₃</a:t>
              </a:r>
              <a:endParaRPr lang="en-US" sz="760" dirty="0"/>
            </a:p>
          </p:txBody>
        </p:sp>
        <p:sp>
          <p:nvSpPr>
            <p:cNvPr id="242" name="Text 240"/>
            <p:cNvSpPr txBox="1"/>
            <p:nvPr/>
          </p:nvSpPr>
          <p:spPr>
            <a:xfrm>
              <a:off x="10929" y="10109"/>
              <a:ext cx="4565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Supports irregular observation schedules</a:t>
              </a:r>
              <a:endParaRPr lang="en-US" sz="80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p:sp>
          <p:nvSpPr>
            <p:cNvPr id="243" name="Text 241"/>
            <p:cNvSpPr txBox="1"/>
            <p:nvPr/>
          </p:nvSpPr>
          <p:spPr>
            <a:xfrm>
              <a:off x="16632" y="5184"/>
              <a:ext cx="4234" cy="331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9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Predicted multivariate trajectories</a:t>
              </a:r>
              <a:endParaRPr lang="en-US" sz="890" dirty="0"/>
            </a:p>
          </p:txBody>
        </p:sp>
        <p:sp>
          <p:nvSpPr>
            <p:cNvPr id="345" name="Text 343"/>
            <p:cNvSpPr txBox="1"/>
            <p:nvPr/>
          </p:nvSpPr>
          <p:spPr>
            <a:xfrm>
              <a:off x="17381" y="7762"/>
              <a:ext cx="2347" cy="331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Time (days after sowing)</a:t>
              </a:r>
              <a:endParaRPr lang="en-US" sz="710" dirty="0"/>
            </a:p>
          </p:txBody>
        </p:sp>
        <p:grpSp>
          <p:nvGrpSpPr>
            <p:cNvPr id="1098" name="组合 1097"/>
            <p:cNvGrpSpPr/>
            <p:nvPr/>
          </p:nvGrpSpPr>
          <p:grpSpPr>
            <a:xfrm>
              <a:off x="16689" y="5803"/>
              <a:ext cx="4492" cy="1915"/>
              <a:chOff x="16689" y="5803"/>
              <a:chExt cx="4492" cy="1915"/>
            </a:xfrm>
          </p:grpSpPr>
          <p:sp>
            <p:nvSpPr>
              <p:cNvPr id="244" name="Shape 242"/>
              <p:cNvSpPr/>
              <p:nvPr/>
            </p:nvSpPr>
            <p:spPr>
              <a:xfrm>
                <a:off x="16906" y="7718"/>
                <a:ext cx="3053" cy="0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245" name="Shape 243"/>
              <p:cNvSpPr/>
              <p:nvPr/>
            </p:nvSpPr>
            <p:spPr>
              <a:xfrm flipV="1">
                <a:off x="16906" y="5803"/>
                <a:ext cx="0" cy="1915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246" name="Shape 244"/>
              <p:cNvSpPr/>
              <p:nvPr/>
            </p:nvSpPr>
            <p:spPr>
              <a:xfrm>
                <a:off x="16906" y="6282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247" name="Shape 245"/>
              <p:cNvSpPr/>
              <p:nvPr/>
            </p:nvSpPr>
            <p:spPr>
              <a:xfrm>
                <a:off x="16906" y="6761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248" name="Shape 246"/>
              <p:cNvSpPr/>
              <p:nvPr/>
            </p:nvSpPr>
            <p:spPr>
              <a:xfrm>
                <a:off x="16906" y="7240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249" name="Shape 247"/>
              <p:cNvSpPr/>
              <p:nvPr/>
            </p:nvSpPr>
            <p:spPr>
              <a:xfrm>
                <a:off x="16906" y="6996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0" name="Shape 248"/>
              <p:cNvSpPr/>
              <p:nvPr/>
            </p:nvSpPr>
            <p:spPr>
              <a:xfrm flipV="1">
                <a:off x="17394" y="6939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1" name="Shape 249"/>
              <p:cNvSpPr/>
              <p:nvPr/>
            </p:nvSpPr>
            <p:spPr>
              <a:xfrm flipV="1">
                <a:off x="17944" y="6613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2" name="Shape 250"/>
              <p:cNvSpPr/>
              <p:nvPr/>
            </p:nvSpPr>
            <p:spPr>
              <a:xfrm flipV="1">
                <a:off x="18585" y="636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3" name="Shape 251"/>
              <p:cNvSpPr/>
              <p:nvPr/>
            </p:nvSpPr>
            <p:spPr>
              <a:xfrm flipV="1">
                <a:off x="19226" y="6268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4" name="Shape 252"/>
              <p:cNvSpPr/>
              <p:nvPr/>
            </p:nvSpPr>
            <p:spPr>
              <a:xfrm>
                <a:off x="16906" y="7022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5" name="Shape 253"/>
              <p:cNvSpPr/>
              <p:nvPr/>
            </p:nvSpPr>
            <p:spPr>
              <a:xfrm flipV="1">
                <a:off x="17394" y="6965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6" name="Shape 254"/>
              <p:cNvSpPr/>
              <p:nvPr/>
            </p:nvSpPr>
            <p:spPr>
              <a:xfrm flipV="1">
                <a:off x="17944" y="6639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7" name="Shape 255"/>
              <p:cNvSpPr/>
              <p:nvPr/>
            </p:nvSpPr>
            <p:spPr>
              <a:xfrm flipV="1">
                <a:off x="18585" y="639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8" name="Shape 256"/>
              <p:cNvSpPr/>
              <p:nvPr/>
            </p:nvSpPr>
            <p:spPr>
              <a:xfrm flipV="1">
                <a:off x="19226" y="6294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59" name="Shape 257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0" name="Shape 258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1" name="Shape 259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2" name="Shape 260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3" name="Shape 261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4" name="Shape 262"/>
              <p:cNvSpPr/>
              <p:nvPr/>
            </p:nvSpPr>
            <p:spPr>
              <a:xfrm>
                <a:off x="16906" y="7074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5" name="Shape 263"/>
              <p:cNvSpPr/>
              <p:nvPr/>
            </p:nvSpPr>
            <p:spPr>
              <a:xfrm flipV="1">
                <a:off x="17394" y="7017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6" name="Shape 264"/>
              <p:cNvSpPr/>
              <p:nvPr/>
            </p:nvSpPr>
            <p:spPr>
              <a:xfrm flipV="1">
                <a:off x="17944" y="6691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7" name="Shape 265"/>
              <p:cNvSpPr/>
              <p:nvPr/>
            </p:nvSpPr>
            <p:spPr>
              <a:xfrm flipV="1">
                <a:off x="18585" y="644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8" name="Shape 266"/>
              <p:cNvSpPr/>
              <p:nvPr/>
            </p:nvSpPr>
            <p:spPr>
              <a:xfrm flipV="1">
                <a:off x="19226" y="6346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69" name="Shape 267"/>
              <p:cNvSpPr/>
              <p:nvPr/>
            </p:nvSpPr>
            <p:spPr>
              <a:xfrm>
                <a:off x="16906" y="7100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70" name="Shape 268"/>
              <p:cNvSpPr/>
              <p:nvPr/>
            </p:nvSpPr>
            <p:spPr>
              <a:xfrm flipV="1">
                <a:off x="17394" y="7042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71" name="Shape 269"/>
              <p:cNvSpPr/>
              <p:nvPr/>
            </p:nvSpPr>
            <p:spPr>
              <a:xfrm flipV="1">
                <a:off x="17944" y="6717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72" name="Shape 270"/>
              <p:cNvSpPr/>
              <p:nvPr/>
            </p:nvSpPr>
            <p:spPr>
              <a:xfrm flipV="1">
                <a:off x="18585" y="646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73" name="Shape 271"/>
              <p:cNvSpPr/>
              <p:nvPr/>
            </p:nvSpPr>
            <p:spPr>
              <a:xfrm flipV="1">
                <a:off x="19226" y="6372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74" name="Shape 272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275" name="Shape 273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276" name="Shape 274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277" name="Shape 275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278" name="Shape 276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279" name="Shape 277"/>
              <p:cNvSpPr/>
              <p:nvPr/>
            </p:nvSpPr>
            <p:spPr>
              <a:xfrm>
                <a:off x="16906" y="7188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0" name="Shape 278"/>
              <p:cNvSpPr/>
              <p:nvPr/>
            </p:nvSpPr>
            <p:spPr>
              <a:xfrm flipV="1">
                <a:off x="17455" y="7149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1" name="Shape 279"/>
              <p:cNvSpPr/>
              <p:nvPr/>
            </p:nvSpPr>
            <p:spPr>
              <a:xfrm flipV="1">
                <a:off x="18005" y="6843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2" name="Shape 280"/>
              <p:cNvSpPr/>
              <p:nvPr/>
            </p:nvSpPr>
            <p:spPr>
              <a:xfrm flipV="1">
                <a:off x="18646" y="659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3" name="Shape 281"/>
              <p:cNvSpPr/>
              <p:nvPr/>
            </p:nvSpPr>
            <p:spPr>
              <a:xfrm flipV="1">
                <a:off x="19287" y="6498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4" name="Shape 282"/>
              <p:cNvSpPr/>
              <p:nvPr/>
            </p:nvSpPr>
            <p:spPr>
              <a:xfrm>
                <a:off x="16906" y="7214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5" name="Shape 283"/>
              <p:cNvSpPr/>
              <p:nvPr/>
            </p:nvSpPr>
            <p:spPr>
              <a:xfrm flipV="1">
                <a:off x="17455" y="7175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6" name="Shape 284"/>
              <p:cNvSpPr/>
              <p:nvPr/>
            </p:nvSpPr>
            <p:spPr>
              <a:xfrm flipV="1">
                <a:off x="18005" y="6869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7" name="Shape 285"/>
              <p:cNvSpPr/>
              <p:nvPr/>
            </p:nvSpPr>
            <p:spPr>
              <a:xfrm flipV="1">
                <a:off x="18646" y="662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8" name="Shape 286"/>
              <p:cNvSpPr/>
              <p:nvPr/>
            </p:nvSpPr>
            <p:spPr>
              <a:xfrm flipV="1">
                <a:off x="19287" y="6524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89" name="Shape 287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0" name="Shape 288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1" name="Shape 289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2" name="Shape 290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3" name="Shape 291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4" name="Shape 292"/>
              <p:cNvSpPr/>
              <p:nvPr/>
            </p:nvSpPr>
            <p:spPr>
              <a:xfrm>
                <a:off x="16906" y="7266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5" name="Shape 293"/>
              <p:cNvSpPr/>
              <p:nvPr/>
            </p:nvSpPr>
            <p:spPr>
              <a:xfrm flipV="1">
                <a:off x="17455" y="7227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6" name="Shape 294"/>
              <p:cNvSpPr/>
              <p:nvPr/>
            </p:nvSpPr>
            <p:spPr>
              <a:xfrm flipV="1">
                <a:off x="18005" y="6921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7" name="Shape 295"/>
              <p:cNvSpPr/>
              <p:nvPr/>
            </p:nvSpPr>
            <p:spPr>
              <a:xfrm flipV="1">
                <a:off x="18646" y="667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8" name="Shape 296"/>
              <p:cNvSpPr/>
              <p:nvPr/>
            </p:nvSpPr>
            <p:spPr>
              <a:xfrm flipV="1">
                <a:off x="19287" y="6576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299" name="Shape 297"/>
              <p:cNvSpPr/>
              <p:nvPr/>
            </p:nvSpPr>
            <p:spPr>
              <a:xfrm>
                <a:off x="16906" y="7291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00" name="Shape 298"/>
              <p:cNvSpPr/>
              <p:nvPr/>
            </p:nvSpPr>
            <p:spPr>
              <a:xfrm flipV="1">
                <a:off x="17455" y="7253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01" name="Shape 299"/>
              <p:cNvSpPr/>
              <p:nvPr/>
            </p:nvSpPr>
            <p:spPr>
              <a:xfrm flipV="1">
                <a:off x="18005" y="6947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02" name="Shape 300"/>
              <p:cNvSpPr/>
              <p:nvPr/>
            </p:nvSpPr>
            <p:spPr>
              <a:xfrm flipV="1">
                <a:off x="18646" y="669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03" name="Shape 301"/>
              <p:cNvSpPr/>
              <p:nvPr/>
            </p:nvSpPr>
            <p:spPr>
              <a:xfrm flipV="1">
                <a:off x="19287" y="6602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04" name="Shape 302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305" name="Shape 303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306" name="Shape 304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307" name="Shape 305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308" name="Shape 306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309" name="Shape 307"/>
              <p:cNvSpPr/>
              <p:nvPr/>
            </p:nvSpPr>
            <p:spPr>
              <a:xfrm>
                <a:off x="16906" y="7360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0" name="Shape 308"/>
              <p:cNvSpPr/>
              <p:nvPr/>
            </p:nvSpPr>
            <p:spPr>
              <a:xfrm flipV="1">
                <a:off x="17425" y="7303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1" name="Shape 309"/>
              <p:cNvSpPr/>
              <p:nvPr/>
            </p:nvSpPr>
            <p:spPr>
              <a:xfrm flipV="1">
                <a:off x="18005" y="7073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2" name="Shape 310"/>
              <p:cNvSpPr/>
              <p:nvPr/>
            </p:nvSpPr>
            <p:spPr>
              <a:xfrm flipV="1">
                <a:off x="18676" y="6862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3" name="Shape 311"/>
              <p:cNvSpPr/>
              <p:nvPr/>
            </p:nvSpPr>
            <p:spPr>
              <a:xfrm flipV="1">
                <a:off x="19348" y="6843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4" name="Shape 312"/>
              <p:cNvSpPr/>
              <p:nvPr/>
            </p:nvSpPr>
            <p:spPr>
              <a:xfrm>
                <a:off x="16906" y="7386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5" name="Shape 313"/>
              <p:cNvSpPr/>
              <p:nvPr/>
            </p:nvSpPr>
            <p:spPr>
              <a:xfrm flipV="1">
                <a:off x="17425" y="7329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6" name="Shape 314"/>
              <p:cNvSpPr/>
              <p:nvPr/>
            </p:nvSpPr>
            <p:spPr>
              <a:xfrm flipV="1">
                <a:off x="18005" y="7099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7" name="Shape 315"/>
              <p:cNvSpPr/>
              <p:nvPr/>
            </p:nvSpPr>
            <p:spPr>
              <a:xfrm flipV="1">
                <a:off x="18676" y="6888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8" name="Shape 316"/>
              <p:cNvSpPr/>
              <p:nvPr/>
            </p:nvSpPr>
            <p:spPr>
              <a:xfrm flipV="1">
                <a:off x="19348" y="6869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19" name="Shape 317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0" name="Shape 318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1" name="Shape 319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2" name="Shape 320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3" name="Shape 321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4" name="Shape 322"/>
              <p:cNvSpPr/>
              <p:nvPr/>
            </p:nvSpPr>
            <p:spPr>
              <a:xfrm>
                <a:off x="16906" y="7438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5" name="Shape 323"/>
              <p:cNvSpPr/>
              <p:nvPr/>
            </p:nvSpPr>
            <p:spPr>
              <a:xfrm flipV="1">
                <a:off x="17425" y="7380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6" name="Shape 324"/>
              <p:cNvSpPr/>
              <p:nvPr/>
            </p:nvSpPr>
            <p:spPr>
              <a:xfrm flipV="1">
                <a:off x="18005" y="7151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7" name="Shape 325"/>
              <p:cNvSpPr/>
              <p:nvPr/>
            </p:nvSpPr>
            <p:spPr>
              <a:xfrm flipV="1">
                <a:off x="18676" y="6940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8" name="Shape 326"/>
              <p:cNvSpPr/>
              <p:nvPr/>
            </p:nvSpPr>
            <p:spPr>
              <a:xfrm flipV="1">
                <a:off x="19348" y="6921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29" name="Shape 327"/>
              <p:cNvSpPr/>
              <p:nvPr/>
            </p:nvSpPr>
            <p:spPr>
              <a:xfrm>
                <a:off x="16906" y="7464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30" name="Shape 328"/>
              <p:cNvSpPr/>
              <p:nvPr/>
            </p:nvSpPr>
            <p:spPr>
              <a:xfrm flipV="1">
                <a:off x="17425" y="7406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31" name="Shape 329"/>
              <p:cNvSpPr/>
              <p:nvPr/>
            </p:nvSpPr>
            <p:spPr>
              <a:xfrm flipV="1">
                <a:off x="18005" y="7177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32" name="Shape 330"/>
              <p:cNvSpPr/>
              <p:nvPr/>
            </p:nvSpPr>
            <p:spPr>
              <a:xfrm flipV="1">
                <a:off x="18676" y="6966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33" name="Shape 331"/>
              <p:cNvSpPr/>
              <p:nvPr/>
            </p:nvSpPr>
            <p:spPr>
              <a:xfrm flipV="1">
                <a:off x="19348" y="6947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334" name="Shape 332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335" name="Shape 333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336" name="Shape 334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337" name="Shape 335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338" name="Shape 336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339" name="Shape 337"/>
              <p:cNvSpPr/>
              <p:nvPr/>
            </p:nvSpPr>
            <p:spPr>
              <a:xfrm>
                <a:off x="16906" y="7565"/>
                <a:ext cx="550" cy="19"/>
              </a:xfrm>
              <a:prstGeom prst="line">
                <a:avLst/>
              </a:prstGeom>
              <a:noFill/>
              <a:ln w="15875">
                <a:solidFill>
                  <a:srgbClr val="AF79D3"/>
                </a:solidFill>
                <a:prstDash val="solid"/>
              </a:ln>
            </p:spPr>
          </p:sp>
          <p:sp>
            <p:nvSpPr>
              <p:cNvPr id="340" name="Shape 338"/>
              <p:cNvSpPr/>
              <p:nvPr/>
            </p:nvSpPr>
            <p:spPr>
              <a:xfrm flipV="1">
                <a:off x="17455" y="7527"/>
                <a:ext cx="611" cy="57"/>
              </a:xfrm>
              <a:prstGeom prst="line">
                <a:avLst/>
              </a:prstGeom>
              <a:noFill/>
              <a:ln w="15875">
                <a:solidFill>
                  <a:srgbClr val="AF79D3"/>
                </a:solidFill>
                <a:prstDash val="solid"/>
              </a:ln>
            </p:spPr>
          </p:sp>
          <p:sp>
            <p:nvSpPr>
              <p:cNvPr id="341" name="Shape 339"/>
              <p:cNvSpPr/>
              <p:nvPr/>
            </p:nvSpPr>
            <p:spPr>
              <a:xfrm flipV="1">
                <a:off x="18066" y="7374"/>
                <a:ext cx="672" cy="153"/>
              </a:xfrm>
              <a:prstGeom prst="line">
                <a:avLst/>
              </a:prstGeom>
              <a:noFill/>
              <a:ln w="15875">
                <a:solidFill>
                  <a:srgbClr val="AF79D3"/>
                </a:solidFill>
                <a:prstDash val="solid"/>
              </a:ln>
            </p:spPr>
          </p:sp>
          <p:sp>
            <p:nvSpPr>
              <p:cNvPr id="342" name="Shape 340"/>
              <p:cNvSpPr/>
              <p:nvPr/>
            </p:nvSpPr>
            <p:spPr>
              <a:xfrm flipV="1">
                <a:off x="18737" y="7259"/>
                <a:ext cx="611" cy="115"/>
              </a:xfrm>
              <a:prstGeom prst="line">
                <a:avLst/>
              </a:prstGeom>
              <a:noFill/>
              <a:ln w="15875">
                <a:solidFill>
                  <a:srgbClr val="AF79D3"/>
                </a:solidFill>
                <a:prstDash val="solid"/>
              </a:ln>
            </p:spPr>
          </p:sp>
          <p:sp>
            <p:nvSpPr>
              <p:cNvPr id="343" name="Shape 341"/>
              <p:cNvSpPr/>
              <p:nvPr/>
            </p:nvSpPr>
            <p:spPr>
              <a:xfrm flipV="1">
                <a:off x="19348" y="7240"/>
                <a:ext cx="611" cy="19"/>
              </a:xfrm>
              <a:prstGeom prst="line">
                <a:avLst/>
              </a:prstGeom>
              <a:noFill/>
              <a:ln w="15875">
                <a:solidFill>
                  <a:srgbClr val="AF79D3"/>
                </a:solidFill>
                <a:prstDash val="solid"/>
              </a:ln>
            </p:spPr>
          </p:sp>
          <p:sp>
            <p:nvSpPr>
              <p:cNvPr id="344" name="Text 342"/>
              <p:cNvSpPr txBox="1"/>
              <p:nvPr/>
            </p:nvSpPr>
            <p:spPr>
              <a:xfrm rot="16200000">
                <a:off x="16243" y="6552"/>
                <a:ext cx="1181" cy="288"/>
              </a:xfrm>
              <a:prstGeom prst="rect">
                <a:avLst/>
              </a:prstGeom>
              <a:noFill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Trait value</a:t>
                </a:r>
                <a:endParaRPr lang="en-US" sz="700" dirty="0"/>
              </a:p>
            </p:txBody>
          </p:sp>
          <p:sp>
            <p:nvSpPr>
              <p:cNvPr id="346" name="Shape 344"/>
              <p:cNvSpPr/>
              <p:nvPr/>
            </p:nvSpPr>
            <p:spPr>
              <a:xfrm>
                <a:off x="20160" y="5976"/>
                <a:ext cx="288" cy="0"/>
              </a:xfrm>
              <a:prstGeom prst="line">
                <a:avLst/>
              </a:prstGeom>
              <a:noFill/>
              <a:ln w="16510">
                <a:solidFill>
                  <a:srgbClr val="4B83E6"/>
                </a:solidFill>
                <a:prstDash val="solid"/>
              </a:ln>
            </p:spPr>
          </p:sp>
          <p:sp>
            <p:nvSpPr>
              <p:cNvPr id="347" name="Text 345"/>
              <p:cNvSpPr txBox="1"/>
              <p:nvPr/>
            </p:nvSpPr>
            <p:spPr>
              <a:xfrm>
                <a:off x="20491" y="5803"/>
                <a:ext cx="691" cy="331"/>
              </a:xfrm>
              <a:prstGeom prst="rect">
                <a:avLst/>
              </a:prstGeom>
              <a:noFill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68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Trait 1</a:t>
                </a:r>
                <a:endParaRPr lang="en-US" sz="680" dirty="0"/>
              </a:p>
            </p:txBody>
          </p:sp>
          <p:sp>
            <p:nvSpPr>
              <p:cNvPr id="348" name="Shape 346"/>
              <p:cNvSpPr/>
              <p:nvPr/>
            </p:nvSpPr>
            <p:spPr>
              <a:xfrm>
                <a:off x="20160" y="6365"/>
                <a:ext cx="288" cy="0"/>
              </a:xfrm>
              <a:prstGeom prst="line">
                <a:avLst/>
              </a:prstGeom>
              <a:noFill/>
              <a:ln w="16510">
                <a:solidFill>
                  <a:srgbClr val="49C779"/>
                </a:solidFill>
                <a:prstDash val="solid"/>
              </a:ln>
            </p:spPr>
          </p:sp>
          <p:sp>
            <p:nvSpPr>
              <p:cNvPr id="349" name="Text 347"/>
              <p:cNvSpPr txBox="1"/>
              <p:nvPr/>
            </p:nvSpPr>
            <p:spPr>
              <a:xfrm>
                <a:off x="20491" y="6192"/>
                <a:ext cx="691" cy="331"/>
              </a:xfrm>
              <a:prstGeom prst="rect">
                <a:avLst/>
              </a:prstGeom>
              <a:noFill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68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Trait 2</a:t>
                </a:r>
                <a:endParaRPr lang="en-US" sz="680" dirty="0"/>
              </a:p>
            </p:txBody>
          </p:sp>
          <p:sp>
            <p:nvSpPr>
              <p:cNvPr id="350" name="Shape 348"/>
              <p:cNvSpPr/>
              <p:nvPr/>
            </p:nvSpPr>
            <p:spPr>
              <a:xfrm>
                <a:off x="20160" y="6754"/>
                <a:ext cx="288" cy="0"/>
              </a:xfrm>
              <a:prstGeom prst="line">
                <a:avLst/>
              </a:prstGeom>
              <a:noFill/>
              <a:ln w="16510">
                <a:solidFill>
                  <a:srgbClr val="F29A5A"/>
                </a:solidFill>
                <a:prstDash val="solid"/>
              </a:ln>
            </p:spPr>
          </p:sp>
          <p:sp>
            <p:nvSpPr>
              <p:cNvPr id="351" name="Text 349"/>
              <p:cNvSpPr txBox="1"/>
              <p:nvPr/>
            </p:nvSpPr>
            <p:spPr>
              <a:xfrm>
                <a:off x="20491" y="6581"/>
                <a:ext cx="691" cy="331"/>
              </a:xfrm>
              <a:prstGeom prst="rect">
                <a:avLst/>
              </a:prstGeom>
              <a:noFill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68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Trait 3</a:t>
                </a:r>
                <a:endParaRPr lang="en-US" sz="680" dirty="0"/>
              </a:p>
            </p:txBody>
          </p:sp>
          <p:sp>
            <p:nvSpPr>
              <p:cNvPr id="352" name="Shape 350"/>
              <p:cNvSpPr/>
              <p:nvPr/>
            </p:nvSpPr>
            <p:spPr>
              <a:xfrm>
                <a:off x="20160" y="7142"/>
                <a:ext cx="288" cy="0"/>
              </a:xfrm>
              <a:prstGeom prst="line">
                <a:avLst/>
              </a:prstGeom>
              <a:noFill/>
              <a:ln w="16510">
                <a:solidFill>
                  <a:srgbClr val="AF79D3"/>
                </a:solidFill>
                <a:prstDash val="solid"/>
              </a:ln>
            </p:spPr>
          </p:sp>
          <p:sp>
            <p:nvSpPr>
              <p:cNvPr id="353" name="Text 351"/>
              <p:cNvSpPr txBox="1"/>
              <p:nvPr/>
            </p:nvSpPr>
            <p:spPr>
              <a:xfrm>
                <a:off x="20491" y="6970"/>
                <a:ext cx="691" cy="331"/>
              </a:xfrm>
              <a:prstGeom prst="rect">
                <a:avLst/>
              </a:prstGeom>
              <a:noFill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68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Trait P</a:t>
                </a:r>
                <a:endParaRPr lang="en-US" sz="680" dirty="0"/>
              </a:p>
            </p:txBody>
          </p:sp>
          <p:sp>
            <p:nvSpPr>
              <p:cNvPr id="354" name="Text 352"/>
              <p:cNvSpPr txBox="1"/>
              <p:nvPr/>
            </p:nvSpPr>
            <p:spPr>
              <a:xfrm>
                <a:off x="20376" y="7344"/>
                <a:ext cx="490" cy="288"/>
              </a:xfrm>
              <a:prstGeom prst="rect">
                <a:avLst/>
              </a:prstGeom>
              <a:noFill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…</a:t>
                </a:r>
                <a:endParaRPr lang="en-US" sz="1000" dirty="0"/>
              </a:p>
            </p:txBody>
          </p:sp>
        </p:grpSp>
        <p:sp>
          <p:nvSpPr>
            <p:cNvPr id="356" name="Shape 354"/>
            <p:cNvSpPr/>
            <p:nvPr/>
          </p:nvSpPr>
          <p:spPr>
            <a:xfrm>
              <a:off x="16733" y="9691"/>
              <a:ext cx="4147" cy="0"/>
            </a:xfrm>
            <a:prstGeom prst="line">
              <a:avLst/>
            </a:prstGeom>
            <a:noFill/>
            <a:ln w="12700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357" name="Shape 355"/>
            <p:cNvSpPr/>
            <p:nvPr/>
          </p:nvSpPr>
          <p:spPr>
            <a:xfrm>
              <a:off x="16819" y="9086"/>
              <a:ext cx="648" cy="562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6350">
              <a:solidFill>
                <a:srgbClr val="4A9E28"/>
              </a:solidFill>
              <a:prstDash val="solid"/>
            </a:ln>
          </p:spPr>
        </p:sp>
        <p:sp>
          <p:nvSpPr>
            <p:cNvPr id="359" name="Shape 357"/>
            <p:cNvSpPr/>
            <p:nvPr/>
          </p:nvSpPr>
          <p:spPr>
            <a:xfrm>
              <a:off x="17770" y="8899"/>
              <a:ext cx="691" cy="749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6350">
              <a:solidFill>
                <a:srgbClr val="4A9E28"/>
              </a:solidFill>
              <a:prstDash val="solid"/>
            </a:ln>
          </p:spPr>
        </p:sp>
        <p:sp>
          <p:nvSpPr>
            <p:cNvPr id="361" name="Shape 359"/>
            <p:cNvSpPr/>
            <p:nvPr/>
          </p:nvSpPr>
          <p:spPr>
            <a:xfrm>
              <a:off x="18749" y="8626"/>
              <a:ext cx="734" cy="1022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6350">
              <a:solidFill>
                <a:srgbClr val="4A9E28"/>
              </a:solidFill>
              <a:prstDash val="solid"/>
            </a:ln>
          </p:spPr>
        </p:sp>
        <p:sp>
          <p:nvSpPr>
            <p:cNvPr id="363" name="Shape 361"/>
            <p:cNvSpPr/>
            <p:nvPr/>
          </p:nvSpPr>
          <p:spPr>
            <a:xfrm>
              <a:off x="19771" y="8309"/>
              <a:ext cx="792" cy="1339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6350">
              <a:solidFill>
                <a:srgbClr val="4A9E28"/>
              </a:solidFill>
              <a:prstDash val="solid"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5" name="Text 363"/>
                <p:cNvSpPr txBox="1"/>
                <p:nvPr/>
              </p:nvSpPr>
              <p:spPr>
                <a:xfrm>
                  <a:off x="16906" y="9864"/>
                  <a:ext cx="403" cy="317"/>
                </a:xfrm>
                <a:prstGeom prst="rect">
                  <a:avLst/>
                </a:prstGeom>
                <a:noFill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acc>
                        <m:accPr>
                          <m:ctrlP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</m:ctrlPr>
                        </m:accPr>
                        <m:e>
                          <m: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  <m:t>𝒚</m:t>
                          </m:r>
                        </m:e>
                      </m:acc>
                    </m:oMath>
                  </a14:m>
                  <a:r>
                    <a:rPr lang="en-US" sz="810" b="1" i="1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1</a:t>
                  </a:r>
                  <a:endParaRPr lang="en-US" sz="810" b="1" i="1" baseline="-2500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endParaRPr>
                </a:p>
              </p:txBody>
            </p:sp>
          </mc:Choice>
          <mc:Fallback>
            <p:sp>
              <p:nvSpPr>
                <p:cNvPr id="365" name="Text 3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06" y="9864"/>
                  <a:ext cx="403" cy="317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6" name="Text 364"/>
                <p:cNvSpPr txBox="1"/>
                <p:nvPr/>
              </p:nvSpPr>
              <p:spPr>
                <a:xfrm>
                  <a:off x="17899" y="9864"/>
                  <a:ext cx="403" cy="317"/>
                </a:xfrm>
                <a:prstGeom prst="rect">
                  <a:avLst/>
                </a:prstGeom>
                <a:noFill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acc>
                        <m:accPr>
                          <m:ctrlP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</m:ctrlPr>
                        </m:accPr>
                        <m:e>
                          <m: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  <m:t>𝒚</m:t>
                          </m:r>
                        </m:e>
                      </m:acc>
                    </m:oMath>
                  </a14:m>
                  <a:r>
                    <a:rPr lang="en-US" sz="810" b="1" i="1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2</a:t>
                  </a:r>
                  <a:endParaRPr lang="en-US" sz="810" b="1" i="1" baseline="-2500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endParaRPr>
                </a:p>
              </p:txBody>
            </p:sp>
          </mc:Choice>
          <mc:Fallback>
            <p:sp>
              <p:nvSpPr>
                <p:cNvPr id="366" name="Text 3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99" y="9864"/>
                  <a:ext cx="403" cy="31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7" name="Text 365"/>
                <p:cNvSpPr txBox="1"/>
                <p:nvPr/>
              </p:nvSpPr>
              <p:spPr>
                <a:xfrm>
                  <a:off x="18864" y="9864"/>
                  <a:ext cx="403" cy="317"/>
                </a:xfrm>
                <a:prstGeom prst="rect">
                  <a:avLst/>
                </a:prstGeom>
                <a:noFill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acc>
                        <m:accPr>
                          <m:ctrlP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</m:ctrlPr>
                        </m:accPr>
                        <m:e>
                          <m: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  <m:t>𝒚</m:t>
                          </m:r>
                        </m:e>
                      </m:acc>
                    </m:oMath>
                  </a14:m>
                  <a:r>
                    <a:rPr lang="en-US" sz="810" b="1" i="1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3</a:t>
                  </a:r>
                  <a:endParaRPr lang="en-US" sz="810" b="1" i="1" baseline="-2500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endParaRPr>
                </a:p>
              </p:txBody>
            </p:sp>
          </mc:Choice>
          <mc:Fallback>
            <p:sp>
              <p:nvSpPr>
                <p:cNvPr id="367" name="Text 3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64" y="9864"/>
                  <a:ext cx="403" cy="31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9" name="Text 367"/>
                <p:cNvSpPr txBox="1"/>
                <p:nvPr/>
              </p:nvSpPr>
              <p:spPr>
                <a:xfrm>
                  <a:off x="20045" y="9864"/>
                  <a:ext cx="403" cy="317"/>
                </a:xfrm>
                <a:prstGeom prst="rect">
                  <a:avLst/>
                </a:prstGeom>
                <a:noFill/>
              </p:spPr>
              <p:txBody>
                <a:bodyPr wrap="square" lIns="381" tIns="381" rIns="381" bIns="381" rtlCol="0" anchor="ctr">
                  <a:normAutofit/>
                </a:bodyPr>
                <a:lstStyle/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acc>
                        <m:accPr>
                          <m:ctrlP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</m:ctrlPr>
                        </m:accPr>
                        <m:e>
                          <m:r>
                            <a:rPr lang="en-US" sz="810" b="1" i="1" dirty="0">
                              <a:solidFill>
                                <a:srgbClr val="111827"/>
                              </a:solidFill>
                              <a:latin typeface="Cambria Math" panose="02040503050406030204" pitchFamily="34" charset="0"/>
                              <a:ea typeface="Arial" panose="020B0604020202020204" pitchFamily="34" charset="-122"/>
                              <a:cs typeface="Cambria Math" panose="02040503050406030204" pitchFamily="34" charset="0"/>
                            </a:rPr>
                            <m:t>𝒚</m:t>
                          </m:r>
                        </m:e>
                      </m:acc>
                    </m:oMath>
                  </a14:m>
                  <a:r>
                    <a:rPr lang="en-US" sz="810" b="1" i="1" baseline="-25000" dirty="0">
                      <a:solidFill>
                        <a:srgbClr val="111827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t</a:t>
                  </a:r>
                  <a:endParaRPr lang="en-US" sz="810" b="1" i="1" baseline="-25000" dirty="0">
                    <a:solidFill>
                      <a:srgbClr val="111827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endParaRPr>
                </a:p>
              </p:txBody>
            </p:sp>
          </mc:Choice>
          <mc:Fallback>
            <p:sp>
              <p:nvSpPr>
                <p:cNvPr id="369" name="Text 3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45" y="9864"/>
                  <a:ext cx="403" cy="31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0" name="Text 368"/>
            <p:cNvSpPr txBox="1"/>
            <p:nvPr/>
          </p:nvSpPr>
          <p:spPr>
            <a:xfrm>
              <a:off x="173" y="10627"/>
              <a:ext cx="36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</a:t>
              </a:r>
              <a:endParaRPr lang="en-US" sz="1650" dirty="0"/>
            </a:p>
          </p:txBody>
        </p:sp>
        <p:sp>
          <p:nvSpPr>
            <p:cNvPr id="371" name="Shape 369"/>
            <p:cNvSpPr/>
            <p:nvPr/>
          </p:nvSpPr>
          <p:spPr>
            <a:xfrm>
              <a:off x="562" y="10642"/>
              <a:ext cx="20822" cy="490"/>
            </a:xfrm>
            <a:prstGeom prst="roundRect">
              <a:avLst>
                <a:gd name="adj" fmla="val 23529"/>
              </a:avLst>
            </a:prstGeom>
            <a:solidFill>
              <a:srgbClr val="EDF8FE"/>
            </a:solidFill>
            <a:ln w="8890">
              <a:solidFill>
                <a:srgbClr val="EDF8FE"/>
              </a:solidFill>
              <a:prstDash val="solid"/>
            </a:ln>
          </p:spPr>
        </p:sp>
        <p:sp>
          <p:nvSpPr>
            <p:cNvPr id="372" name="Text 370"/>
            <p:cNvSpPr txBox="1"/>
            <p:nvPr/>
          </p:nvSpPr>
          <p:spPr>
            <a:xfrm>
              <a:off x="749" y="10670"/>
              <a:ext cx="19872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10" b="1" dirty="0">
                  <a:solidFill>
                    <a:srgbClr val="124A8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Key advantages of Kode</a:t>
              </a:r>
              <a:endParaRPr lang="en-US" sz="1410" dirty="0"/>
            </a:p>
          </p:txBody>
        </p:sp>
        <p:sp>
          <p:nvSpPr>
            <p:cNvPr id="373" name="Shape 371"/>
            <p:cNvSpPr/>
            <p:nvPr/>
          </p:nvSpPr>
          <p:spPr>
            <a:xfrm>
              <a:off x="173" y="11189"/>
              <a:ext cx="4637" cy="2434"/>
            </a:xfrm>
            <a:prstGeom prst="roundRect">
              <a:avLst>
                <a:gd name="adj" fmla="val 4734"/>
              </a:avLst>
            </a:prstGeom>
            <a:solidFill>
              <a:srgbClr val="EDF8FE"/>
            </a:solidFill>
            <a:ln w="8255">
              <a:solidFill>
                <a:srgbClr val="B8DEEF"/>
              </a:solidFill>
              <a:prstDash val="solid"/>
            </a:ln>
          </p:spPr>
        </p:sp>
        <p:sp>
          <p:nvSpPr>
            <p:cNvPr id="374" name="Shape 372"/>
            <p:cNvSpPr/>
            <p:nvPr/>
          </p:nvSpPr>
          <p:spPr>
            <a:xfrm>
              <a:off x="396" y="11297"/>
              <a:ext cx="418" cy="418"/>
            </a:xfrm>
            <a:prstGeom prst="ellipse">
              <a:avLst/>
            </a:prstGeom>
            <a:solidFill>
              <a:srgbClr val="2D82C7"/>
            </a:solidFill>
            <a:ln w="7620">
              <a:solidFill>
                <a:srgbClr val="2D82C7"/>
              </a:solidFill>
              <a:prstDash val="solid"/>
            </a:ln>
          </p:spPr>
        </p:sp>
        <p:sp>
          <p:nvSpPr>
            <p:cNvPr id="375" name="Text 373"/>
            <p:cNvSpPr txBox="1"/>
            <p:nvPr/>
          </p:nvSpPr>
          <p:spPr>
            <a:xfrm>
              <a:off x="432" y="11318"/>
              <a:ext cx="346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1</a:t>
              </a:r>
              <a:endParaRPr lang="en-US" sz="940" dirty="0"/>
            </a:p>
          </p:txBody>
        </p:sp>
        <p:sp>
          <p:nvSpPr>
            <p:cNvPr id="376" name="Text 374"/>
            <p:cNvSpPr txBox="1"/>
            <p:nvPr/>
          </p:nvSpPr>
          <p:spPr>
            <a:xfrm>
              <a:off x="878" y="11304"/>
              <a:ext cx="3773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10" b="1" dirty="0">
                  <a:solidFill>
                    <a:srgbClr val="2D82C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Continuous-time formulation</a:t>
              </a:r>
              <a:endParaRPr lang="en-US" sz="910" dirty="0"/>
            </a:p>
          </p:txBody>
        </p:sp>
        <p:sp>
          <p:nvSpPr>
            <p:cNvPr id="377" name="Shape 375"/>
            <p:cNvSpPr/>
            <p:nvPr/>
          </p:nvSpPr>
          <p:spPr>
            <a:xfrm>
              <a:off x="4882" y="11189"/>
              <a:ext cx="5702" cy="2434"/>
            </a:xfrm>
            <a:prstGeom prst="roundRect">
              <a:avLst>
                <a:gd name="adj" fmla="val 4734"/>
              </a:avLst>
            </a:prstGeom>
            <a:solidFill>
              <a:srgbClr val="FFF1F4"/>
            </a:solidFill>
            <a:ln w="8255">
              <a:solidFill>
                <a:srgbClr val="F2C5D0"/>
              </a:solidFill>
              <a:prstDash val="solid"/>
            </a:ln>
          </p:spPr>
        </p:sp>
        <p:sp>
          <p:nvSpPr>
            <p:cNvPr id="378" name="Shape 376"/>
            <p:cNvSpPr/>
            <p:nvPr/>
          </p:nvSpPr>
          <p:spPr>
            <a:xfrm>
              <a:off x="5105" y="11297"/>
              <a:ext cx="418" cy="418"/>
            </a:xfrm>
            <a:prstGeom prst="ellipse">
              <a:avLst/>
            </a:prstGeom>
            <a:solidFill>
              <a:srgbClr val="D82C5B"/>
            </a:solidFill>
            <a:ln w="7620">
              <a:solidFill>
                <a:srgbClr val="D82C5B"/>
              </a:solidFill>
              <a:prstDash val="solid"/>
            </a:ln>
          </p:spPr>
        </p:sp>
        <p:sp>
          <p:nvSpPr>
            <p:cNvPr id="379" name="Text 377"/>
            <p:cNvSpPr txBox="1"/>
            <p:nvPr/>
          </p:nvSpPr>
          <p:spPr>
            <a:xfrm>
              <a:off x="5141" y="11318"/>
              <a:ext cx="346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2</a:t>
              </a:r>
              <a:endParaRPr lang="en-US" sz="940" dirty="0"/>
            </a:p>
          </p:txBody>
        </p:sp>
        <p:sp>
          <p:nvSpPr>
            <p:cNvPr id="380" name="Text 378"/>
            <p:cNvSpPr txBox="1"/>
            <p:nvPr/>
          </p:nvSpPr>
          <p:spPr>
            <a:xfrm>
              <a:off x="5587" y="11304"/>
              <a:ext cx="4838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10" b="1" dirty="0">
                  <a:solidFill>
                    <a:srgbClr val="D82C5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End-to-end operator learning</a:t>
              </a:r>
              <a:endParaRPr lang="en-US" sz="910" dirty="0"/>
            </a:p>
          </p:txBody>
        </p:sp>
        <p:sp>
          <p:nvSpPr>
            <p:cNvPr id="381" name="Shape 379"/>
            <p:cNvSpPr/>
            <p:nvPr/>
          </p:nvSpPr>
          <p:spPr>
            <a:xfrm>
              <a:off x="10656" y="11189"/>
              <a:ext cx="4766" cy="2434"/>
            </a:xfrm>
            <a:prstGeom prst="roundRect">
              <a:avLst>
                <a:gd name="adj" fmla="val 4734"/>
              </a:avLst>
            </a:prstGeom>
            <a:solidFill>
              <a:srgbClr val="EFFBF3"/>
            </a:solidFill>
            <a:ln w="8255">
              <a:solidFill>
                <a:srgbClr val="C2E8CE"/>
              </a:solidFill>
              <a:prstDash val="solid"/>
            </a:ln>
          </p:spPr>
        </p:sp>
        <p:sp>
          <p:nvSpPr>
            <p:cNvPr id="382" name="Shape 380"/>
            <p:cNvSpPr/>
            <p:nvPr/>
          </p:nvSpPr>
          <p:spPr>
            <a:xfrm>
              <a:off x="10879" y="11297"/>
              <a:ext cx="418" cy="418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83" name="Text 381"/>
            <p:cNvSpPr txBox="1"/>
            <p:nvPr/>
          </p:nvSpPr>
          <p:spPr>
            <a:xfrm>
              <a:off x="10915" y="11318"/>
              <a:ext cx="346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3</a:t>
              </a:r>
              <a:endParaRPr lang="en-US" sz="940" dirty="0"/>
            </a:p>
          </p:txBody>
        </p:sp>
        <p:sp>
          <p:nvSpPr>
            <p:cNvPr id="384" name="Text 382"/>
            <p:cNvSpPr txBox="1"/>
            <p:nvPr/>
          </p:nvSpPr>
          <p:spPr>
            <a:xfrm>
              <a:off x="11362" y="11304"/>
              <a:ext cx="3902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10" b="1" dirty="0">
                  <a:solidFill>
                    <a:srgbClr val="1C8B3D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Early-stage assisted forecasting</a:t>
              </a:r>
              <a:endParaRPr lang="en-US" sz="910" dirty="0"/>
            </a:p>
          </p:txBody>
        </p:sp>
        <p:sp>
          <p:nvSpPr>
            <p:cNvPr id="385" name="Shape 383"/>
            <p:cNvSpPr/>
            <p:nvPr/>
          </p:nvSpPr>
          <p:spPr>
            <a:xfrm>
              <a:off x="15494" y="11189"/>
              <a:ext cx="5890" cy="2434"/>
            </a:xfrm>
            <a:prstGeom prst="roundRect">
              <a:avLst>
                <a:gd name="adj" fmla="val 4734"/>
              </a:avLst>
            </a:prstGeom>
            <a:solidFill>
              <a:srgbClr val="FFFBE9"/>
            </a:solidFill>
            <a:ln w="8255">
              <a:solidFill>
                <a:srgbClr val="ECDD9F"/>
              </a:solidFill>
              <a:prstDash val="solid"/>
            </a:ln>
          </p:spPr>
        </p:sp>
        <p:sp>
          <p:nvSpPr>
            <p:cNvPr id="386" name="Shape 384"/>
            <p:cNvSpPr/>
            <p:nvPr/>
          </p:nvSpPr>
          <p:spPr>
            <a:xfrm>
              <a:off x="15718" y="11297"/>
              <a:ext cx="418" cy="418"/>
            </a:xfrm>
            <a:prstGeom prst="ellipse">
              <a:avLst/>
            </a:prstGeom>
            <a:solidFill>
              <a:srgbClr val="E0A514"/>
            </a:solidFill>
            <a:ln w="7620">
              <a:solidFill>
                <a:srgbClr val="E0A514"/>
              </a:solidFill>
              <a:prstDash val="solid"/>
            </a:ln>
          </p:spPr>
        </p:sp>
        <p:sp>
          <p:nvSpPr>
            <p:cNvPr id="387" name="Text 385"/>
            <p:cNvSpPr txBox="1"/>
            <p:nvPr/>
          </p:nvSpPr>
          <p:spPr>
            <a:xfrm>
              <a:off x="15754" y="11318"/>
              <a:ext cx="346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4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4</a:t>
              </a:r>
              <a:endParaRPr lang="en-US" sz="940" dirty="0"/>
            </a:p>
          </p:txBody>
        </p:sp>
        <p:sp>
          <p:nvSpPr>
            <p:cNvPr id="388" name="Text 386"/>
            <p:cNvSpPr txBox="1"/>
            <p:nvPr/>
          </p:nvSpPr>
          <p:spPr>
            <a:xfrm>
              <a:off x="16200" y="11304"/>
              <a:ext cx="5026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10" b="1" dirty="0">
                  <a:solidFill>
                    <a:srgbClr val="E0A514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Genotype-specific dynamics</a:t>
              </a:r>
              <a:endParaRPr lang="en-US" sz="910" dirty="0"/>
            </a:p>
          </p:txBody>
        </p:sp>
        <p:sp>
          <p:nvSpPr>
            <p:cNvPr id="389" name="Shape 387"/>
            <p:cNvSpPr/>
            <p:nvPr/>
          </p:nvSpPr>
          <p:spPr>
            <a:xfrm>
              <a:off x="749" y="12557"/>
              <a:ext cx="3571" cy="0"/>
            </a:xfrm>
            <a:prstGeom prst="line">
              <a:avLst/>
            </a:prstGeom>
            <a:noFill/>
            <a:ln w="15240">
              <a:solidFill>
                <a:srgbClr val="1C8B3D"/>
              </a:solidFill>
              <a:prstDash val="solid"/>
            </a:ln>
          </p:spPr>
        </p:sp>
        <p:sp>
          <p:nvSpPr>
            <p:cNvPr id="390" name="Shape 388"/>
            <p:cNvSpPr/>
            <p:nvPr/>
          </p:nvSpPr>
          <p:spPr>
            <a:xfrm>
              <a:off x="662" y="12470"/>
              <a:ext cx="173" cy="173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91" name="Text 389"/>
            <p:cNvSpPr txBox="1"/>
            <p:nvPr/>
          </p:nvSpPr>
          <p:spPr>
            <a:xfrm>
              <a:off x="389" y="12730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9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t₁</a:t>
              </a:r>
              <a:endParaRPr lang="en-US" sz="690" dirty="0"/>
            </a:p>
          </p:txBody>
        </p:sp>
        <p:sp>
          <p:nvSpPr>
            <p:cNvPr id="392" name="Shape 390"/>
            <p:cNvSpPr/>
            <p:nvPr/>
          </p:nvSpPr>
          <p:spPr>
            <a:xfrm>
              <a:off x="1555" y="12470"/>
              <a:ext cx="173" cy="173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93" name="Text 391"/>
            <p:cNvSpPr txBox="1"/>
            <p:nvPr/>
          </p:nvSpPr>
          <p:spPr>
            <a:xfrm>
              <a:off x="1282" y="12730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9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t₂</a:t>
              </a:r>
              <a:endParaRPr lang="en-US" sz="690" dirty="0"/>
            </a:p>
          </p:txBody>
        </p:sp>
        <p:sp>
          <p:nvSpPr>
            <p:cNvPr id="394" name="Shape 392"/>
            <p:cNvSpPr/>
            <p:nvPr/>
          </p:nvSpPr>
          <p:spPr>
            <a:xfrm>
              <a:off x="2448" y="12470"/>
              <a:ext cx="173" cy="173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95" name="Text 393"/>
            <p:cNvSpPr txBox="1"/>
            <p:nvPr/>
          </p:nvSpPr>
          <p:spPr>
            <a:xfrm>
              <a:off x="2174" y="12730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9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t₃</a:t>
              </a:r>
              <a:endParaRPr lang="en-US" sz="690" dirty="0"/>
            </a:p>
          </p:txBody>
        </p:sp>
        <p:sp>
          <p:nvSpPr>
            <p:cNvPr id="396" name="Shape 394"/>
            <p:cNvSpPr/>
            <p:nvPr/>
          </p:nvSpPr>
          <p:spPr>
            <a:xfrm>
              <a:off x="3341" y="12470"/>
              <a:ext cx="173" cy="173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97" name="Text 395"/>
            <p:cNvSpPr txBox="1"/>
            <p:nvPr/>
          </p:nvSpPr>
          <p:spPr>
            <a:xfrm>
              <a:off x="3067" y="12730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9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…</a:t>
              </a:r>
              <a:endParaRPr lang="en-US" sz="690" dirty="0"/>
            </a:p>
          </p:txBody>
        </p:sp>
        <p:sp>
          <p:nvSpPr>
            <p:cNvPr id="398" name="Shape 396"/>
            <p:cNvSpPr/>
            <p:nvPr/>
          </p:nvSpPr>
          <p:spPr>
            <a:xfrm>
              <a:off x="4234" y="12470"/>
              <a:ext cx="173" cy="173"/>
            </a:xfrm>
            <a:prstGeom prst="ellipse">
              <a:avLst/>
            </a:prstGeom>
            <a:solidFill>
              <a:srgbClr val="1C8B3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399" name="Text 397"/>
            <p:cNvSpPr txBox="1"/>
            <p:nvPr/>
          </p:nvSpPr>
          <p:spPr>
            <a:xfrm>
              <a:off x="3960" y="12730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9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tₜ</a:t>
              </a:r>
              <a:endParaRPr lang="en-US" sz="690" dirty="0"/>
            </a:p>
          </p:txBody>
        </p:sp>
        <p:sp>
          <p:nvSpPr>
            <p:cNvPr id="400" name="Shape 398"/>
            <p:cNvSpPr/>
            <p:nvPr/>
          </p:nvSpPr>
          <p:spPr>
            <a:xfrm flipV="1">
              <a:off x="749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401" name="Shape 399"/>
            <p:cNvSpPr/>
            <p:nvPr/>
          </p:nvSpPr>
          <p:spPr>
            <a:xfrm>
              <a:off x="1195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402" name="Shape 400"/>
            <p:cNvSpPr/>
            <p:nvPr/>
          </p:nvSpPr>
          <p:spPr>
            <a:xfrm flipV="1">
              <a:off x="1642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403" name="Shape 401"/>
            <p:cNvSpPr/>
            <p:nvPr/>
          </p:nvSpPr>
          <p:spPr>
            <a:xfrm>
              <a:off x="2088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404" name="Shape 402"/>
            <p:cNvSpPr/>
            <p:nvPr/>
          </p:nvSpPr>
          <p:spPr>
            <a:xfrm flipV="1">
              <a:off x="2534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405" name="Shape 403"/>
            <p:cNvSpPr/>
            <p:nvPr/>
          </p:nvSpPr>
          <p:spPr>
            <a:xfrm>
              <a:off x="2981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406" name="Shape 404"/>
            <p:cNvSpPr/>
            <p:nvPr/>
          </p:nvSpPr>
          <p:spPr>
            <a:xfrm flipV="1">
              <a:off x="3427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</a:ln>
          </p:spPr>
        </p:sp>
        <p:sp>
          <p:nvSpPr>
            <p:cNvPr id="407" name="Shape 405"/>
            <p:cNvSpPr/>
            <p:nvPr/>
          </p:nvSpPr>
          <p:spPr>
            <a:xfrm>
              <a:off x="3874" y="12168"/>
              <a:ext cx="446" cy="230"/>
            </a:xfrm>
            <a:prstGeom prst="line">
              <a:avLst/>
            </a:prstGeom>
            <a:noFill/>
            <a:ln w="9525">
              <a:solidFill>
                <a:srgbClr val="1C8B3D"/>
              </a:solidFill>
              <a:prstDash val="solid"/>
              <a:tailEnd type="triangle"/>
            </a:ln>
          </p:spPr>
        </p:sp>
        <p:sp>
          <p:nvSpPr>
            <p:cNvPr id="408" name="Text 406"/>
            <p:cNvSpPr txBox="1"/>
            <p:nvPr/>
          </p:nvSpPr>
          <p:spPr>
            <a:xfrm>
              <a:off x="1051" y="11938"/>
              <a:ext cx="677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8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Δt₁</a:t>
              </a:r>
              <a:endParaRPr lang="en-US" sz="680" dirty="0"/>
            </a:p>
          </p:txBody>
        </p:sp>
        <p:sp>
          <p:nvSpPr>
            <p:cNvPr id="409" name="Text 407"/>
            <p:cNvSpPr txBox="1"/>
            <p:nvPr/>
          </p:nvSpPr>
          <p:spPr>
            <a:xfrm>
              <a:off x="1958" y="11938"/>
              <a:ext cx="677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8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Δt₂</a:t>
              </a:r>
              <a:endParaRPr lang="en-US" sz="680" dirty="0"/>
            </a:p>
          </p:txBody>
        </p:sp>
        <p:sp>
          <p:nvSpPr>
            <p:cNvPr id="410" name="Text 408"/>
            <p:cNvSpPr txBox="1"/>
            <p:nvPr/>
          </p:nvSpPr>
          <p:spPr>
            <a:xfrm>
              <a:off x="2866" y="11938"/>
              <a:ext cx="677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8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Δt₃</a:t>
              </a:r>
              <a:endParaRPr lang="en-US" sz="680" dirty="0"/>
            </a:p>
          </p:txBody>
        </p:sp>
        <p:sp>
          <p:nvSpPr>
            <p:cNvPr id="411" name="Text 409"/>
            <p:cNvSpPr txBox="1"/>
            <p:nvPr/>
          </p:nvSpPr>
          <p:spPr>
            <a:xfrm>
              <a:off x="691" y="12989"/>
              <a:ext cx="3586" cy="490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Naturally handles irregular sampling</a:t>
              </a:r>
              <a:endParaRPr lang="en-US" sz="730" dirty="0"/>
            </a:p>
            <a:p>
              <a:pPr marL="0" indent="0" algn="ctr">
                <a:buNone/>
              </a:pPr>
              <a:r>
                <a:rPr lang="en-US" sz="73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and missing observations</a:t>
              </a:r>
              <a:endParaRPr lang="en-US" sz="730" dirty="0"/>
            </a:p>
          </p:txBody>
        </p:sp>
        <p:sp>
          <p:nvSpPr>
            <p:cNvPr id="412" name="Text 410"/>
            <p:cNvSpPr txBox="1"/>
            <p:nvPr/>
          </p:nvSpPr>
          <p:spPr>
            <a:xfrm>
              <a:off x="6077" y="11693"/>
              <a:ext cx="3370" cy="475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2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Directly learn dynamics from</a:t>
              </a:r>
              <a:endParaRPr lang="en-US" sz="720" dirty="0"/>
            </a:p>
            <a:p>
              <a:pPr marL="0" indent="0" algn="ctr">
                <a:buNone/>
              </a:pPr>
              <a:r>
                <a:rPr lang="en-US" sz="72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trajectory-level prediction error</a:t>
              </a:r>
              <a:endParaRPr lang="en-US" sz="720" dirty="0"/>
            </a:p>
          </p:txBody>
        </p:sp>
        <p:sp>
          <p:nvSpPr>
            <p:cNvPr id="413" name="Shape 411"/>
            <p:cNvSpPr/>
            <p:nvPr/>
          </p:nvSpPr>
          <p:spPr>
            <a:xfrm>
              <a:off x="5170" y="12283"/>
              <a:ext cx="1123" cy="648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8890">
              <a:solidFill>
                <a:srgbClr val="F2C5D0"/>
              </a:solidFill>
              <a:prstDash val="solid"/>
            </a:ln>
          </p:spPr>
        </p:sp>
        <p:sp>
          <p:nvSpPr>
            <p:cNvPr id="414" name="Text 412"/>
            <p:cNvSpPr txBox="1"/>
            <p:nvPr/>
          </p:nvSpPr>
          <p:spPr>
            <a:xfrm>
              <a:off x="5242" y="12341"/>
              <a:ext cx="979" cy="490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59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</a:t>
              </a:r>
              <a:endParaRPr lang="en-US" sz="590" dirty="0"/>
            </a:p>
            <a:p>
              <a:pPr marL="0" indent="0" algn="ctr">
                <a:buNone/>
              </a:pPr>
              <a:r>
                <a:rPr lang="en-US" sz="59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early phenotype</a:t>
              </a:r>
              <a:endParaRPr lang="en-US" sz="590" dirty="0"/>
            </a:p>
          </p:txBody>
        </p:sp>
        <p:sp>
          <p:nvSpPr>
            <p:cNvPr id="415" name="Shape 413"/>
            <p:cNvSpPr/>
            <p:nvPr/>
          </p:nvSpPr>
          <p:spPr>
            <a:xfrm>
              <a:off x="6336" y="12614"/>
              <a:ext cx="389" cy="0"/>
            </a:xfrm>
            <a:prstGeom prst="line">
              <a:avLst/>
            </a:prstGeom>
            <a:noFill/>
            <a:ln w="10160">
              <a:solidFill>
                <a:srgbClr val="D82C5B"/>
              </a:solidFill>
              <a:prstDash val="solid"/>
              <a:tailEnd type="triangle"/>
            </a:ln>
          </p:spPr>
        </p:sp>
        <p:sp>
          <p:nvSpPr>
            <p:cNvPr id="416" name="Shape 414"/>
            <p:cNvSpPr/>
            <p:nvPr/>
          </p:nvSpPr>
          <p:spPr>
            <a:xfrm>
              <a:off x="6797" y="12211"/>
              <a:ext cx="1886" cy="806"/>
            </a:xfrm>
            <a:prstGeom prst="roundRect">
              <a:avLst>
                <a:gd name="adj" fmla="val 14286"/>
              </a:avLst>
            </a:prstGeom>
            <a:solidFill>
              <a:srgbClr val="FFF7F9"/>
            </a:solidFill>
            <a:ln w="8890">
              <a:solidFill>
                <a:srgbClr val="D82C5B"/>
              </a:solidFill>
              <a:prstDash val="solid"/>
            </a:ln>
          </p:spPr>
        </p:sp>
        <p:sp>
          <p:nvSpPr>
            <p:cNvPr id="417" name="Text 415"/>
            <p:cNvSpPr txBox="1"/>
            <p:nvPr/>
          </p:nvSpPr>
          <p:spPr>
            <a:xfrm>
              <a:off x="6898" y="12283"/>
              <a:ext cx="1685" cy="57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D82C5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Kode</a:t>
              </a:r>
              <a:endParaRPr lang="en-US" sz="650" dirty="0"/>
            </a:p>
            <a:p>
              <a:pPr marL="0" indent="0" algn="ctr">
                <a:buNone/>
              </a:pPr>
              <a:r>
                <a:rPr lang="en-US" sz="650" b="1" dirty="0">
                  <a:solidFill>
                    <a:srgbClr val="D82C5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(hypernetwork + ODE)</a:t>
              </a:r>
              <a:endParaRPr lang="en-US" sz="650" dirty="0"/>
            </a:p>
          </p:txBody>
        </p:sp>
        <p:sp>
          <p:nvSpPr>
            <p:cNvPr id="418" name="Shape 416"/>
            <p:cNvSpPr/>
            <p:nvPr/>
          </p:nvSpPr>
          <p:spPr>
            <a:xfrm>
              <a:off x="8741" y="12614"/>
              <a:ext cx="403" cy="0"/>
            </a:xfrm>
            <a:prstGeom prst="line">
              <a:avLst/>
            </a:prstGeom>
            <a:noFill/>
            <a:ln w="10160">
              <a:solidFill>
                <a:srgbClr val="D82C5B"/>
              </a:solidFill>
              <a:prstDash val="solid"/>
              <a:tailEnd type="triangle"/>
            </a:ln>
          </p:spPr>
        </p:sp>
        <p:sp>
          <p:nvSpPr>
            <p:cNvPr id="419" name="Shape 417"/>
            <p:cNvSpPr/>
            <p:nvPr/>
          </p:nvSpPr>
          <p:spPr>
            <a:xfrm>
              <a:off x="9202" y="12283"/>
              <a:ext cx="1066" cy="648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8890">
              <a:solidFill>
                <a:srgbClr val="F2C5D0"/>
              </a:solidFill>
              <a:prstDash val="solid"/>
            </a:ln>
          </p:spPr>
        </p:sp>
        <p:sp>
          <p:nvSpPr>
            <p:cNvPr id="420" name="Text 418"/>
            <p:cNvSpPr txBox="1"/>
            <p:nvPr/>
          </p:nvSpPr>
          <p:spPr>
            <a:xfrm>
              <a:off x="9274" y="12341"/>
              <a:ext cx="922" cy="490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Predicted</a:t>
              </a:r>
              <a:endParaRPr lang="en-US" sz="600" dirty="0"/>
            </a:p>
            <a:p>
              <a:pPr marL="0" indent="0" algn="ctr">
                <a:buNone/>
              </a:pPr>
              <a:r>
                <a:rPr lang="en-US" sz="6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trajectory</a:t>
              </a:r>
              <a:endParaRPr lang="en-US" sz="600" dirty="0"/>
            </a:p>
          </p:txBody>
        </p:sp>
        <p:sp>
          <p:nvSpPr>
            <p:cNvPr id="424" name="Text 422"/>
            <p:cNvSpPr txBox="1"/>
            <p:nvPr/>
          </p:nvSpPr>
          <p:spPr>
            <a:xfrm>
              <a:off x="7740" y="13226"/>
              <a:ext cx="2160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80" b="1" dirty="0">
                  <a:solidFill>
                    <a:srgbClr val="D82C5B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Trajectory loss (end-to-end)</a:t>
              </a:r>
              <a:endParaRPr lang="en-US" sz="680" dirty="0"/>
            </a:p>
          </p:txBody>
        </p:sp>
        <p:sp>
          <p:nvSpPr>
            <p:cNvPr id="425" name="Text 423"/>
            <p:cNvSpPr txBox="1"/>
            <p:nvPr/>
          </p:nvSpPr>
          <p:spPr>
            <a:xfrm>
              <a:off x="11405" y="11693"/>
              <a:ext cx="3341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4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Only the first phenotype measurement is required</a:t>
              </a:r>
              <a:endParaRPr lang="en-US" sz="74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p:sp>
          <p:nvSpPr>
            <p:cNvPr id="426" name="Shape 424"/>
            <p:cNvSpPr/>
            <p:nvPr/>
          </p:nvSpPr>
          <p:spPr>
            <a:xfrm>
              <a:off x="11117" y="12211"/>
              <a:ext cx="749" cy="936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6350">
              <a:solidFill>
                <a:srgbClr val="4A9E28"/>
              </a:solidFill>
              <a:prstDash val="solid"/>
            </a:ln>
          </p:spPr>
        </p:sp>
        <p:sp>
          <p:nvSpPr>
            <p:cNvPr id="427" name="Text 425"/>
            <p:cNvSpPr txBox="1"/>
            <p:nvPr/>
          </p:nvSpPr>
          <p:spPr>
            <a:xfrm>
              <a:off x="11160" y="12240"/>
              <a:ext cx="662" cy="878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470" dirty="0"/>
            </a:p>
          </p:txBody>
        </p:sp>
        <p:sp>
          <p:nvSpPr>
            <p:cNvPr id="428" name="Text 426"/>
            <p:cNvSpPr txBox="1"/>
            <p:nvPr/>
          </p:nvSpPr>
          <p:spPr>
            <a:xfrm>
              <a:off x="11290" y="13162"/>
              <a:ext cx="432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40" b="1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y</a:t>
              </a:r>
              <a:r>
                <a:rPr lang="en-US" sz="740" b="1" i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1</a:t>
              </a:r>
              <a:endParaRPr lang="en-US" sz="740" b="1" i="1" baseline="-250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p:sp>
          <p:nvSpPr>
            <p:cNvPr id="429" name="Shape 427"/>
            <p:cNvSpPr/>
            <p:nvPr/>
          </p:nvSpPr>
          <p:spPr>
            <a:xfrm>
              <a:off x="12139" y="12658"/>
              <a:ext cx="1915" cy="0"/>
            </a:xfrm>
            <a:prstGeom prst="line">
              <a:avLst/>
            </a:prstGeom>
            <a:noFill/>
            <a:ln w="13970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430" name="Text 428"/>
            <p:cNvSpPr txBox="1"/>
            <p:nvPr/>
          </p:nvSpPr>
          <p:spPr>
            <a:xfrm>
              <a:off x="12211" y="12848"/>
              <a:ext cx="1786" cy="54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8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Forecast the unobserved future developmental trajectory</a:t>
              </a:r>
              <a:endParaRPr lang="en-US" sz="680" b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p:sp>
          <p:nvSpPr>
            <p:cNvPr id="431" name="Shape 429"/>
            <p:cNvSpPr/>
            <p:nvPr/>
          </p:nvSpPr>
          <p:spPr>
            <a:xfrm>
              <a:off x="14285" y="12010"/>
              <a:ext cx="821" cy="1138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6350">
              <a:solidFill>
                <a:srgbClr val="D0A11B"/>
              </a:solidFill>
              <a:prstDash val="solid"/>
            </a:ln>
          </p:spPr>
        </p:sp>
        <p:sp>
          <p:nvSpPr>
            <p:cNvPr id="432" name="Text 430"/>
            <p:cNvSpPr txBox="1"/>
            <p:nvPr/>
          </p:nvSpPr>
          <p:spPr>
            <a:xfrm>
              <a:off x="14328" y="12038"/>
              <a:ext cx="734" cy="1080"/>
            </a:xfrm>
            <a:prstGeom prst="rect">
              <a:avLst/>
            </a:prstGeom>
            <a:noFill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endParaRPr lang="en-US" sz="480" dirty="0"/>
            </a:p>
          </p:txBody>
        </p:sp>
        <p:sp>
          <p:nvSpPr>
            <p:cNvPr id="433" name="Text 431"/>
            <p:cNvSpPr txBox="1"/>
            <p:nvPr/>
          </p:nvSpPr>
          <p:spPr>
            <a:xfrm>
              <a:off x="14472" y="13162"/>
              <a:ext cx="432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40" b="1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y</a:t>
              </a:r>
              <a:r>
                <a:rPr lang="en-US" sz="740" b="1" i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  <a:endParaRPr lang="en-US" sz="740" b="1" i="1" baseline="-250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p:sp>
          <p:nvSpPr>
            <p:cNvPr id="460" name="Text 458"/>
            <p:cNvSpPr txBox="1"/>
            <p:nvPr/>
          </p:nvSpPr>
          <p:spPr>
            <a:xfrm>
              <a:off x="15754" y="13190"/>
              <a:ext cx="1469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 1</a:t>
              </a:r>
              <a:endParaRPr lang="en-US" sz="670" dirty="0"/>
            </a:p>
          </p:txBody>
        </p:sp>
        <p:sp>
          <p:nvSpPr>
            <p:cNvPr id="487" name="Text 485"/>
            <p:cNvSpPr txBox="1"/>
            <p:nvPr/>
          </p:nvSpPr>
          <p:spPr>
            <a:xfrm>
              <a:off x="17638" y="13190"/>
              <a:ext cx="1469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 2</a:t>
              </a:r>
              <a:endParaRPr lang="en-US" sz="670" dirty="0"/>
            </a:p>
          </p:txBody>
        </p:sp>
        <p:sp>
          <p:nvSpPr>
            <p:cNvPr id="514" name="Text 512"/>
            <p:cNvSpPr txBox="1"/>
            <p:nvPr/>
          </p:nvSpPr>
          <p:spPr>
            <a:xfrm>
              <a:off x="19543" y="13190"/>
              <a:ext cx="1469" cy="288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7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Genotype 3</a:t>
              </a:r>
              <a:endParaRPr lang="en-US" sz="670" dirty="0"/>
            </a:p>
          </p:txBody>
        </p:sp>
        <p:sp>
          <p:nvSpPr>
            <p:cNvPr id="517" name="Shape 515"/>
            <p:cNvSpPr/>
            <p:nvPr/>
          </p:nvSpPr>
          <p:spPr>
            <a:xfrm>
              <a:off x="173" y="3773"/>
              <a:ext cx="21211" cy="0"/>
            </a:xfrm>
            <a:prstGeom prst="line">
              <a:avLst/>
            </a:prstGeom>
            <a:noFill/>
            <a:ln w="5715">
              <a:solidFill>
                <a:srgbClr val="D7E4EC"/>
              </a:solidFill>
              <a:prstDash val="solid"/>
            </a:ln>
          </p:spPr>
        </p:sp>
        <p:sp>
          <p:nvSpPr>
            <p:cNvPr id="518" name="Shape 516"/>
            <p:cNvSpPr/>
            <p:nvPr/>
          </p:nvSpPr>
          <p:spPr>
            <a:xfrm>
              <a:off x="173" y="10555"/>
              <a:ext cx="21211" cy="0"/>
            </a:xfrm>
            <a:prstGeom prst="line">
              <a:avLst/>
            </a:prstGeom>
            <a:noFill/>
            <a:ln w="5715">
              <a:solidFill>
                <a:srgbClr val="D7E4EC"/>
              </a:solidFill>
              <a:prstDash val="solid"/>
            </a:ln>
          </p:spPr>
        </p:sp>
        <p:pic>
          <p:nvPicPr>
            <p:cNvPr id="519" name="图片 518" descr="基因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82" y="1454"/>
              <a:ext cx="1110" cy="1110"/>
            </a:xfrm>
            <a:prstGeom prst="rect">
              <a:avLst/>
            </a:prstGeom>
          </p:spPr>
        </p:pic>
        <p:grpSp>
          <p:nvGrpSpPr>
            <p:cNvPr id="520" name="MaizeStage5"/>
            <p:cNvGrpSpPr/>
            <p:nvPr/>
          </p:nvGrpSpPr>
          <p:grpSpPr>
            <a:xfrm>
              <a:off x="5044" y="1346"/>
              <a:ext cx="580" cy="1452"/>
              <a:chOff x="9490589" y="584484"/>
              <a:chExt cx="1666838" cy="4161252"/>
            </a:xfrm>
          </p:grpSpPr>
          <p:sp>
            <p:nvSpPr>
              <p:cNvPr id="521" name="MaizeStage5_Stalk"/>
              <p:cNvSpPr/>
              <p:nvPr/>
            </p:nvSpPr>
            <p:spPr>
              <a:xfrm>
                <a:off x="10259568" y="1014984"/>
                <a:ext cx="109728" cy="370332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22" name="MaizeStage5_StalkHighlight"/>
              <p:cNvSpPr/>
              <p:nvPr/>
            </p:nvSpPr>
            <p:spPr>
              <a:xfrm>
                <a:off x="10302362" y="1060704"/>
                <a:ext cx="0" cy="3621024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523" name="MaizeStage5_Leaf_1"/>
              <p:cNvSpPr/>
              <p:nvPr/>
            </p:nvSpPr>
            <p:spPr>
              <a:xfrm flipH="1">
                <a:off x="9686888" y="3852326"/>
                <a:ext cx="627544" cy="37025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24" name="MaizeStage5_Vein_1a"/>
              <p:cNvSpPr/>
              <p:nvPr/>
            </p:nvSpPr>
            <p:spPr>
              <a:xfrm flipH="1" flipV="1">
                <a:off x="10006936" y="3985616"/>
                <a:ext cx="307496" cy="8712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25" name="MaizeStage5_Vein_1b"/>
              <p:cNvSpPr/>
              <p:nvPr/>
            </p:nvSpPr>
            <p:spPr>
              <a:xfrm flipH="1">
                <a:off x="9774745" y="3985616"/>
                <a:ext cx="232191" cy="7034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26" name="MaizeStage5_Leaf_2"/>
              <p:cNvSpPr/>
              <p:nvPr/>
            </p:nvSpPr>
            <p:spPr>
              <a:xfrm>
                <a:off x="10314432" y="3572252"/>
                <a:ext cx="610277" cy="36006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27" name="MaizeStage5_Vein_2a"/>
              <p:cNvSpPr/>
              <p:nvPr/>
            </p:nvSpPr>
            <p:spPr>
              <a:xfrm flipV="1">
                <a:off x="10314432" y="3701875"/>
                <a:ext cx="299036" cy="8447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28" name="MaizeStage5_Vein_2b"/>
              <p:cNvSpPr/>
              <p:nvPr/>
            </p:nvSpPr>
            <p:spPr>
              <a:xfrm>
                <a:off x="10613468" y="3701875"/>
                <a:ext cx="225802" cy="6841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29" name="MaizeStage5_Leaf_3"/>
              <p:cNvSpPr/>
              <p:nvPr/>
            </p:nvSpPr>
            <p:spPr>
              <a:xfrm flipH="1">
                <a:off x="9600708" y="3248021"/>
                <a:ext cx="713724" cy="42109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0" name="MaizeStage5_Vein_3a"/>
              <p:cNvSpPr/>
              <p:nvPr/>
            </p:nvSpPr>
            <p:spPr>
              <a:xfrm flipH="1" flipV="1">
                <a:off x="9964707" y="3399616"/>
                <a:ext cx="349725" cy="10034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1" name="MaizeStage5_Vein_3b"/>
              <p:cNvSpPr/>
              <p:nvPr/>
            </p:nvSpPr>
            <p:spPr>
              <a:xfrm flipH="1">
                <a:off x="9700629" y="3399616"/>
                <a:ext cx="264078" cy="8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2" name="MaizeStage5_Leaf_4"/>
              <p:cNvSpPr/>
              <p:nvPr/>
            </p:nvSpPr>
            <p:spPr>
              <a:xfrm>
                <a:off x="10314432" y="2945869"/>
                <a:ext cx="756814" cy="44652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3" name="MaizeStage5_Vein_4a"/>
              <p:cNvSpPr/>
              <p:nvPr/>
            </p:nvSpPr>
            <p:spPr>
              <a:xfrm flipV="1">
                <a:off x="10314432" y="3106616"/>
                <a:ext cx="370839" cy="10695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4" name="MaizeStage5_Vein_4b"/>
              <p:cNvSpPr/>
              <p:nvPr/>
            </p:nvSpPr>
            <p:spPr>
              <a:xfrm>
                <a:off x="10685271" y="3106616"/>
                <a:ext cx="280021" cy="8483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5" name="MaizeStage5_Leaf_5"/>
              <p:cNvSpPr/>
              <p:nvPr/>
            </p:nvSpPr>
            <p:spPr>
              <a:xfrm flipH="1">
                <a:off x="9586519" y="2670051"/>
                <a:ext cx="727913" cy="42946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6" name="MaizeStage5_Vein_5a"/>
              <p:cNvSpPr/>
              <p:nvPr/>
            </p:nvSpPr>
            <p:spPr>
              <a:xfrm flipH="1" flipV="1">
                <a:off x="9957755" y="2824659"/>
                <a:ext cx="356677" cy="10251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7" name="MaizeStage5_Vein_5b"/>
              <p:cNvSpPr/>
              <p:nvPr/>
            </p:nvSpPr>
            <p:spPr>
              <a:xfrm flipH="1">
                <a:off x="9688427" y="2824659"/>
                <a:ext cx="269328" cy="8159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8" name="MaizeStage5_Leaf_6"/>
              <p:cNvSpPr/>
              <p:nvPr/>
            </p:nvSpPr>
            <p:spPr>
              <a:xfrm>
                <a:off x="10314432" y="2341564"/>
                <a:ext cx="842995" cy="49736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39" name="MaizeStage5_Vein_6a"/>
              <p:cNvSpPr/>
              <p:nvPr/>
            </p:nvSpPr>
            <p:spPr>
              <a:xfrm flipV="1">
                <a:off x="10314432" y="2520616"/>
                <a:ext cx="413067" cy="12017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0" name="MaizeStage5_Vein_6b"/>
              <p:cNvSpPr/>
              <p:nvPr/>
            </p:nvSpPr>
            <p:spPr>
              <a:xfrm>
                <a:off x="10727499" y="2520616"/>
                <a:ext cx="311908" cy="94500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1" name="MaizeStage5_Leaf_7"/>
              <p:cNvSpPr/>
              <p:nvPr/>
            </p:nvSpPr>
            <p:spPr>
              <a:xfrm flipH="1">
                <a:off x="9490589" y="2062179"/>
                <a:ext cx="823843" cy="48606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2" name="MaizeStage5_Vein_7a"/>
              <p:cNvSpPr/>
              <p:nvPr/>
            </p:nvSpPr>
            <p:spPr>
              <a:xfrm flipH="1" flipV="1">
                <a:off x="9910749" y="2237164"/>
                <a:ext cx="403683" cy="11723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3" name="MaizeStage5_Vein_7b"/>
              <p:cNvSpPr/>
              <p:nvPr/>
            </p:nvSpPr>
            <p:spPr>
              <a:xfrm flipH="1">
                <a:off x="9605927" y="2237164"/>
                <a:ext cx="304822" cy="923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4" name="MaizeStage5_Leaf_8"/>
              <p:cNvSpPr/>
              <p:nvPr/>
            </p:nvSpPr>
            <p:spPr>
              <a:xfrm>
                <a:off x="10314432" y="1817256"/>
                <a:ext cx="710485" cy="41918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5" name="MaizeStage5_Vein_8a"/>
              <p:cNvSpPr/>
              <p:nvPr/>
            </p:nvSpPr>
            <p:spPr>
              <a:xfrm flipV="1">
                <a:off x="10314432" y="1968163"/>
                <a:ext cx="348138" cy="9984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6" name="MaizeStage5_Vein_8b"/>
              <p:cNvSpPr/>
              <p:nvPr/>
            </p:nvSpPr>
            <p:spPr>
              <a:xfrm>
                <a:off x="10662570" y="1968163"/>
                <a:ext cx="262880" cy="79645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7" name="MaizeStage5_Leaf_9"/>
              <p:cNvSpPr/>
              <p:nvPr/>
            </p:nvSpPr>
            <p:spPr>
              <a:xfrm flipH="1">
                <a:off x="9576769" y="1139257"/>
                <a:ext cx="737663" cy="67865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8" name="MaizeStage5_Vein_9a"/>
              <p:cNvSpPr/>
              <p:nvPr/>
            </p:nvSpPr>
            <p:spPr>
              <a:xfrm flipH="1" flipV="1">
                <a:off x="10004614" y="1410717"/>
                <a:ext cx="309818" cy="37090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49" name="MaizeStage5_Vein_9b"/>
              <p:cNvSpPr/>
              <p:nvPr/>
            </p:nvSpPr>
            <p:spPr>
              <a:xfrm flipH="1" flipV="1">
                <a:off x="9680042" y="1234268"/>
                <a:ext cx="324572" cy="17644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0" name="MaizeStage5_Leaf_10"/>
              <p:cNvSpPr/>
              <p:nvPr/>
            </p:nvSpPr>
            <p:spPr>
              <a:xfrm>
                <a:off x="10314432" y="890924"/>
                <a:ext cx="694573" cy="63900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1" name="MaizeStage5_Vein_10a"/>
              <p:cNvSpPr/>
              <p:nvPr/>
            </p:nvSpPr>
            <p:spPr>
              <a:xfrm flipV="1">
                <a:off x="10314432" y="1146527"/>
                <a:ext cx="291721" cy="34870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2" name="MaizeStage5_Vein_10b"/>
              <p:cNvSpPr/>
              <p:nvPr/>
            </p:nvSpPr>
            <p:spPr>
              <a:xfrm flipV="1">
                <a:off x="10606153" y="980385"/>
                <a:ext cx="305612" cy="16614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3" name="MaizeStage5_Leaf_11"/>
              <p:cNvSpPr/>
              <p:nvPr/>
            </p:nvSpPr>
            <p:spPr>
              <a:xfrm flipH="1">
                <a:off x="9721583" y="694376"/>
                <a:ext cx="592849" cy="54542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4" name="MaizeStage5_Vein_11a"/>
              <p:cNvSpPr/>
              <p:nvPr/>
            </p:nvSpPr>
            <p:spPr>
              <a:xfrm flipH="1" flipV="1">
                <a:off x="10065435" y="912545"/>
                <a:ext cx="248997" cy="29629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5" name="MaizeStage5_Vein_11b"/>
              <p:cNvSpPr/>
              <p:nvPr/>
            </p:nvSpPr>
            <p:spPr>
              <a:xfrm flipH="1" flipV="1">
                <a:off x="9804582" y="770735"/>
                <a:ext cx="260854" cy="141810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6" name="MaizeStage5_Leaf_12"/>
              <p:cNvSpPr/>
              <p:nvPr/>
            </p:nvSpPr>
            <p:spPr>
              <a:xfrm flipH="1">
                <a:off x="9985248" y="584484"/>
                <a:ext cx="329184" cy="6675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AB94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7" name="MaizeStage5_Vein_12a"/>
              <p:cNvSpPr/>
              <p:nvPr/>
            </p:nvSpPr>
            <p:spPr>
              <a:xfrm flipH="1" flipV="1">
                <a:off x="10176175" y="851489"/>
                <a:ext cx="138257" cy="36466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8" name="MaizeStage5_Vein_12b"/>
              <p:cNvSpPr/>
              <p:nvPr/>
            </p:nvSpPr>
            <p:spPr>
              <a:xfrm flipH="1" flipV="1">
                <a:off x="10031334" y="677936"/>
                <a:ext cx="144841" cy="1735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59" name="MaizeStage5_Leaf_13"/>
              <p:cNvSpPr/>
              <p:nvPr/>
            </p:nvSpPr>
            <p:spPr>
              <a:xfrm>
                <a:off x="10314432" y="673730"/>
                <a:ext cx="310896" cy="6126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DC34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60" name="MaizeStage5_Vein_13a"/>
              <p:cNvSpPr/>
              <p:nvPr/>
            </p:nvSpPr>
            <p:spPr>
              <a:xfrm flipV="1">
                <a:off x="10314432" y="918789"/>
                <a:ext cx="130576" cy="33393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61" name="MaizeStage5_Vein_13b"/>
              <p:cNvSpPr/>
              <p:nvPr/>
            </p:nvSpPr>
            <p:spPr>
              <a:xfrm flipV="1">
                <a:off x="10445008" y="759501"/>
                <a:ext cx="136794" cy="15928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62" name="MaizeStage5_TasselAxis"/>
              <p:cNvSpPr/>
              <p:nvPr/>
            </p:nvSpPr>
            <p:spPr>
              <a:xfrm flipV="1">
                <a:off x="10314432" y="941832"/>
                <a:ext cx="0" cy="374904"/>
              </a:xfrm>
              <a:prstGeom prst="line">
                <a:avLst/>
              </a:prstGeom>
              <a:noFill/>
              <a:ln w="9906">
                <a:solidFill>
                  <a:srgbClr val="E2AE24"/>
                </a:solidFill>
                <a:prstDash val="solid"/>
              </a:ln>
            </p:spPr>
          </p:sp>
          <p:sp>
            <p:nvSpPr>
              <p:cNvPr id="563" name="MaizeStage5_TasselBranch_1"/>
              <p:cNvSpPr/>
              <p:nvPr/>
            </p:nvSpPr>
            <p:spPr>
              <a:xfrm flipH="1" flipV="1">
                <a:off x="10085832" y="1106424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564" name="MaizeStage5_TasselAnther_1"/>
              <p:cNvSpPr/>
              <p:nvPr/>
            </p:nvSpPr>
            <p:spPr>
              <a:xfrm>
                <a:off x="10072116" y="109362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65" name="MaizeStage5_TasselBranch_2"/>
              <p:cNvSpPr/>
              <p:nvPr/>
            </p:nvSpPr>
            <p:spPr>
              <a:xfrm flipH="1" flipV="1">
                <a:off x="10131552" y="969264"/>
                <a:ext cx="117043" cy="22860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566" name="MaizeStage5_TasselAnther_2"/>
              <p:cNvSpPr/>
              <p:nvPr/>
            </p:nvSpPr>
            <p:spPr>
              <a:xfrm>
                <a:off x="10117836" y="95646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67" name="MaizeStage5_TasselBranch_3"/>
              <p:cNvSpPr/>
              <p:nvPr/>
            </p:nvSpPr>
            <p:spPr>
              <a:xfrm flipH="1" flipV="1">
                <a:off x="10195560" y="905256"/>
                <a:ext cx="76078" cy="292608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568" name="MaizeStage5_TasselAnther_3"/>
              <p:cNvSpPr/>
              <p:nvPr/>
            </p:nvSpPr>
            <p:spPr>
              <a:xfrm>
                <a:off x="10181844" y="892454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69" name="MaizeStage5_TasselBranch_4"/>
              <p:cNvSpPr/>
              <p:nvPr/>
            </p:nvSpPr>
            <p:spPr>
              <a:xfrm flipH="1" flipV="1">
                <a:off x="10250424" y="832104"/>
                <a:ext cx="40965" cy="36576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570" name="MaizeStage5_TasselAnther_4"/>
              <p:cNvSpPr/>
              <p:nvPr/>
            </p:nvSpPr>
            <p:spPr>
              <a:xfrm>
                <a:off x="10236708" y="81930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71" name="MaizeStage5_TasselBranch_5"/>
              <p:cNvSpPr/>
              <p:nvPr/>
            </p:nvSpPr>
            <p:spPr>
              <a:xfrm flipV="1">
                <a:off x="10334183" y="832104"/>
                <a:ext cx="35113" cy="36576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572" name="MaizeStage5_TasselAnther_5"/>
              <p:cNvSpPr/>
              <p:nvPr/>
            </p:nvSpPr>
            <p:spPr>
              <a:xfrm>
                <a:off x="10355580" y="81930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73" name="MaizeStage5_TasselBranch_6"/>
              <p:cNvSpPr/>
              <p:nvPr/>
            </p:nvSpPr>
            <p:spPr>
              <a:xfrm flipV="1">
                <a:off x="10357226" y="896112"/>
                <a:ext cx="76078" cy="301752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574" name="MaizeStage5_TasselAnther_6"/>
              <p:cNvSpPr/>
              <p:nvPr/>
            </p:nvSpPr>
            <p:spPr>
              <a:xfrm>
                <a:off x="10419588" y="88331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75" name="MaizeStage5_TasselBranch_7"/>
              <p:cNvSpPr/>
              <p:nvPr/>
            </p:nvSpPr>
            <p:spPr>
              <a:xfrm flipV="1">
                <a:off x="10380269" y="978408"/>
                <a:ext cx="117043" cy="219456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576" name="MaizeStage5_TasselAnther_7"/>
              <p:cNvSpPr/>
              <p:nvPr/>
            </p:nvSpPr>
            <p:spPr>
              <a:xfrm>
                <a:off x="10483596" y="965606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77" name="MaizeStage5_TasselBranch_8"/>
              <p:cNvSpPr/>
              <p:nvPr/>
            </p:nvSpPr>
            <p:spPr>
              <a:xfrm flipV="1">
                <a:off x="10396728" y="1106424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578" name="MaizeStage5_TasselAnther_8"/>
              <p:cNvSpPr/>
              <p:nvPr/>
            </p:nvSpPr>
            <p:spPr>
              <a:xfrm>
                <a:off x="10529316" y="109362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79" name="MaizeStage5_Ear"/>
              <p:cNvSpPr/>
              <p:nvPr/>
            </p:nvSpPr>
            <p:spPr>
              <a:xfrm rot="540000">
                <a:off x="10351008" y="2852471"/>
                <a:ext cx="109728" cy="292608"/>
              </a:xfrm>
              <a:prstGeom prst="ellipse">
                <a:avLst/>
              </a:prstGeom>
              <a:solidFill>
                <a:srgbClr val="F3C83C"/>
              </a:solidFill>
              <a:ln w="3556">
                <a:solidFill>
                  <a:srgbClr val="D3A825"/>
                </a:solidFill>
                <a:prstDash val="solid"/>
              </a:ln>
            </p:spPr>
          </p:sp>
          <p:sp>
            <p:nvSpPr>
              <p:cNvPr id="580" name="MaizeStage5_Husk"/>
              <p:cNvSpPr/>
              <p:nvPr/>
            </p:nvSpPr>
            <p:spPr>
              <a:xfrm>
                <a:off x="10387584" y="2889047"/>
                <a:ext cx="155448" cy="31089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410" y="960"/>
                    </a:moveTo>
                    <a:cubicBezTo>
                      <a:pt x="105" y="650"/>
                      <a:pt x="40" y="210"/>
                      <a:pt x="335" y="0"/>
                    </a:cubicBezTo>
                    <a:cubicBezTo>
                      <a:pt x="390" y="288"/>
                      <a:pt x="795" y="690"/>
                      <a:pt x="410" y="960"/>
                    </a:cubicBezTo>
                    <a:close/>
                  </a:path>
                </a:pathLst>
              </a:custGeom>
              <a:solidFill>
                <a:srgbClr val="44983B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81" name="MaizeStage5_EarNode"/>
              <p:cNvSpPr/>
              <p:nvPr/>
            </p:nvSpPr>
            <p:spPr>
              <a:xfrm flipV="1">
                <a:off x="10314432" y="3081071"/>
                <a:ext cx="91440" cy="36576"/>
              </a:xfrm>
              <a:prstGeom prst="line">
                <a:avLst/>
              </a:prstGeom>
              <a:noFill/>
              <a:ln w="8636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82" name="MaizeStage5_Soil"/>
              <p:cNvSpPr/>
              <p:nvPr/>
            </p:nvSpPr>
            <p:spPr>
              <a:xfrm>
                <a:off x="10067544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pic>
          <p:nvPicPr>
            <p:cNvPr id="583" name="图片 582" descr="基因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34" y="1463"/>
              <a:ext cx="1110" cy="1110"/>
            </a:xfrm>
            <a:prstGeom prst="rect">
              <a:avLst/>
            </a:prstGeom>
          </p:spPr>
        </p:pic>
        <p:sp>
          <p:nvSpPr>
            <p:cNvPr id="584" name="Shape 12"/>
            <p:cNvSpPr/>
            <p:nvPr/>
          </p:nvSpPr>
          <p:spPr>
            <a:xfrm>
              <a:off x="19462" y="1191"/>
              <a:ext cx="910" cy="1203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1430">
              <a:solidFill>
                <a:srgbClr val="4A9E28"/>
              </a:solidFill>
              <a:prstDash val="solid"/>
            </a:ln>
          </p:spPr>
        </p:sp>
        <p:grpSp>
          <p:nvGrpSpPr>
            <p:cNvPr id="586" name="MaizeStage5"/>
            <p:cNvGrpSpPr/>
            <p:nvPr/>
          </p:nvGrpSpPr>
          <p:grpSpPr>
            <a:xfrm>
              <a:off x="19701" y="1201"/>
              <a:ext cx="468" cy="1175"/>
              <a:chOff x="9490589" y="584484"/>
              <a:chExt cx="1666838" cy="4161252"/>
            </a:xfrm>
          </p:grpSpPr>
          <p:sp>
            <p:nvSpPr>
              <p:cNvPr id="587" name="MaizeStage5_Stalk"/>
              <p:cNvSpPr/>
              <p:nvPr/>
            </p:nvSpPr>
            <p:spPr>
              <a:xfrm>
                <a:off x="10259568" y="1014984"/>
                <a:ext cx="109728" cy="370332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88" name="MaizeStage5_StalkHighlight"/>
              <p:cNvSpPr/>
              <p:nvPr/>
            </p:nvSpPr>
            <p:spPr>
              <a:xfrm>
                <a:off x="10302362" y="1060704"/>
                <a:ext cx="0" cy="3621024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589" name="MaizeStage5_Leaf_1"/>
              <p:cNvSpPr/>
              <p:nvPr/>
            </p:nvSpPr>
            <p:spPr>
              <a:xfrm flipH="1">
                <a:off x="9686888" y="3852326"/>
                <a:ext cx="627544" cy="37025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0" name="MaizeStage5_Vein_1a"/>
              <p:cNvSpPr/>
              <p:nvPr/>
            </p:nvSpPr>
            <p:spPr>
              <a:xfrm flipH="1" flipV="1">
                <a:off x="10006936" y="3985616"/>
                <a:ext cx="307496" cy="8712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1" name="MaizeStage5_Vein_1b"/>
              <p:cNvSpPr/>
              <p:nvPr/>
            </p:nvSpPr>
            <p:spPr>
              <a:xfrm flipH="1">
                <a:off x="9774745" y="3985616"/>
                <a:ext cx="232191" cy="7034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2" name="MaizeStage5_Leaf_2"/>
              <p:cNvSpPr/>
              <p:nvPr/>
            </p:nvSpPr>
            <p:spPr>
              <a:xfrm>
                <a:off x="10314432" y="3572252"/>
                <a:ext cx="610277" cy="36006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3" name="MaizeStage5_Vein_2a"/>
              <p:cNvSpPr/>
              <p:nvPr/>
            </p:nvSpPr>
            <p:spPr>
              <a:xfrm flipV="1">
                <a:off x="10314432" y="3701875"/>
                <a:ext cx="299036" cy="8447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4" name="MaizeStage5_Vein_2b"/>
              <p:cNvSpPr/>
              <p:nvPr/>
            </p:nvSpPr>
            <p:spPr>
              <a:xfrm>
                <a:off x="10613468" y="3701875"/>
                <a:ext cx="225802" cy="6841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5" name="MaizeStage5_Leaf_3"/>
              <p:cNvSpPr/>
              <p:nvPr/>
            </p:nvSpPr>
            <p:spPr>
              <a:xfrm flipH="1">
                <a:off x="9600708" y="3248021"/>
                <a:ext cx="713724" cy="42109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6" name="MaizeStage5_Vein_3a"/>
              <p:cNvSpPr/>
              <p:nvPr/>
            </p:nvSpPr>
            <p:spPr>
              <a:xfrm flipH="1" flipV="1">
                <a:off x="9964707" y="3399616"/>
                <a:ext cx="349725" cy="10034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7" name="MaizeStage5_Vein_3b"/>
              <p:cNvSpPr/>
              <p:nvPr/>
            </p:nvSpPr>
            <p:spPr>
              <a:xfrm flipH="1">
                <a:off x="9700629" y="3399616"/>
                <a:ext cx="264078" cy="8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8" name="MaizeStage5_Leaf_4"/>
              <p:cNvSpPr/>
              <p:nvPr/>
            </p:nvSpPr>
            <p:spPr>
              <a:xfrm>
                <a:off x="10314432" y="2945869"/>
                <a:ext cx="756814" cy="44652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599" name="MaizeStage5_Vein_4a"/>
              <p:cNvSpPr/>
              <p:nvPr/>
            </p:nvSpPr>
            <p:spPr>
              <a:xfrm flipV="1">
                <a:off x="10314432" y="3106616"/>
                <a:ext cx="370839" cy="10695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0" name="MaizeStage5_Vein_4b"/>
              <p:cNvSpPr/>
              <p:nvPr/>
            </p:nvSpPr>
            <p:spPr>
              <a:xfrm>
                <a:off x="10685271" y="3106616"/>
                <a:ext cx="280021" cy="8483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1" name="MaizeStage5_Leaf_5"/>
              <p:cNvSpPr/>
              <p:nvPr/>
            </p:nvSpPr>
            <p:spPr>
              <a:xfrm flipH="1">
                <a:off x="9586519" y="2670051"/>
                <a:ext cx="727913" cy="42946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2" name="MaizeStage5_Vein_5a"/>
              <p:cNvSpPr/>
              <p:nvPr/>
            </p:nvSpPr>
            <p:spPr>
              <a:xfrm flipH="1" flipV="1">
                <a:off x="9957755" y="2824659"/>
                <a:ext cx="356677" cy="10251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3" name="MaizeStage5_Vein_5b"/>
              <p:cNvSpPr/>
              <p:nvPr/>
            </p:nvSpPr>
            <p:spPr>
              <a:xfrm flipH="1">
                <a:off x="9688427" y="2824659"/>
                <a:ext cx="269328" cy="8159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4" name="MaizeStage5_Leaf_6"/>
              <p:cNvSpPr/>
              <p:nvPr/>
            </p:nvSpPr>
            <p:spPr>
              <a:xfrm>
                <a:off x="10314432" y="2341564"/>
                <a:ext cx="842995" cy="49736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5" name="MaizeStage5_Vein_6a"/>
              <p:cNvSpPr/>
              <p:nvPr/>
            </p:nvSpPr>
            <p:spPr>
              <a:xfrm flipV="1">
                <a:off x="10314432" y="2520616"/>
                <a:ext cx="413067" cy="12017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6" name="MaizeStage5_Vein_6b"/>
              <p:cNvSpPr/>
              <p:nvPr/>
            </p:nvSpPr>
            <p:spPr>
              <a:xfrm>
                <a:off x="10727499" y="2520616"/>
                <a:ext cx="311908" cy="94500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7" name="MaizeStage5_Leaf_7"/>
              <p:cNvSpPr/>
              <p:nvPr/>
            </p:nvSpPr>
            <p:spPr>
              <a:xfrm flipH="1">
                <a:off x="9490589" y="2062179"/>
                <a:ext cx="823843" cy="48606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8" name="MaizeStage5_Vein_7a"/>
              <p:cNvSpPr/>
              <p:nvPr/>
            </p:nvSpPr>
            <p:spPr>
              <a:xfrm flipH="1" flipV="1">
                <a:off x="9910749" y="2237164"/>
                <a:ext cx="403683" cy="11723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09" name="MaizeStage5_Vein_7b"/>
              <p:cNvSpPr/>
              <p:nvPr/>
            </p:nvSpPr>
            <p:spPr>
              <a:xfrm flipH="1">
                <a:off x="9605927" y="2237164"/>
                <a:ext cx="304822" cy="923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0" name="MaizeStage5_Leaf_8"/>
              <p:cNvSpPr/>
              <p:nvPr/>
            </p:nvSpPr>
            <p:spPr>
              <a:xfrm>
                <a:off x="10314432" y="1817256"/>
                <a:ext cx="710485" cy="41918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1" name="MaizeStage5_Vein_8a"/>
              <p:cNvSpPr/>
              <p:nvPr/>
            </p:nvSpPr>
            <p:spPr>
              <a:xfrm flipV="1">
                <a:off x="10314432" y="1968163"/>
                <a:ext cx="348138" cy="9984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2" name="MaizeStage5_Vein_8b"/>
              <p:cNvSpPr/>
              <p:nvPr/>
            </p:nvSpPr>
            <p:spPr>
              <a:xfrm>
                <a:off x="10662570" y="1968163"/>
                <a:ext cx="262880" cy="79645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3" name="MaizeStage5_Leaf_9"/>
              <p:cNvSpPr/>
              <p:nvPr/>
            </p:nvSpPr>
            <p:spPr>
              <a:xfrm flipH="1">
                <a:off x="9576769" y="1139257"/>
                <a:ext cx="737663" cy="67865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4" name="MaizeStage5_Vein_9a"/>
              <p:cNvSpPr/>
              <p:nvPr/>
            </p:nvSpPr>
            <p:spPr>
              <a:xfrm flipH="1" flipV="1">
                <a:off x="10004614" y="1410717"/>
                <a:ext cx="309818" cy="37090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5" name="MaizeStage5_Vein_9b"/>
              <p:cNvSpPr/>
              <p:nvPr/>
            </p:nvSpPr>
            <p:spPr>
              <a:xfrm flipH="1" flipV="1">
                <a:off x="9680042" y="1234268"/>
                <a:ext cx="324572" cy="17644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6" name="MaizeStage5_Leaf_10"/>
              <p:cNvSpPr/>
              <p:nvPr/>
            </p:nvSpPr>
            <p:spPr>
              <a:xfrm>
                <a:off x="10314432" y="890924"/>
                <a:ext cx="694573" cy="63900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7" name="MaizeStage5_Vein_10a"/>
              <p:cNvSpPr/>
              <p:nvPr/>
            </p:nvSpPr>
            <p:spPr>
              <a:xfrm flipV="1">
                <a:off x="10314432" y="1146527"/>
                <a:ext cx="291721" cy="34870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8" name="MaizeStage5_Vein_10b"/>
              <p:cNvSpPr/>
              <p:nvPr/>
            </p:nvSpPr>
            <p:spPr>
              <a:xfrm flipV="1">
                <a:off x="10606153" y="980385"/>
                <a:ext cx="305612" cy="16614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19" name="MaizeStage5_Leaf_11"/>
              <p:cNvSpPr/>
              <p:nvPr/>
            </p:nvSpPr>
            <p:spPr>
              <a:xfrm flipH="1">
                <a:off x="9721583" y="694376"/>
                <a:ext cx="592849" cy="54542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0" name="MaizeStage5_Vein_11a"/>
              <p:cNvSpPr/>
              <p:nvPr/>
            </p:nvSpPr>
            <p:spPr>
              <a:xfrm flipH="1" flipV="1">
                <a:off x="10065435" y="912545"/>
                <a:ext cx="248997" cy="29629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1" name="MaizeStage5_Vein_11b"/>
              <p:cNvSpPr/>
              <p:nvPr/>
            </p:nvSpPr>
            <p:spPr>
              <a:xfrm flipH="1" flipV="1">
                <a:off x="9804582" y="770735"/>
                <a:ext cx="260854" cy="141810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2" name="MaizeStage5_Leaf_12"/>
              <p:cNvSpPr/>
              <p:nvPr/>
            </p:nvSpPr>
            <p:spPr>
              <a:xfrm flipH="1">
                <a:off x="9985248" y="584484"/>
                <a:ext cx="329184" cy="6675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AB94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3" name="MaizeStage5_Vein_12a"/>
              <p:cNvSpPr/>
              <p:nvPr/>
            </p:nvSpPr>
            <p:spPr>
              <a:xfrm flipH="1" flipV="1">
                <a:off x="10176175" y="851489"/>
                <a:ext cx="138257" cy="36466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4" name="MaizeStage5_Vein_12b"/>
              <p:cNvSpPr/>
              <p:nvPr/>
            </p:nvSpPr>
            <p:spPr>
              <a:xfrm flipH="1" flipV="1">
                <a:off x="10031334" y="677936"/>
                <a:ext cx="144841" cy="1735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5" name="MaizeStage5_Leaf_13"/>
              <p:cNvSpPr/>
              <p:nvPr/>
            </p:nvSpPr>
            <p:spPr>
              <a:xfrm>
                <a:off x="10314432" y="673730"/>
                <a:ext cx="310896" cy="6126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DC34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6" name="MaizeStage5_Vein_13a"/>
              <p:cNvSpPr/>
              <p:nvPr/>
            </p:nvSpPr>
            <p:spPr>
              <a:xfrm flipV="1">
                <a:off x="10314432" y="918789"/>
                <a:ext cx="130576" cy="33393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7" name="MaizeStage5_Vein_13b"/>
              <p:cNvSpPr/>
              <p:nvPr/>
            </p:nvSpPr>
            <p:spPr>
              <a:xfrm flipV="1">
                <a:off x="10445008" y="759501"/>
                <a:ext cx="136794" cy="15928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28" name="MaizeStage5_TasselAxis"/>
              <p:cNvSpPr/>
              <p:nvPr/>
            </p:nvSpPr>
            <p:spPr>
              <a:xfrm flipV="1">
                <a:off x="10314432" y="941832"/>
                <a:ext cx="0" cy="374904"/>
              </a:xfrm>
              <a:prstGeom prst="line">
                <a:avLst/>
              </a:prstGeom>
              <a:noFill/>
              <a:ln w="9906">
                <a:solidFill>
                  <a:srgbClr val="E2AE24"/>
                </a:solidFill>
                <a:prstDash val="solid"/>
              </a:ln>
            </p:spPr>
          </p:sp>
          <p:sp>
            <p:nvSpPr>
              <p:cNvPr id="629" name="MaizeStage5_TasselBranch_1"/>
              <p:cNvSpPr/>
              <p:nvPr/>
            </p:nvSpPr>
            <p:spPr>
              <a:xfrm flipH="1" flipV="1">
                <a:off x="10085832" y="1106424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630" name="MaizeStage5_TasselAnther_1"/>
              <p:cNvSpPr/>
              <p:nvPr/>
            </p:nvSpPr>
            <p:spPr>
              <a:xfrm>
                <a:off x="10072116" y="109362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31" name="MaizeStage5_TasselBranch_2"/>
              <p:cNvSpPr/>
              <p:nvPr/>
            </p:nvSpPr>
            <p:spPr>
              <a:xfrm flipH="1" flipV="1">
                <a:off x="10131552" y="969264"/>
                <a:ext cx="117043" cy="22860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632" name="MaizeStage5_TasselAnther_2"/>
              <p:cNvSpPr/>
              <p:nvPr/>
            </p:nvSpPr>
            <p:spPr>
              <a:xfrm>
                <a:off x="10117836" y="95646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33" name="MaizeStage5_TasselBranch_3"/>
              <p:cNvSpPr/>
              <p:nvPr/>
            </p:nvSpPr>
            <p:spPr>
              <a:xfrm flipH="1" flipV="1">
                <a:off x="10195560" y="905256"/>
                <a:ext cx="76078" cy="292608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634" name="MaizeStage5_TasselAnther_3"/>
              <p:cNvSpPr/>
              <p:nvPr/>
            </p:nvSpPr>
            <p:spPr>
              <a:xfrm>
                <a:off x="10181844" y="892454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35" name="MaizeStage5_TasselBranch_4"/>
              <p:cNvSpPr/>
              <p:nvPr/>
            </p:nvSpPr>
            <p:spPr>
              <a:xfrm flipH="1" flipV="1">
                <a:off x="10250424" y="832104"/>
                <a:ext cx="40965" cy="36576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636" name="MaizeStage5_TasselAnther_4"/>
              <p:cNvSpPr/>
              <p:nvPr/>
            </p:nvSpPr>
            <p:spPr>
              <a:xfrm>
                <a:off x="10236708" y="81930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37" name="MaizeStage5_TasselBranch_5"/>
              <p:cNvSpPr/>
              <p:nvPr/>
            </p:nvSpPr>
            <p:spPr>
              <a:xfrm flipV="1">
                <a:off x="10334183" y="832104"/>
                <a:ext cx="35113" cy="36576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638" name="MaizeStage5_TasselAnther_5"/>
              <p:cNvSpPr/>
              <p:nvPr/>
            </p:nvSpPr>
            <p:spPr>
              <a:xfrm>
                <a:off x="10355580" y="81930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39" name="MaizeStage5_TasselBranch_6"/>
              <p:cNvSpPr/>
              <p:nvPr/>
            </p:nvSpPr>
            <p:spPr>
              <a:xfrm flipV="1">
                <a:off x="10357226" y="896112"/>
                <a:ext cx="76078" cy="301752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640" name="MaizeStage5_TasselAnther_6"/>
              <p:cNvSpPr/>
              <p:nvPr/>
            </p:nvSpPr>
            <p:spPr>
              <a:xfrm>
                <a:off x="10419588" y="88331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41" name="MaizeStage5_TasselBranch_7"/>
              <p:cNvSpPr/>
              <p:nvPr/>
            </p:nvSpPr>
            <p:spPr>
              <a:xfrm flipV="1">
                <a:off x="10380269" y="978408"/>
                <a:ext cx="117043" cy="219456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642" name="MaizeStage5_TasselAnther_7"/>
              <p:cNvSpPr/>
              <p:nvPr/>
            </p:nvSpPr>
            <p:spPr>
              <a:xfrm>
                <a:off x="10483596" y="965606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43" name="MaizeStage5_TasselBranch_8"/>
              <p:cNvSpPr/>
              <p:nvPr/>
            </p:nvSpPr>
            <p:spPr>
              <a:xfrm flipV="1">
                <a:off x="10396728" y="1106424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644" name="MaizeStage5_TasselAnther_8"/>
              <p:cNvSpPr/>
              <p:nvPr/>
            </p:nvSpPr>
            <p:spPr>
              <a:xfrm>
                <a:off x="10529316" y="109362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645" name="MaizeStage5_Ear"/>
              <p:cNvSpPr/>
              <p:nvPr/>
            </p:nvSpPr>
            <p:spPr>
              <a:xfrm rot="540000">
                <a:off x="10351008" y="2852471"/>
                <a:ext cx="109728" cy="292608"/>
              </a:xfrm>
              <a:prstGeom prst="ellipse">
                <a:avLst/>
              </a:prstGeom>
              <a:solidFill>
                <a:srgbClr val="F3C83C"/>
              </a:solidFill>
              <a:ln w="3556">
                <a:solidFill>
                  <a:srgbClr val="D3A825"/>
                </a:solidFill>
                <a:prstDash val="solid"/>
              </a:ln>
            </p:spPr>
          </p:sp>
          <p:sp>
            <p:nvSpPr>
              <p:cNvPr id="646" name="MaizeStage5_Husk"/>
              <p:cNvSpPr/>
              <p:nvPr/>
            </p:nvSpPr>
            <p:spPr>
              <a:xfrm>
                <a:off x="10387584" y="2889047"/>
                <a:ext cx="155448" cy="31089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410" y="960"/>
                    </a:moveTo>
                    <a:cubicBezTo>
                      <a:pt x="105" y="650"/>
                      <a:pt x="40" y="210"/>
                      <a:pt x="335" y="0"/>
                    </a:cubicBezTo>
                    <a:cubicBezTo>
                      <a:pt x="390" y="288"/>
                      <a:pt x="795" y="690"/>
                      <a:pt x="410" y="960"/>
                    </a:cubicBezTo>
                    <a:close/>
                  </a:path>
                </a:pathLst>
              </a:custGeom>
              <a:solidFill>
                <a:srgbClr val="44983B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47" name="MaizeStage5_EarNode"/>
              <p:cNvSpPr/>
              <p:nvPr/>
            </p:nvSpPr>
            <p:spPr>
              <a:xfrm flipV="1">
                <a:off x="10314432" y="3081071"/>
                <a:ext cx="91440" cy="36576"/>
              </a:xfrm>
              <a:prstGeom prst="line">
                <a:avLst/>
              </a:prstGeom>
              <a:noFill/>
              <a:ln w="8636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48" name="MaizeStage5_Soil"/>
              <p:cNvSpPr/>
              <p:nvPr/>
            </p:nvSpPr>
            <p:spPr>
              <a:xfrm>
                <a:off x="10067544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649" name="MaizeStage1"/>
            <p:cNvGrpSpPr/>
            <p:nvPr/>
          </p:nvGrpSpPr>
          <p:grpSpPr>
            <a:xfrm>
              <a:off x="11916" y="1579"/>
              <a:ext cx="428" cy="1041"/>
              <a:chOff x="885624" y="3145536"/>
              <a:chExt cx="659994" cy="1600200"/>
            </a:xfrm>
          </p:grpSpPr>
          <p:sp>
            <p:nvSpPr>
              <p:cNvPr id="650" name="MaizeStage1_Stalk"/>
              <p:cNvSpPr/>
              <p:nvPr/>
            </p:nvSpPr>
            <p:spPr>
              <a:xfrm>
                <a:off x="1150315" y="3456432"/>
                <a:ext cx="76810" cy="12618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1" name="MaizeStage1_StalkHighlight"/>
              <p:cNvSpPr/>
              <p:nvPr/>
            </p:nvSpPr>
            <p:spPr>
              <a:xfrm>
                <a:off x="1180271" y="3502152"/>
                <a:ext cx="0" cy="11795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652" name="MaizeStage1_Leaf_1"/>
              <p:cNvSpPr/>
              <p:nvPr/>
            </p:nvSpPr>
            <p:spPr>
              <a:xfrm flipH="1">
                <a:off x="896761" y="4377233"/>
                <a:ext cx="291959" cy="2103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3" name="MaizeStage1_Vein_1a"/>
              <p:cNvSpPr/>
              <p:nvPr/>
            </p:nvSpPr>
            <p:spPr>
              <a:xfrm flipH="1" flipV="1">
                <a:off x="1045660" y="4452945"/>
                <a:ext cx="143060" cy="4553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4" name="MaizeStage1_Vein_1b"/>
              <p:cNvSpPr/>
              <p:nvPr/>
            </p:nvSpPr>
            <p:spPr>
              <a:xfrm flipH="1">
                <a:off x="937635" y="4452945"/>
                <a:ext cx="108025" cy="3995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5" name="MaizeStage1_Leaf_2"/>
              <p:cNvSpPr/>
              <p:nvPr/>
            </p:nvSpPr>
            <p:spPr>
              <a:xfrm>
                <a:off x="1188720" y="3903048"/>
                <a:ext cx="356898" cy="21057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6" name="MaizeStage1_Vein_2a"/>
              <p:cNvSpPr/>
              <p:nvPr/>
            </p:nvSpPr>
            <p:spPr>
              <a:xfrm flipV="1">
                <a:off x="1188720" y="3978853"/>
                <a:ext cx="174880" cy="4560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7" name="MaizeStage1_Vein_2b"/>
              <p:cNvSpPr/>
              <p:nvPr/>
            </p:nvSpPr>
            <p:spPr>
              <a:xfrm>
                <a:off x="1363600" y="3978853"/>
                <a:ext cx="132052" cy="4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8" name="MaizeStage1_Leaf_3"/>
              <p:cNvSpPr/>
              <p:nvPr/>
            </p:nvSpPr>
            <p:spPr>
              <a:xfrm flipH="1">
                <a:off x="885624" y="3291882"/>
                <a:ext cx="303096" cy="2788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59" name="MaizeStage1_Vein_3a"/>
              <p:cNvSpPr/>
              <p:nvPr/>
            </p:nvSpPr>
            <p:spPr>
              <a:xfrm flipH="1" flipV="1">
                <a:off x="1061420" y="3403421"/>
                <a:ext cx="127300" cy="14701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0" name="MaizeStage1_Vein_3b"/>
              <p:cNvSpPr/>
              <p:nvPr/>
            </p:nvSpPr>
            <p:spPr>
              <a:xfrm flipH="1" flipV="1">
                <a:off x="928057" y="3330921"/>
                <a:ext cx="133362" cy="725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1" name="MaizeStage1_Leaf_4"/>
              <p:cNvSpPr/>
              <p:nvPr/>
            </p:nvSpPr>
            <p:spPr>
              <a:xfrm>
                <a:off x="1188720" y="3145536"/>
                <a:ext cx="219456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2" name="MaizeStage1_Vein_4a"/>
              <p:cNvSpPr/>
              <p:nvPr/>
            </p:nvSpPr>
            <p:spPr>
              <a:xfrm flipV="1">
                <a:off x="1188720" y="3328416"/>
                <a:ext cx="9217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3" name="MaizeStage1_Vein_4b"/>
              <p:cNvSpPr/>
              <p:nvPr/>
            </p:nvSpPr>
            <p:spPr>
              <a:xfrm flipV="1">
                <a:off x="1280892" y="3209544"/>
                <a:ext cx="96561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4" name="MaizeStage1_Leaf_5"/>
              <p:cNvSpPr/>
              <p:nvPr/>
            </p:nvSpPr>
            <p:spPr>
              <a:xfrm flipH="1">
                <a:off x="996696" y="3252338"/>
                <a:ext cx="192024" cy="3840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5" name="MaizeStage1_Vein_5a"/>
              <p:cNvSpPr/>
              <p:nvPr/>
            </p:nvSpPr>
            <p:spPr>
              <a:xfrm flipH="1" flipV="1">
                <a:off x="1108070" y="3405957"/>
                <a:ext cx="80650" cy="20592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6" name="MaizeStage1_Vein_5b"/>
              <p:cNvSpPr/>
              <p:nvPr/>
            </p:nvSpPr>
            <p:spPr>
              <a:xfrm flipH="1" flipV="1">
                <a:off x="1023579" y="3306105"/>
                <a:ext cx="84491" cy="9985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67" name="MaizeStage1_Soil"/>
              <p:cNvSpPr/>
              <p:nvPr/>
            </p:nvSpPr>
            <p:spPr>
              <a:xfrm>
                <a:off x="941832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sp>
          <p:nvSpPr>
            <p:cNvPr id="162" name="Text 160"/>
            <p:cNvSpPr txBox="1"/>
            <p:nvPr/>
          </p:nvSpPr>
          <p:spPr>
            <a:xfrm>
              <a:off x="5439" y="5256"/>
              <a:ext cx="3096" cy="331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1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Hypernetwork</a:t>
              </a:r>
              <a:endParaRPr lang="en-US" sz="910" dirty="0"/>
            </a:p>
          </p:txBody>
        </p:sp>
        <p:sp>
          <p:nvSpPr>
            <p:cNvPr id="163" name="Text 161"/>
            <p:cNvSpPr txBox="1"/>
            <p:nvPr/>
          </p:nvSpPr>
          <p:spPr>
            <a:xfrm>
              <a:off x="5624" y="5616"/>
              <a:ext cx="2750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8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(conditioned on c)</a:t>
              </a:r>
              <a:endParaRPr lang="en-US" sz="780" dirty="0"/>
            </a:p>
          </p:txBody>
        </p:sp>
        <p:sp>
          <p:nvSpPr>
            <p:cNvPr id="164" name="Shape 162"/>
            <p:cNvSpPr/>
            <p:nvPr/>
          </p:nvSpPr>
          <p:spPr>
            <a:xfrm rot="16200000">
              <a:off x="5590" y="6511"/>
              <a:ext cx="2477" cy="1627"/>
            </a:xfrm>
            <a:prstGeom prst="roundRect">
              <a:avLst>
                <a:gd name="adj" fmla="val 5310"/>
              </a:avLst>
            </a:prstGeom>
            <a:solidFill>
              <a:srgbClr val="FFF9FB"/>
            </a:solidFill>
            <a:ln w="11430">
              <a:solidFill>
                <a:srgbClr val="7B61A8"/>
              </a:solidFill>
              <a:prstDash val="solid"/>
            </a:ln>
          </p:spPr>
        </p:sp>
        <p:sp>
          <p:nvSpPr>
            <p:cNvPr id="166" name="Shape 164"/>
            <p:cNvSpPr/>
            <p:nvPr/>
          </p:nvSpPr>
          <p:spPr>
            <a:xfrm rot="16200000">
              <a:off x="6515" y="7344"/>
              <a:ext cx="2880" cy="0"/>
            </a:xfrm>
            <a:prstGeom prst="line">
              <a:avLst/>
            </a:prstGeom>
            <a:noFill/>
            <a:ln w="10160">
              <a:solidFill>
                <a:srgbClr val="111111"/>
              </a:solidFill>
              <a:prstDash val="solid"/>
            </a:ln>
          </p:spPr>
        </p:sp>
        <p:sp>
          <p:nvSpPr>
            <p:cNvPr id="167" name="Shape 165"/>
            <p:cNvSpPr/>
            <p:nvPr/>
          </p:nvSpPr>
          <p:spPr>
            <a:xfrm rot="16200000" flipH="1">
              <a:off x="8085" y="8654"/>
              <a:ext cx="101" cy="360"/>
            </a:xfrm>
            <a:prstGeom prst="line">
              <a:avLst/>
            </a:prstGeom>
            <a:noFill/>
            <a:ln w="10160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168" name="Shape 166"/>
            <p:cNvSpPr/>
            <p:nvPr/>
          </p:nvSpPr>
          <p:spPr>
            <a:xfrm rot="16200000">
              <a:off x="8135" y="7178"/>
              <a:ext cx="0" cy="360"/>
            </a:xfrm>
            <a:prstGeom prst="line">
              <a:avLst/>
            </a:prstGeom>
            <a:noFill/>
            <a:ln w="10160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169" name="Shape 167"/>
            <p:cNvSpPr/>
            <p:nvPr/>
          </p:nvSpPr>
          <p:spPr>
            <a:xfrm rot="16200000">
              <a:off x="8070" y="5659"/>
              <a:ext cx="130" cy="360"/>
            </a:xfrm>
            <a:prstGeom prst="line">
              <a:avLst/>
            </a:prstGeom>
            <a:noFill/>
            <a:ln w="10160">
              <a:solidFill>
                <a:srgbClr val="111111"/>
              </a:solidFill>
              <a:prstDash val="solid"/>
              <a:tailEnd type="triangle"/>
            </a:ln>
          </p:spPr>
        </p:sp>
        <p:sp>
          <p:nvSpPr>
            <p:cNvPr id="170" name="Text 168"/>
            <p:cNvSpPr txBox="1"/>
            <p:nvPr/>
          </p:nvSpPr>
          <p:spPr>
            <a:xfrm>
              <a:off x="8150" y="8589"/>
              <a:ext cx="648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00" b="1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Uᵢ</a:t>
              </a:r>
              <a:endParaRPr lang="en-US" sz="900" dirty="0"/>
            </a:p>
          </p:txBody>
        </p:sp>
        <p:sp>
          <p:nvSpPr>
            <p:cNvPr id="171" name="Text 169"/>
            <p:cNvSpPr txBox="1"/>
            <p:nvPr/>
          </p:nvSpPr>
          <p:spPr>
            <a:xfrm>
              <a:off x="8301" y="8597"/>
              <a:ext cx="950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4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(P × r)</a:t>
              </a:r>
              <a:endParaRPr lang="en-US" sz="740" dirty="0"/>
            </a:p>
          </p:txBody>
        </p:sp>
        <p:grpSp>
          <p:nvGrpSpPr>
            <p:cNvPr id="1083" name="组合 1082"/>
            <p:cNvGrpSpPr/>
            <p:nvPr/>
          </p:nvGrpSpPr>
          <p:grpSpPr>
            <a:xfrm>
              <a:off x="9007" y="8581"/>
              <a:ext cx="1037" cy="490"/>
              <a:chOff x="9007" y="8581"/>
              <a:chExt cx="1037" cy="490"/>
            </a:xfrm>
          </p:grpSpPr>
          <p:sp>
            <p:nvSpPr>
              <p:cNvPr id="172" name="Shape 170"/>
              <p:cNvSpPr/>
              <p:nvPr/>
            </p:nvSpPr>
            <p:spPr>
              <a:xfrm rot="16200000">
                <a:off x="9014" y="8820"/>
                <a:ext cx="245" cy="259"/>
              </a:xfrm>
              <a:prstGeom prst="rect">
                <a:avLst/>
              </a:prstGeom>
              <a:solidFill>
                <a:srgbClr val="62C1ED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73" name="Shape 171"/>
              <p:cNvSpPr/>
              <p:nvPr/>
            </p:nvSpPr>
            <p:spPr>
              <a:xfrm rot="16200000">
                <a:off x="9014" y="8575"/>
                <a:ext cx="245" cy="259"/>
              </a:xfrm>
              <a:prstGeom prst="rect">
                <a:avLst/>
              </a:prstGeom>
              <a:solidFill>
                <a:srgbClr val="B8E9FA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75" name="Shape 173"/>
              <p:cNvSpPr/>
              <p:nvPr/>
            </p:nvSpPr>
            <p:spPr>
              <a:xfrm rot="16200000">
                <a:off x="9273" y="8820"/>
                <a:ext cx="245" cy="259"/>
              </a:xfrm>
              <a:prstGeom prst="rect">
                <a:avLst/>
              </a:prstGeom>
              <a:solidFill>
                <a:srgbClr val="62C1ED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76" name="Shape 174"/>
              <p:cNvSpPr/>
              <p:nvPr/>
            </p:nvSpPr>
            <p:spPr>
              <a:xfrm rot="16200000">
                <a:off x="9273" y="8575"/>
                <a:ext cx="245" cy="259"/>
              </a:xfrm>
              <a:prstGeom prst="rect">
                <a:avLst/>
              </a:prstGeom>
              <a:solidFill>
                <a:srgbClr val="62C1ED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78" name="Shape 176"/>
              <p:cNvSpPr/>
              <p:nvPr/>
            </p:nvSpPr>
            <p:spPr>
              <a:xfrm rot="16200000">
                <a:off x="9532" y="8820"/>
                <a:ext cx="245" cy="259"/>
              </a:xfrm>
              <a:prstGeom prst="rect">
                <a:avLst/>
              </a:prstGeom>
              <a:solidFill>
                <a:srgbClr val="62C1ED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79" name="Shape 177"/>
              <p:cNvSpPr/>
              <p:nvPr/>
            </p:nvSpPr>
            <p:spPr>
              <a:xfrm rot="16200000">
                <a:off x="9532" y="8575"/>
                <a:ext cx="245" cy="259"/>
              </a:xfrm>
              <a:prstGeom prst="rect">
                <a:avLst/>
              </a:prstGeom>
              <a:solidFill>
                <a:srgbClr val="8DD8F5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81" name="Shape 179"/>
              <p:cNvSpPr/>
              <p:nvPr/>
            </p:nvSpPr>
            <p:spPr>
              <a:xfrm rot="16200000">
                <a:off x="9791" y="8820"/>
                <a:ext cx="245" cy="259"/>
              </a:xfrm>
              <a:prstGeom prst="rect">
                <a:avLst/>
              </a:prstGeom>
              <a:solidFill>
                <a:srgbClr val="62C1ED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82" name="Shape 180"/>
              <p:cNvSpPr/>
              <p:nvPr/>
            </p:nvSpPr>
            <p:spPr>
              <a:xfrm rot="16200000">
                <a:off x="9791" y="8575"/>
                <a:ext cx="245" cy="259"/>
              </a:xfrm>
              <a:prstGeom prst="rect">
                <a:avLst/>
              </a:prstGeom>
              <a:solidFill>
                <a:srgbClr val="B8E9FA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84" name="Shape 182"/>
              <p:cNvSpPr/>
              <p:nvPr/>
            </p:nvSpPr>
            <p:spPr>
              <a:xfrm rot="16200000">
                <a:off x="9281" y="8308"/>
                <a:ext cx="491" cy="103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6985">
                <a:solidFill>
                  <a:srgbClr val="2D82C7"/>
                </a:solidFill>
                <a:prstDash val="solid"/>
              </a:ln>
            </p:spPr>
          </p:sp>
        </p:grpSp>
        <p:sp>
          <p:nvSpPr>
            <p:cNvPr id="185" name="Text 183"/>
            <p:cNvSpPr txBox="1"/>
            <p:nvPr/>
          </p:nvSpPr>
          <p:spPr>
            <a:xfrm>
              <a:off x="8150" y="7106"/>
              <a:ext cx="648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00" b="1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Vᵢ</a:t>
              </a:r>
              <a:endParaRPr lang="en-US" sz="900" dirty="0"/>
            </a:p>
          </p:txBody>
        </p:sp>
        <p:sp>
          <p:nvSpPr>
            <p:cNvPr id="186" name="Text 184"/>
            <p:cNvSpPr txBox="1"/>
            <p:nvPr/>
          </p:nvSpPr>
          <p:spPr>
            <a:xfrm>
              <a:off x="8294" y="7121"/>
              <a:ext cx="965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4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(r × P)</a:t>
              </a:r>
              <a:endParaRPr lang="en-US" sz="740" dirty="0"/>
            </a:p>
          </p:txBody>
        </p:sp>
        <p:grpSp>
          <p:nvGrpSpPr>
            <p:cNvPr id="1082" name="组合 1081"/>
            <p:cNvGrpSpPr/>
            <p:nvPr/>
          </p:nvGrpSpPr>
          <p:grpSpPr>
            <a:xfrm>
              <a:off x="9362" y="6761"/>
              <a:ext cx="489" cy="1036"/>
              <a:chOff x="9409" y="6854"/>
              <a:chExt cx="489" cy="1036"/>
            </a:xfrm>
          </p:grpSpPr>
          <p:grpSp>
            <p:nvGrpSpPr>
              <p:cNvPr id="1081" name="组合 1080"/>
              <p:cNvGrpSpPr/>
              <p:nvPr/>
            </p:nvGrpSpPr>
            <p:grpSpPr>
              <a:xfrm rot="5400000">
                <a:off x="9136" y="7128"/>
                <a:ext cx="1035" cy="488"/>
                <a:chOff x="9007" y="7128"/>
                <a:chExt cx="1035" cy="488"/>
              </a:xfrm>
            </p:grpSpPr>
            <p:sp>
              <p:nvSpPr>
                <p:cNvPr id="187" name="Shape 185"/>
                <p:cNvSpPr/>
                <p:nvPr/>
              </p:nvSpPr>
              <p:spPr>
                <a:xfrm rot="16200000">
                  <a:off x="9014" y="7365"/>
                  <a:ext cx="245" cy="259"/>
                </a:xfrm>
                <a:prstGeom prst="rect">
                  <a:avLst/>
                </a:prstGeom>
                <a:solidFill>
                  <a:srgbClr val="6DCE88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188" name="Shape 186"/>
                <p:cNvSpPr/>
                <p:nvPr/>
              </p:nvSpPr>
              <p:spPr>
                <a:xfrm rot="16200000">
                  <a:off x="9014" y="7121"/>
                  <a:ext cx="245" cy="259"/>
                </a:xfrm>
                <a:prstGeom prst="rect">
                  <a:avLst/>
                </a:prstGeom>
                <a:solidFill>
                  <a:srgbClr val="C4F0CF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190" name="Shape 188"/>
                <p:cNvSpPr/>
                <p:nvPr/>
              </p:nvSpPr>
              <p:spPr>
                <a:xfrm rot="16200000">
                  <a:off x="9273" y="7365"/>
                  <a:ext cx="245" cy="259"/>
                </a:xfrm>
                <a:prstGeom prst="rect">
                  <a:avLst/>
                </a:prstGeom>
                <a:solidFill>
                  <a:srgbClr val="6DCE88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191" name="Shape 189"/>
                <p:cNvSpPr/>
                <p:nvPr/>
              </p:nvSpPr>
              <p:spPr>
                <a:xfrm rot="16200000">
                  <a:off x="9273" y="7121"/>
                  <a:ext cx="245" cy="259"/>
                </a:xfrm>
                <a:prstGeom prst="rect">
                  <a:avLst/>
                </a:prstGeom>
                <a:solidFill>
                  <a:srgbClr val="6DCE88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193" name="Shape 191"/>
                <p:cNvSpPr/>
                <p:nvPr/>
              </p:nvSpPr>
              <p:spPr>
                <a:xfrm rot="16200000">
                  <a:off x="9532" y="7365"/>
                  <a:ext cx="245" cy="259"/>
                </a:xfrm>
                <a:prstGeom prst="rect">
                  <a:avLst/>
                </a:prstGeom>
                <a:solidFill>
                  <a:srgbClr val="6DCE88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194" name="Shape 192"/>
                <p:cNvSpPr/>
                <p:nvPr/>
              </p:nvSpPr>
              <p:spPr>
                <a:xfrm rot="16200000">
                  <a:off x="9532" y="7121"/>
                  <a:ext cx="245" cy="259"/>
                </a:xfrm>
                <a:prstGeom prst="rect">
                  <a:avLst/>
                </a:prstGeom>
                <a:solidFill>
                  <a:srgbClr val="9CE0AE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196" name="Shape 194"/>
                <p:cNvSpPr/>
                <p:nvPr/>
              </p:nvSpPr>
              <p:spPr>
                <a:xfrm rot="16200000">
                  <a:off x="9791" y="7365"/>
                  <a:ext cx="245" cy="259"/>
                </a:xfrm>
                <a:prstGeom prst="rect">
                  <a:avLst/>
                </a:prstGeom>
                <a:solidFill>
                  <a:srgbClr val="6DCE88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197" name="Shape 195"/>
                <p:cNvSpPr/>
                <p:nvPr/>
              </p:nvSpPr>
              <p:spPr>
                <a:xfrm rot="16200000">
                  <a:off x="9791" y="7121"/>
                  <a:ext cx="245" cy="259"/>
                </a:xfrm>
                <a:prstGeom prst="rect">
                  <a:avLst/>
                </a:prstGeom>
                <a:solidFill>
                  <a:srgbClr val="C4F0CF"/>
                </a:solidFill>
                <a:ln w="4445">
                  <a:solidFill>
                    <a:srgbClr val="FFFFFF"/>
                  </a:solidFill>
                  <a:prstDash val="solid"/>
                </a:ln>
              </p:spPr>
            </p:sp>
          </p:grpSp>
          <p:sp>
            <p:nvSpPr>
              <p:cNvPr id="199" name="Shape 197"/>
              <p:cNvSpPr/>
              <p:nvPr/>
            </p:nvSpPr>
            <p:spPr>
              <a:xfrm>
                <a:off x="9410" y="6854"/>
                <a:ext cx="489" cy="103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6985">
                <a:solidFill>
                  <a:srgbClr val="1C8B3D"/>
                </a:solidFill>
                <a:prstDash val="solid"/>
              </a:ln>
            </p:spPr>
          </p:sp>
        </p:grpSp>
        <p:sp>
          <p:nvSpPr>
            <p:cNvPr id="200" name="Text 198"/>
            <p:cNvSpPr txBox="1"/>
            <p:nvPr/>
          </p:nvSpPr>
          <p:spPr>
            <a:xfrm>
              <a:off x="8214" y="5587"/>
              <a:ext cx="518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00" b="1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  <a:sym typeface="+mn-ea"/>
                </a:rPr>
                <a:t>bᵢ</a:t>
              </a:r>
              <a:endParaRPr lang="en-US" sz="900" dirty="0"/>
            </a:p>
          </p:txBody>
        </p:sp>
        <p:sp>
          <p:nvSpPr>
            <p:cNvPr id="201" name="Text 199"/>
            <p:cNvSpPr txBox="1"/>
            <p:nvPr/>
          </p:nvSpPr>
          <p:spPr>
            <a:xfrm>
              <a:off x="8466" y="5609"/>
              <a:ext cx="619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4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(P)</a:t>
              </a:r>
              <a:endParaRPr lang="en-US" sz="740" dirty="0"/>
            </a:p>
          </p:txBody>
        </p:sp>
        <p:grpSp>
          <p:nvGrpSpPr>
            <p:cNvPr id="1084" name="组合 1083"/>
            <p:cNvGrpSpPr/>
            <p:nvPr/>
          </p:nvGrpSpPr>
          <p:grpSpPr>
            <a:xfrm rot="5400000">
              <a:off x="8992" y="5645"/>
              <a:ext cx="1036" cy="258"/>
              <a:chOff x="8992" y="5645"/>
              <a:chExt cx="1036" cy="258"/>
            </a:xfrm>
          </p:grpSpPr>
          <p:sp>
            <p:nvSpPr>
              <p:cNvPr id="202" name="Shape 200"/>
              <p:cNvSpPr/>
              <p:nvPr/>
            </p:nvSpPr>
            <p:spPr>
              <a:xfrm rot="16200000">
                <a:off x="8992" y="5645"/>
                <a:ext cx="259" cy="259"/>
              </a:xfrm>
              <a:prstGeom prst="rect">
                <a:avLst/>
              </a:prstGeom>
              <a:solidFill>
                <a:srgbClr val="F39BB2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203" name="Shape 201"/>
              <p:cNvSpPr/>
              <p:nvPr/>
            </p:nvSpPr>
            <p:spPr>
              <a:xfrm rot="16200000">
                <a:off x="9251" y="5645"/>
                <a:ext cx="259" cy="259"/>
              </a:xfrm>
              <a:prstGeom prst="rect">
                <a:avLst/>
              </a:prstGeom>
              <a:solidFill>
                <a:srgbClr val="F39BB2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204" name="Shape 202"/>
              <p:cNvSpPr/>
              <p:nvPr/>
            </p:nvSpPr>
            <p:spPr>
              <a:xfrm rot="16200000">
                <a:off x="9510" y="5645"/>
                <a:ext cx="259" cy="259"/>
              </a:xfrm>
              <a:prstGeom prst="rect">
                <a:avLst/>
              </a:prstGeom>
              <a:solidFill>
                <a:srgbClr val="F39BB2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205" name="Shape 203"/>
              <p:cNvSpPr/>
              <p:nvPr/>
            </p:nvSpPr>
            <p:spPr>
              <a:xfrm rot="16200000">
                <a:off x="9770" y="5645"/>
                <a:ext cx="259" cy="259"/>
              </a:xfrm>
              <a:prstGeom prst="rect">
                <a:avLst/>
              </a:prstGeom>
              <a:solidFill>
                <a:srgbClr val="F39BB2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206" name="Shape 204"/>
              <p:cNvSpPr/>
              <p:nvPr/>
            </p:nvSpPr>
            <p:spPr>
              <a:xfrm rot="16200000">
                <a:off x="9381" y="5256"/>
                <a:ext cx="259" cy="103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6985">
                <a:solidFill>
                  <a:srgbClr val="D82C5B"/>
                </a:solidFill>
                <a:prstDash val="solid"/>
              </a:ln>
            </p:spPr>
          </p:sp>
        </p:grpSp>
        <p:pic>
          <p:nvPicPr>
            <p:cNvPr id="668" name="图片 667" descr="神经网络1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044" y="6489"/>
              <a:ext cx="1699" cy="1699"/>
            </a:xfrm>
            <a:prstGeom prst="rect">
              <a:avLst/>
            </a:prstGeom>
          </p:spPr>
        </p:pic>
        <p:grpSp>
          <p:nvGrpSpPr>
            <p:cNvPr id="670" name="MaizeStage1"/>
            <p:cNvGrpSpPr/>
            <p:nvPr/>
          </p:nvGrpSpPr>
          <p:grpSpPr>
            <a:xfrm>
              <a:off x="978" y="8592"/>
              <a:ext cx="316" cy="770"/>
              <a:chOff x="885624" y="3145536"/>
              <a:chExt cx="659994" cy="1600200"/>
            </a:xfrm>
          </p:grpSpPr>
          <p:sp>
            <p:nvSpPr>
              <p:cNvPr id="671" name="MaizeStage1_Stalk"/>
              <p:cNvSpPr/>
              <p:nvPr/>
            </p:nvSpPr>
            <p:spPr>
              <a:xfrm>
                <a:off x="1150315" y="3456432"/>
                <a:ext cx="76810" cy="12618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72" name="MaizeStage1_StalkHighlight"/>
              <p:cNvSpPr/>
              <p:nvPr/>
            </p:nvSpPr>
            <p:spPr>
              <a:xfrm>
                <a:off x="1180271" y="3502152"/>
                <a:ext cx="0" cy="11795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673" name="MaizeStage1_Leaf_1"/>
              <p:cNvSpPr/>
              <p:nvPr/>
            </p:nvSpPr>
            <p:spPr>
              <a:xfrm flipH="1">
                <a:off x="896761" y="4377233"/>
                <a:ext cx="291959" cy="2103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74" name="MaizeStage1_Vein_1a"/>
              <p:cNvSpPr/>
              <p:nvPr/>
            </p:nvSpPr>
            <p:spPr>
              <a:xfrm flipH="1" flipV="1">
                <a:off x="1045660" y="4452945"/>
                <a:ext cx="143060" cy="4553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75" name="MaizeStage1_Vein_1b"/>
              <p:cNvSpPr/>
              <p:nvPr/>
            </p:nvSpPr>
            <p:spPr>
              <a:xfrm flipH="1">
                <a:off x="937635" y="4452945"/>
                <a:ext cx="108025" cy="3995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76" name="MaizeStage1_Leaf_2"/>
              <p:cNvSpPr/>
              <p:nvPr/>
            </p:nvSpPr>
            <p:spPr>
              <a:xfrm>
                <a:off x="1188720" y="3903048"/>
                <a:ext cx="356898" cy="21057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77" name="MaizeStage1_Vein_2a"/>
              <p:cNvSpPr/>
              <p:nvPr/>
            </p:nvSpPr>
            <p:spPr>
              <a:xfrm flipV="1">
                <a:off x="1188720" y="3978853"/>
                <a:ext cx="174880" cy="4560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78" name="MaizeStage1_Vein_2b"/>
              <p:cNvSpPr/>
              <p:nvPr/>
            </p:nvSpPr>
            <p:spPr>
              <a:xfrm>
                <a:off x="1363600" y="3978853"/>
                <a:ext cx="132052" cy="4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79" name="MaizeStage1_Leaf_3"/>
              <p:cNvSpPr/>
              <p:nvPr/>
            </p:nvSpPr>
            <p:spPr>
              <a:xfrm flipH="1">
                <a:off x="885624" y="3291882"/>
                <a:ext cx="303096" cy="2788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0" name="MaizeStage1_Vein_3a"/>
              <p:cNvSpPr/>
              <p:nvPr/>
            </p:nvSpPr>
            <p:spPr>
              <a:xfrm flipH="1" flipV="1">
                <a:off x="1061420" y="3403421"/>
                <a:ext cx="127300" cy="14701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1" name="MaizeStage1_Vein_3b"/>
              <p:cNvSpPr/>
              <p:nvPr/>
            </p:nvSpPr>
            <p:spPr>
              <a:xfrm flipH="1" flipV="1">
                <a:off x="928057" y="3330921"/>
                <a:ext cx="133362" cy="725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2" name="MaizeStage1_Leaf_4"/>
              <p:cNvSpPr/>
              <p:nvPr/>
            </p:nvSpPr>
            <p:spPr>
              <a:xfrm>
                <a:off x="1188720" y="3145536"/>
                <a:ext cx="219456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3" name="MaizeStage1_Vein_4a"/>
              <p:cNvSpPr/>
              <p:nvPr/>
            </p:nvSpPr>
            <p:spPr>
              <a:xfrm flipV="1">
                <a:off x="1188720" y="3328416"/>
                <a:ext cx="9217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4" name="MaizeStage1_Vein_4b"/>
              <p:cNvSpPr/>
              <p:nvPr/>
            </p:nvSpPr>
            <p:spPr>
              <a:xfrm flipV="1">
                <a:off x="1280892" y="3209544"/>
                <a:ext cx="96561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5" name="MaizeStage1_Leaf_5"/>
              <p:cNvSpPr/>
              <p:nvPr/>
            </p:nvSpPr>
            <p:spPr>
              <a:xfrm flipH="1">
                <a:off x="996696" y="3252338"/>
                <a:ext cx="192024" cy="3840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6" name="MaizeStage1_Vein_5a"/>
              <p:cNvSpPr/>
              <p:nvPr/>
            </p:nvSpPr>
            <p:spPr>
              <a:xfrm flipH="1" flipV="1">
                <a:off x="1108070" y="3405957"/>
                <a:ext cx="80650" cy="20592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7" name="MaizeStage1_Vein_5b"/>
              <p:cNvSpPr/>
              <p:nvPr/>
            </p:nvSpPr>
            <p:spPr>
              <a:xfrm flipH="1" flipV="1">
                <a:off x="1023579" y="3306105"/>
                <a:ext cx="84491" cy="9985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88" name="MaizeStage1_Soil"/>
              <p:cNvSpPr/>
              <p:nvPr/>
            </p:nvSpPr>
            <p:spPr>
              <a:xfrm>
                <a:off x="941832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689" name="MaizeStage1"/>
            <p:cNvGrpSpPr/>
            <p:nvPr/>
          </p:nvGrpSpPr>
          <p:grpSpPr>
            <a:xfrm>
              <a:off x="1817" y="8593"/>
              <a:ext cx="316" cy="770"/>
              <a:chOff x="885624" y="3145536"/>
              <a:chExt cx="659994" cy="1600200"/>
            </a:xfrm>
          </p:grpSpPr>
          <p:sp>
            <p:nvSpPr>
              <p:cNvPr id="690" name="MaizeStage1_Stalk"/>
              <p:cNvSpPr/>
              <p:nvPr/>
            </p:nvSpPr>
            <p:spPr>
              <a:xfrm>
                <a:off x="1150315" y="3456432"/>
                <a:ext cx="76810" cy="12618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1" name="MaizeStage1_StalkHighlight"/>
              <p:cNvSpPr/>
              <p:nvPr/>
            </p:nvSpPr>
            <p:spPr>
              <a:xfrm>
                <a:off x="1180271" y="3502152"/>
                <a:ext cx="0" cy="11795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692" name="MaizeStage1_Leaf_1"/>
              <p:cNvSpPr/>
              <p:nvPr/>
            </p:nvSpPr>
            <p:spPr>
              <a:xfrm flipH="1">
                <a:off x="896761" y="4377233"/>
                <a:ext cx="291959" cy="2103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3" name="MaizeStage1_Vein_1a"/>
              <p:cNvSpPr/>
              <p:nvPr/>
            </p:nvSpPr>
            <p:spPr>
              <a:xfrm flipH="1" flipV="1">
                <a:off x="1045660" y="4452945"/>
                <a:ext cx="143060" cy="4553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4" name="MaizeStage1_Vein_1b"/>
              <p:cNvSpPr/>
              <p:nvPr/>
            </p:nvSpPr>
            <p:spPr>
              <a:xfrm flipH="1">
                <a:off x="937635" y="4452945"/>
                <a:ext cx="108025" cy="3995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5" name="MaizeStage1_Leaf_2"/>
              <p:cNvSpPr/>
              <p:nvPr/>
            </p:nvSpPr>
            <p:spPr>
              <a:xfrm>
                <a:off x="1188720" y="3903048"/>
                <a:ext cx="356898" cy="21057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6" name="MaizeStage1_Vein_2a"/>
              <p:cNvSpPr/>
              <p:nvPr/>
            </p:nvSpPr>
            <p:spPr>
              <a:xfrm flipV="1">
                <a:off x="1188720" y="3978853"/>
                <a:ext cx="174880" cy="4560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7" name="MaizeStage1_Vein_2b"/>
              <p:cNvSpPr/>
              <p:nvPr/>
            </p:nvSpPr>
            <p:spPr>
              <a:xfrm>
                <a:off x="1363600" y="3978853"/>
                <a:ext cx="132052" cy="4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8" name="MaizeStage1_Leaf_3"/>
              <p:cNvSpPr/>
              <p:nvPr/>
            </p:nvSpPr>
            <p:spPr>
              <a:xfrm flipH="1">
                <a:off x="885624" y="3291882"/>
                <a:ext cx="303096" cy="2788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699" name="MaizeStage1_Vein_3a"/>
              <p:cNvSpPr/>
              <p:nvPr/>
            </p:nvSpPr>
            <p:spPr>
              <a:xfrm flipH="1" flipV="1">
                <a:off x="1061420" y="3403421"/>
                <a:ext cx="127300" cy="14701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0" name="MaizeStage1_Vein_3b"/>
              <p:cNvSpPr/>
              <p:nvPr/>
            </p:nvSpPr>
            <p:spPr>
              <a:xfrm flipH="1" flipV="1">
                <a:off x="928057" y="3330921"/>
                <a:ext cx="133362" cy="725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1" name="MaizeStage1_Leaf_4"/>
              <p:cNvSpPr/>
              <p:nvPr/>
            </p:nvSpPr>
            <p:spPr>
              <a:xfrm>
                <a:off x="1188720" y="3145536"/>
                <a:ext cx="219456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2" name="MaizeStage1_Vein_4a"/>
              <p:cNvSpPr/>
              <p:nvPr/>
            </p:nvSpPr>
            <p:spPr>
              <a:xfrm flipV="1">
                <a:off x="1188720" y="3328416"/>
                <a:ext cx="9217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3" name="MaizeStage1_Vein_4b"/>
              <p:cNvSpPr/>
              <p:nvPr/>
            </p:nvSpPr>
            <p:spPr>
              <a:xfrm flipV="1">
                <a:off x="1280892" y="3209544"/>
                <a:ext cx="96561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4" name="MaizeStage1_Leaf_5"/>
              <p:cNvSpPr/>
              <p:nvPr/>
            </p:nvSpPr>
            <p:spPr>
              <a:xfrm flipH="1">
                <a:off x="996696" y="3252338"/>
                <a:ext cx="192024" cy="3840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5" name="MaizeStage1_Vein_5a"/>
              <p:cNvSpPr/>
              <p:nvPr/>
            </p:nvSpPr>
            <p:spPr>
              <a:xfrm flipH="1" flipV="1">
                <a:off x="1108070" y="3405957"/>
                <a:ext cx="80650" cy="20592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6" name="MaizeStage1_Vein_5b"/>
              <p:cNvSpPr/>
              <p:nvPr/>
            </p:nvSpPr>
            <p:spPr>
              <a:xfrm flipH="1" flipV="1">
                <a:off x="1023579" y="3306105"/>
                <a:ext cx="84491" cy="9985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07" name="MaizeStage1_Soil"/>
              <p:cNvSpPr/>
              <p:nvPr/>
            </p:nvSpPr>
            <p:spPr>
              <a:xfrm>
                <a:off x="941832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708" name="MaizeStage1"/>
            <p:cNvGrpSpPr/>
            <p:nvPr/>
          </p:nvGrpSpPr>
          <p:grpSpPr>
            <a:xfrm>
              <a:off x="2606" y="8593"/>
              <a:ext cx="316" cy="770"/>
              <a:chOff x="885624" y="3145536"/>
              <a:chExt cx="659994" cy="1600200"/>
            </a:xfrm>
          </p:grpSpPr>
          <p:sp>
            <p:nvSpPr>
              <p:cNvPr id="709" name="MaizeStage1_Stalk"/>
              <p:cNvSpPr/>
              <p:nvPr/>
            </p:nvSpPr>
            <p:spPr>
              <a:xfrm>
                <a:off x="1150315" y="3456432"/>
                <a:ext cx="76810" cy="12618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0" name="MaizeStage1_StalkHighlight"/>
              <p:cNvSpPr/>
              <p:nvPr/>
            </p:nvSpPr>
            <p:spPr>
              <a:xfrm>
                <a:off x="1180271" y="3502152"/>
                <a:ext cx="0" cy="11795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711" name="MaizeStage1_Leaf_1"/>
              <p:cNvSpPr/>
              <p:nvPr/>
            </p:nvSpPr>
            <p:spPr>
              <a:xfrm flipH="1">
                <a:off x="896761" y="4377233"/>
                <a:ext cx="291959" cy="2103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2" name="MaizeStage1_Vein_1a"/>
              <p:cNvSpPr/>
              <p:nvPr/>
            </p:nvSpPr>
            <p:spPr>
              <a:xfrm flipH="1" flipV="1">
                <a:off x="1045660" y="4452945"/>
                <a:ext cx="143060" cy="4553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3" name="MaizeStage1_Vein_1b"/>
              <p:cNvSpPr/>
              <p:nvPr/>
            </p:nvSpPr>
            <p:spPr>
              <a:xfrm flipH="1">
                <a:off x="937635" y="4452945"/>
                <a:ext cx="108025" cy="3995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4" name="MaizeStage1_Leaf_2"/>
              <p:cNvSpPr/>
              <p:nvPr/>
            </p:nvSpPr>
            <p:spPr>
              <a:xfrm>
                <a:off x="1188720" y="3903048"/>
                <a:ext cx="356898" cy="21057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5" name="MaizeStage1_Vein_2a"/>
              <p:cNvSpPr/>
              <p:nvPr/>
            </p:nvSpPr>
            <p:spPr>
              <a:xfrm flipV="1">
                <a:off x="1188720" y="3978853"/>
                <a:ext cx="174880" cy="4560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6" name="MaizeStage1_Vein_2b"/>
              <p:cNvSpPr/>
              <p:nvPr/>
            </p:nvSpPr>
            <p:spPr>
              <a:xfrm>
                <a:off x="1363600" y="3978853"/>
                <a:ext cx="132052" cy="4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7" name="MaizeStage1_Leaf_3"/>
              <p:cNvSpPr/>
              <p:nvPr/>
            </p:nvSpPr>
            <p:spPr>
              <a:xfrm flipH="1">
                <a:off x="885624" y="3291882"/>
                <a:ext cx="303096" cy="2788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8" name="MaizeStage1_Vein_3a"/>
              <p:cNvSpPr/>
              <p:nvPr/>
            </p:nvSpPr>
            <p:spPr>
              <a:xfrm flipH="1" flipV="1">
                <a:off x="1061420" y="3403421"/>
                <a:ext cx="127300" cy="14701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19" name="MaizeStage1_Vein_3b"/>
              <p:cNvSpPr/>
              <p:nvPr/>
            </p:nvSpPr>
            <p:spPr>
              <a:xfrm flipH="1" flipV="1">
                <a:off x="928057" y="3330921"/>
                <a:ext cx="133362" cy="725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20" name="MaizeStage1_Leaf_4"/>
              <p:cNvSpPr/>
              <p:nvPr/>
            </p:nvSpPr>
            <p:spPr>
              <a:xfrm>
                <a:off x="1188720" y="3145536"/>
                <a:ext cx="219456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21" name="MaizeStage1_Vein_4a"/>
              <p:cNvSpPr/>
              <p:nvPr/>
            </p:nvSpPr>
            <p:spPr>
              <a:xfrm flipV="1">
                <a:off x="1188720" y="3328416"/>
                <a:ext cx="9217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22" name="MaizeStage1_Vein_4b"/>
              <p:cNvSpPr/>
              <p:nvPr/>
            </p:nvSpPr>
            <p:spPr>
              <a:xfrm flipV="1">
                <a:off x="1280892" y="3209544"/>
                <a:ext cx="96561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23" name="MaizeStage1_Leaf_5"/>
              <p:cNvSpPr/>
              <p:nvPr/>
            </p:nvSpPr>
            <p:spPr>
              <a:xfrm flipH="1">
                <a:off x="996696" y="3252338"/>
                <a:ext cx="192024" cy="3840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24" name="MaizeStage1_Vein_5a"/>
              <p:cNvSpPr/>
              <p:nvPr/>
            </p:nvSpPr>
            <p:spPr>
              <a:xfrm flipH="1" flipV="1">
                <a:off x="1108070" y="3405957"/>
                <a:ext cx="80650" cy="20592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25" name="MaizeStage1_Vein_5b"/>
              <p:cNvSpPr/>
              <p:nvPr/>
            </p:nvSpPr>
            <p:spPr>
              <a:xfrm flipH="1" flipV="1">
                <a:off x="1023579" y="3306105"/>
                <a:ext cx="84491" cy="9985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26" name="MaizeStage1_Soil"/>
              <p:cNvSpPr/>
              <p:nvPr/>
            </p:nvSpPr>
            <p:spPr>
              <a:xfrm>
                <a:off x="941832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sp>
          <p:nvSpPr>
            <p:cNvPr id="727" name="Text 75"/>
            <p:cNvSpPr txBox="1"/>
            <p:nvPr/>
          </p:nvSpPr>
          <p:spPr>
            <a:xfrm>
              <a:off x="2506" y="1573"/>
              <a:ext cx="2117" cy="317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p>
              <a:pPr marL="0" indent="0" algn="ctr">
                <a:buNone/>
              </a:pPr>
              <a:r>
                <a:rPr lang="en-US" sz="840" b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G → y</a:t>
              </a:r>
              <a:r>
                <a:rPr lang="en-US" sz="840" b="1" baseline="-25000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</a:t>
              </a:r>
              <a:endParaRPr lang="en-US" sz="840" b="1" baseline="-25000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p:grpSp>
          <p:nvGrpSpPr>
            <p:cNvPr id="728" name="MaizeStage1"/>
            <p:cNvGrpSpPr/>
            <p:nvPr/>
          </p:nvGrpSpPr>
          <p:grpSpPr>
            <a:xfrm>
              <a:off x="14648" y="2057"/>
              <a:ext cx="227" cy="551"/>
              <a:chOff x="885624" y="3145536"/>
              <a:chExt cx="659994" cy="1600200"/>
            </a:xfrm>
          </p:grpSpPr>
          <p:sp>
            <p:nvSpPr>
              <p:cNvPr id="729" name="MaizeStage1_Stalk"/>
              <p:cNvSpPr/>
              <p:nvPr/>
            </p:nvSpPr>
            <p:spPr>
              <a:xfrm>
                <a:off x="1150315" y="3456432"/>
                <a:ext cx="76810" cy="12618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0" name="MaizeStage1_StalkHighlight"/>
              <p:cNvSpPr/>
              <p:nvPr/>
            </p:nvSpPr>
            <p:spPr>
              <a:xfrm>
                <a:off x="1180271" y="3502152"/>
                <a:ext cx="0" cy="11795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731" name="MaizeStage1_Leaf_1"/>
              <p:cNvSpPr/>
              <p:nvPr/>
            </p:nvSpPr>
            <p:spPr>
              <a:xfrm flipH="1">
                <a:off x="896761" y="4377233"/>
                <a:ext cx="291959" cy="2103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2" name="MaizeStage1_Vein_1a"/>
              <p:cNvSpPr/>
              <p:nvPr/>
            </p:nvSpPr>
            <p:spPr>
              <a:xfrm flipH="1" flipV="1">
                <a:off x="1045660" y="4452945"/>
                <a:ext cx="143060" cy="4553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3" name="MaizeStage1_Vein_1b"/>
              <p:cNvSpPr/>
              <p:nvPr/>
            </p:nvSpPr>
            <p:spPr>
              <a:xfrm flipH="1">
                <a:off x="937635" y="4452945"/>
                <a:ext cx="108025" cy="3995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4" name="MaizeStage1_Leaf_2"/>
              <p:cNvSpPr/>
              <p:nvPr/>
            </p:nvSpPr>
            <p:spPr>
              <a:xfrm>
                <a:off x="1188720" y="3903048"/>
                <a:ext cx="356898" cy="21057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5" name="MaizeStage1_Vein_2a"/>
              <p:cNvSpPr/>
              <p:nvPr/>
            </p:nvSpPr>
            <p:spPr>
              <a:xfrm flipV="1">
                <a:off x="1188720" y="3978853"/>
                <a:ext cx="174880" cy="4560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6" name="MaizeStage1_Vein_2b"/>
              <p:cNvSpPr/>
              <p:nvPr/>
            </p:nvSpPr>
            <p:spPr>
              <a:xfrm>
                <a:off x="1363600" y="3978853"/>
                <a:ext cx="132052" cy="4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7" name="MaizeStage1_Leaf_3"/>
              <p:cNvSpPr/>
              <p:nvPr/>
            </p:nvSpPr>
            <p:spPr>
              <a:xfrm flipH="1">
                <a:off x="885624" y="3291882"/>
                <a:ext cx="303096" cy="2788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8" name="MaizeStage1_Vein_3a"/>
              <p:cNvSpPr/>
              <p:nvPr/>
            </p:nvSpPr>
            <p:spPr>
              <a:xfrm flipH="1" flipV="1">
                <a:off x="1061420" y="3403421"/>
                <a:ext cx="127300" cy="14701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39" name="MaizeStage1_Vein_3b"/>
              <p:cNvSpPr/>
              <p:nvPr/>
            </p:nvSpPr>
            <p:spPr>
              <a:xfrm flipH="1" flipV="1">
                <a:off x="928057" y="3330921"/>
                <a:ext cx="133362" cy="725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0" name="MaizeStage1_Leaf_4"/>
              <p:cNvSpPr/>
              <p:nvPr/>
            </p:nvSpPr>
            <p:spPr>
              <a:xfrm>
                <a:off x="1188720" y="3145536"/>
                <a:ext cx="219456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1" name="MaizeStage1_Vein_4a"/>
              <p:cNvSpPr/>
              <p:nvPr/>
            </p:nvSpPr>
            <p:spPr>
              <a:xfrm flipV="1">
                <a:off x="1188720" y="3328416"/>
                <a:ext cx="9217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2" name="MaizeStage1_Vein_4b"/>
              <p:cNvSpPr/>
              <p:nvPr/>
            </p:nvSpPr>
            <p:spPr>
              <a:xfrm flipV="1">
                <a:off x="1280892" y="3209544"/>
                <a:ext cx="96561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3" name="MaizeStage1_Leaf_5"/>
              <p:cNvSpPr/>
              <p:nvPr/>
            </p:nvSpPr>
            <p:spPr>
              <a:xfrm flipH="1">
                <a:off x="996696" y="3252338"/>
                <a:ext cx="192024" cy="3840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4" name="MaizeStage1_Vein_5a"/>
              <p:cNvSpPr/>
              <p:nvPr/>
            </p:nvSpPr>
            <p:spPr>
              <a:xfrm flipH="1" flipV="1">
                <a:off x="1108070" y="3405957"/>
                <a:ext cx="80650" cy="20592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5" name="MaizeStage1_Vein_5b"/>
              <p:cNvSpPr/>
              <p:nvPr/>
            </p:nvSpPr>
            <p:spPr>
              <a:xfrm flipH="1" flipV="1">
                <a:off x="1023579" y="3306105"/>
                <a:ext cx="84491" cy="9985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6" name="MaizeStage1_Soil"/>
              <p:cNvSpPr/>
              <p:nvPr/>
            </p:nvSpPr>
            <p:spPr>
              <a:xfrm>
                <a:off x="941832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747" name="MaizeStage2"/>
            <p:cNvGrpSpPr/>
            <p:nvPr/>
          </p:nvGrpSpPr>
          <p:grpSpPr>
            <a:xfrm>
              <a:off x="15599" y="1753"/>
              <a:ext cx="300" cy="689"/>
              <a:chOff x="2914961" y="2545690"/>
              <a:chExt cx="959608" cy="2200046"/>
            </a:xfrm>
          </p:grpSpPr>
          <p:sp>
            <p:nvSpPr>
              <p:cNvPr id="748" name="MaizeStage2_Stalk"/>
              <p:cNvSpPr/>
              <p:nvPr/>
            </p:nvSpPr>
            <p:spPr>
              <a:xfrm>
                <a:off x="3377336" y="2944368"/>
                <a:ext cx="85039" cy="177393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49" name="MaizeStage2_StalkHighlight"/>
              <p:cNvSpPr/>
              <p:nvPr/>
            </p:nvSpPr>
            <p:spPr>
              <a:xfrm>
                <a:off x="3410502" y="2990088"/>
                <a:ext cx="0" cy="1691640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750" name="MaizeStage2_Leaf_1"/>
              <p:cNvSpPr/>
              <p:nvPr/>
            </p:nvSpPr>
            <p:spPr>
              <a:xfrm flipH="1">
                <a:off x="3044001" y="4288208"/>
                <a:ext cx="375855" cy="221754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1" name="MaizeStage2_Vein_1a"/>
              <p:cNvSpPr/>
              <p:nvPr/>
            </p:nvSpPr>
            <p:spPr>
              <a:xfrm flipH="1" flipV="1">
                <a:off x="3235687" y="4368040"/>
                <a:ext cx="184169" cy="4851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2" name="MaizeStage2_Vein_1b"/>
              <p:cNvSpPr/>
              <p:nvPr/>
            </p:nvSpPr>
            <p:spPr>
              <a:xfrm flipH="1">
                <a:off x="3096621" y="4368040"/>
                <a:ext cx="139066" cy="4213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3" name="MaizeStage2_Leaf_2"/>
              <p:cNvSpPr/>
              <p:nvPr/>
            </p:nvSpPr>
            <p:spPr>
              <a:xfrm>
                <a:off x="3419856" y="3949921"/>
                <a:ext cx="400741" cy="23643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4" name="MaizeStage2_Vein_2a"/>
              <p:cNvSpPr/>
              <p:nvPr/>
            </p:nvSpPr>
            <p:spPr>
              <a:xfrm flipV="1">
                <a:off x="3419856" y="4035038"/>
                <a:ext cx="196363" cy="5233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5" name="MaizeStage2_Vein_2b"/>
              <p:cNvSpPr/>
              <p:nvPr/>
            </p:nvSpPr>
            <p:spPr>
              <a:xfrm>
                <a:off x="3616219" y="4035038"/>
                <a:ext cx="148274" cy="4492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6" name="MaizeStage2_Leaf_3"/>
              <p:cNvSpPr/>
              <p:nvPr/>
            </p:nvSpPr>
            <p:spPr>
              <a:xfrm flipH="1">
                <a:off x="2914961" y="3582637"/>
                <a:ext cx="504895" cy="29788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7" name="MaizeStage2_Vein_3a"/>
              <p:cNvSpPr/>
              <p:nvPr/>
            </p:nvSpPr>
            <p:spPr>
              <a:xfrm flipH="1" flipV="1">
                <a:off x="3172457" y="3689877"/>
                <a:ext cx="247399" cy="6830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8" name="MaizeStage2_Vein_3b"/>
              <p:cNvSpPr/>
              <p:nvPr/>
            </p:nvSpPr>
            <p:spPr>
              <a:xfrm flipH="1">
                <a:off x="2985646" y="3689877"/>
                <a:ext cx="186811" cy="5659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59" name="MaizeStage2_Leaf_4"/>
              <p:cNvSpPr/>
              <p:nvPr/>
            </p:nvSpPr>
            <p:spPr>
              <a:xfrm>
                <a:off x="3419856" y="3271810"/>
                <a:ext cx="454713" cy="26828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0" name="MaizeStage2_Vein_4a"/>
              <p:cNvSpPr/>
              <p:nvPr/>
            </p:nvSpPr>
            <p:spPr>
              <a:xfrm flipV="1">
                <a:off x="3419856" y="3368391"/>
                <a:ext cx="222809" cy="6060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1" name="MaizeStage2_Vein_4b"/>
              <p:cNvSpPr/>
              <p:nvPr/>
            </p:nvSpPr>
            <p:spPr>
              <a:xfrm>
                <a:off x="3642665" y="3368391"/>
                <a:ext cx="168244" cy="5097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2" name="MaizeStage2_Leaf_5"/>
              <p:cNvSpPr/>
              <p:nvPr/>
            </p:nvSpPr>
            <p:spPr>
              <a:xfrm flipH="1">
                <a:off x="3064781" y="2795357"/>
                <a:ext cx="355075" cy="32666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3" name="MaizeStage2_Vein_5a"/>
              <p:cNvSpPr/>
              <p:nvPr/>
            </p:nvSpPr>
            <p:spPr>
              <a:xfrm flipH="1" flipV="1">
                <a:off x="3270724" y="2926025"/>
                <a:ext cx="149132" cy="17379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4" name="MaizeStage2_Vein_5b"/>
              <p:cNvSpPr/>
              <p:nvPr/>
            </p:nvSpPr>
            <p:spPr>
              <a:xfrm flipH="1" flipV="1">
                <a:off x="3114491" y="2841091"/>
                <a:ext cx="156233" cy="84934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5" name="MaizeStage2_Leaf_6"/>
              <p:cNvSpPr/>
              <p:nvPr/>
            </p:nvSpPr>
            <p:spPr>
              <a:xfrm>
                <a:off x="3419856" y="2545690"/>
                <a:ext cx="256032" cy="54864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6" name="MaizeStage2_Vein_6a"/>
              <p:cNvSpPr/>
              <p:nvPr/>
            </p:nvSpPr>
            <p:spPr>
              <a:xfrm flipV="1">
                <a:off x="3419856" y="2765146"/>
                <a:ext cx="107533" cy="29809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7" name="MaizeStage2_Vein_6b"/>
              <p:cNvSpPr/>
              <p:nvPr/>
            </p:nvSpPr>
            <p:spPr>
              <a:xfrm flipV="1">
                <a:off x="3527389" y="2622499"/>
                <a:ext cx="112654" cy="142646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8" name="MaizeStage2_Leaf_7"/>
              <p:cNvSpPr/>
              <p:nvPr/>
            </p:nvSpPr>
            <p:spPr>
              <a:xfrm flipH="1">
                <a:off x="3182112" y="2670048"/>
                <a:ext cx="237744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69" name="MaizeStage2_Vein_7a"/>
              <p:cNvSpPr/>
              <p:nvPr/>
            </p:nvSpPr>
            <p:spPr>
              <a:xfrm flipH="1" flipV="1">
                <a:off x="3320004" y="2852928"/>
                <a:ext cx="9985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70" name="MaizeStage2_Vein_7b"/>
              <p:cNvSpPr/>
              <p:nvPr/>
            </p:nvSpPr>
            <p:spPr>
              <a:xfrm flipH="1" flipV="1">
                <a:off x="3215396" y="2734056"/>
                <a:ext cx="104607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71" name="MaizeStage2_Soil"/>
              <p:cNvSpPr/>
              <p:nvPr/>
            </p:nvSpPr>
            <p:spPr>
              <a:xfrm>
                <a:off x="3172968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772" name="MaizeStage3"/>
            <p:cNvGrpSpPr/>
            <p:nvPr/>
          </p:nvGrpSpPr>
          <p:grpSpPr>
            <a:xfrm>
              <a:off x="18957" y="8659"/>
              <a:ext cx="399" cy="977"/>
              <a:chOff x="5086012" y="1863547"/>
              <a:chExt cx="1182575" cy="2882189"/>
            </a:xfrm>
          </p:grpSpPr>
          <p:sp>
            <p:nvSpPr>
              <p:cNvPr id="773" name="MaizeStage3_Stalk"/>
              <p:cNvSpPr/>
              <p:nvPr/>
            </p:nvSpPr>
            <p:spPr>
              <a:xfrm>
                <a:off x="5604358" y="2350008"/>
                <a:ext cx="93269" cy="236829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74" name="MaizeStage3_StalkHighlight"/>
              <p:cNvSpPr/>
              <p:nvPr/>
            </p:nvSpPr>
            <p:spPr>
              <a:xfrm>
                <a:off x="5640732" y="2395728"/>
                <a:ext cx="0" cy="2286000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775" name="MaizeStage3_Leaf_1"/>
              <p:cNvSpPr/>
              <p:nvPr/>
            </p:nvSpPr>
            <p:spPr>
              <a:xfrm flipH="1">
                <a:off x="5191241" y="4162421"/>
                <a:ext cx="459751" cy="27125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76" name="MaizeStage3_Vein_1a"/>
              <p:cNvSpPr/>
              <p:nvPr/>
            </p:nvSpPr>
            <p:spPr>
              <a:xfrm flipH="1" flipV="1">
                <a:off x="5425714" y="4260073"/>
                <a:ext cx="225278" cy="6138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77" name="MaizeStage3_Vein_1b"/>
              <p:cNvSpPr/>
              <p:nvPr/>
            </p:nvSpPr>
            <p:spPr>
              <a:xfrm flipH="1">
                <a:off x="5255606" y="4260073"/>
                <a:ext cx="170108" cy="5153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78" name="MaizeStage3_Leaf_2"/>
              <p:cNvSpPr/>
              <p:nvPr/>
            </p:nvSpPr>
            <p:spPr>
              <a:xfrm>
                <a:off x="5650992" y="3869264"/>
                <a:ext cx="466253" cy="27508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79" name="MaizeStage3_Vein_2a"/>
              <p:cNvSpPr/>
              <p:nvPr/>
            </p:nvSpPr>
            <p:spPr>
              <a:xfrm flipV="1">
                <a:off x="5650992" y="3968296"/>
                <a:ext cx="228464" cy="6237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0" name="MaizeStage3_Vein_2b"/>
              <p:cNvSpPr/>
              <p:nvPr/>
            </p:nvSpPr>
            <p:spPr>
              <a:xfrm>
                <a:off x="5879456" y="3968296"/>
                <a:ext cx="172514" cy="52267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1" name="MaizeStage3_Leaf_3"/>
              <p:cNvSpPr/>
              <p:nvPr/>
            </p:nvSpPr>
            <p:spPr>
              <a:xfrm flipH="1">
                <a:off x="5086012" y="3542370"/>
                <a:ext cx="564980" cy="33333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2" name="MaizeStage3_Vein_3a"/>
              <p:cNvSpPr/>
              <p:nvPr/>
            </p:nvSpPr>
            <p:spPr>
              <a:xfrm flipH="1" flipV="1">
                <a:off x="5374152" y="3662372"/>
                <a:ext cx="276840" cy="7752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3" name="MaizeStage3_Vein_3b"/>
              <p:cNvSpPr/>
              <p:nvPr/>
            </p:nvSpPr>
            <p:spPr>
              <a:xfrm flipH="1">
                <a:off x="5165109" y="3662372"/>
                <a:ext cx="209043" cy="63334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4" name="MaizeStage3_Leaf_4"/>
              <p:cNvSpPr/>
              <p:nvPr/>
            </p:nvSpPr>
            <p:spPr>
              <a:xfrm>
                <a:off x="5650992" y="3232345"/>
                <a:ext cx="617595" cy="36438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5" name="MaizeStage3_Vein_4a"/>
              <p:cNvSpPr/>
              <p:nvPr/>
            </p:nvSpPr>
            <p:spPr>
              <a:xfrm flipV="1">
                <a:off x="5650992" y="3363522"/>
                <a:ext cx="302622" cy="8559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6" name="MaizeStage3_Vein_4b"/>
              <p:cNvSpPr/>
              <p:nvPr/>
            </p:nvSpPr>
            <p:spPr>
              <a:xfrm>
                <a:off x="5953614" y="3363522"/>
                <a:ext cx="228510" cy="6923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7" name="MaizeStage3_Leaf_5"/>
              <p:cNvSpPr/>
              <p:nvPr/>
            </p:nvSpPr>
            <p:spPr>
              <a:xfrm flipH="1">
                <a:off x="5120900" y="2973574"/>
                <a:ext cx="530092" cy="312754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8" name="MaizeStage3_Vein_5a"/>
              <p:cNvSpPr/>
              <p:nvPr/>
            </p:nvSpPr>
            <p:spPr>
              <a:xfrm flipH="1" flipV="1">
                <a:off x="5391247" y="3086166"/>
                <a:ext cx="259745" cy="7217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89" name="MaizeStage3_Vein_5b"/>
              <p:cNvSpPr/>
              <p:nvPr/>
            </p:nvSpPr>
            <p:spPr>
              <a:xfrm flipH="1">
                <a:off x="5195113" y="3086166"/>
                <a:ext cx="196134" cy="5942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0" name="MaizeStage3_Leaf_6"/>
              <p:cNvSpPr/>
              <p:nvPr/>
            </p:nvSpPr>
            <p:spPr>
              <a:xfrm>
                <a:off x="5650992" y="2408691"/>
                <a:ext cx="529904" cy="4875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1" name="MaizeStage3_Vein_6a"/>
              <p:cNvSpPr/>
              <p:nvPr/>
            </p:nvSpPr>
            <p:spPr>
              <a:xfrm flipV="1">
                <a:off x="5650992" y="2603696"/>
                <a:ext cx="222560" cy="26386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2" name="MaizeStage3_Vein_6b"/>
              <p:cNvSpPr/>
              <p:nvPr/>
            </p:nvSpPr>
            <p:spPr>
              <a:xfrm flipV="1">
                <a:off x="5873552" y="2476943"/>
                <a:ext cx="233158" cy="1267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3" name="MaizeStage3_Leaf_7"/>
              <p:cNvSpPr/>
              <p:nvPr/>
            </p:nvSpPr>
            <p:spPr>
              <a:xfrm flipH="1">
                <a:off x="5173703" y="2164381"/>
                <a:ext cx="477289" cy="43910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4" name="MaizeStage3_Vein_7a"/>
              <p:cNvSpPr/>
              <p:nvPr/>
            </p:nvSpPr>
            <p:spPr>
              <a:xfrm flipH="1" flipV="1">
                <a:off x="5450530" y="2340024"/>
                <a:ext cx="200462" cy="23675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5" name="MaizeStage3_Vein_7b"/>
              <p:cNvSpPr/>
              <p:nvPr/>
            </p:nvSpPr>
            <p:spPr>
              <a:xfrm flipH="1" flipV="1">
                <a:off x="5240523" y="2225856"/>
                <a:ext cx="210007" cy="11416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6" name="MaizeStage3_Leaf_8"/>
              <p:cNvSpPr/>
              <p:nvPr/>
            </p:nvSpPr>
            <p:spPr>
              <a:xfrm>
                <a:off x="5650992" y="1863547"/>
                <a:ext cx="292608" cy="64008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7" name="MaizeStage3_Vein_8a"/>
              <p:cNvSpPr/>
              <p:nvPr/>
            </p:nvSpPr>
            <p:spPr>
              <a:xfrm flipV="1">
                <a:off x="5650992" y="2119579"/>
                <a:ext cx="122895" cy="34930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8" name="MaizeStage3_Vein_8b"/>
              <p:cNvSpPr/>
              <p:nvPr/>
            </p:nvSpPr>
            <p:spPr>
              <a:xfrm flipV="1">
                <a:off x="5773887" y="1953158"/>
                <a:ext cx="128748" cy="16642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799" name="MaizeStage3_Leaf_9"/>
              <p:cNvSpPr/>
              <p:nvPr/>
            </p:nvSpPr>
            <p:spPr>
              <a:xfrm flipH="1">
                <a:off x="5367528" y="2005462"/>
                <a:ext cx="283464" cy="53035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00" name="MaizeStage3_Vein_9a"/>
              <p:cNvSpPr/>
              <p:nvPr/>
            </p:nvSpPr>
            <p:spPr>
              <a:xfrm flipH="1" flipV="1">
                <a:off x="5531937" y="2217603"/>
                <a:ext cx="119055" cy="28785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01" name="MaizeStage3_Vein_9b"/>
              <p:cNvSpPr/>
              <p:nvPr/>
            </p:nvSpPr>
            <p:spPr>
              <a:xfrm flipH="1" flipV="1">
                <a:off x="5407213" y="2079711"/>
                <a:ext cx="124724" cy="13789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02" name="MaizeStage3_Soil"/>
              <p:cNvSpPr/>
              <p:nvPr/>
            </p:nvSpPr>
            <p:spPr>
              <a:xfrm>
                <a:off x="5404104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803" name="MaizeStage4"/>
            <p:cNvGrpSpPr/>
            <p:nvPr/>
          </p:nvGrpSpPr>
          <p:grpSpPr>
            <a:xfrm>
              <a:off x="17777" y="1183"/>
              <a:ext cx="458" cy="1117"/>
              <a:chOff x="7309000" y="1425732"/>
              <a:chExt cx="1368939" cy="3320004"/>
            </a:xfrm>
          </p:grpSpPr>
          <p:sp>
            <p:nvSpPr>
              <p:cNvPr id="804" name="MaizeStage4_Stalk"/>
              <p:cNvSpPr/>
              <p:nvPr/>
            </p:nvSpPr>
            <p:spPr>
              <a:xfrm>
                <a:off x="7922819" y="1856232"/>
                <a:ext cx="101498" cy="28620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05" name="MaizeStage4_StalkHighlight"/>
              <p:cNvSpPr/>
              <p:nvPr/>
            </p:nvSpPr>
            <p:spPr>
              <a:xfrm>
                <a:off x="7962403" y="1901952"/>
                <a:ext cx="0" cy="27797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806" name="MaizeStage4_Leaf_1"/>
              <p:cNvSpPr/>
              <p:nvPr/>
            </p:nvSpPr>
            <p:spPr>
              <a:xfrm flipH="1">
                <a:off x="7429921" y="4017615"/>
                <a:ext cx="543647" cy="32075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07" name="MaizeStage4_Vein_1a"/>
              <p:cNvSpPr/>
              <p:nvPr/>
            </p:nvSpPr>
            <p:spPr>
              <a:xfrm flipH="1" flipV="1">
                <a:off x="7707181" y="4133086"/>
                <a:ext cx="266387" cy="7425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08" name="MaizeStage4_Vein_1b"/>
              <p:cNvSpPr/>
              <p:nvPr/>
            </p:nvSpPr>
            <p:spPr>
              <a:xfrm flipH="1">
                <a:off x="7506031" y="4133086"/>
                <a:ext cx="201150" cy="6094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09" name="MaizeStage4_Leaf_2"/>
              <p:cNvSpPr/>
              <p:nvPr/>
            </p:nvSpPr>
            <p:spPr>
              <a:xfrm>
                <a:off x="7973568" y="3737705"/>
                <a:ext cx="537181" cy="31693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0" name="MaizeStage4_Vein_2a"/>
              <p:cNvSpPr/>
              <p:nvPr/>
            </p:nvSpPr>
            <p:spPr>
              <a:xfrm flipV="1">
                <a:off x="7973568" y="3851802"/>
                <a:ext cx="263219" cy="7326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1" name="MaizeStage4_Vein_2b"/>
              <p:cNvSpPr/>
              <p:nvPr/>
            </p:nvSpPr>
            <p:spPr>
              <a:xfrm>
                <a:off x="8236787" y="3851802"/>
                <a:ext cx="198757" cy="6021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2" name="MaizeStage4_Leaf_3"/>
              <p:cNvSpPr/>
              <p:nvPr/>
            </p:nvSpPr>
            <p:spPr>
              <a:xfrm flipH="1">
                <a:off x="7336597" y="3418927"/>
                <a:ext cx="636971" cy="37581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3" name="MaizeStage4_Vein_3a"/>
              <p:cNvSpPr/>
              <p:nvPr/>
            </p:nvSpPr>
            <p:spPr>
              <a:xfrm flipH="1" flipV="1">
                <a:off x="7661452" y="3554219"/>
                <a:ext cx="312116" cy="8856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4" name="MaizeStage4_Vein_3b"/>
              <p:cNvSpPr/>
              <p:nvPr/>
            </p:nvSpPr>
            <p:spPr>
              <a:xfrm flipH="1">
                <a:off x="7425773" y="3554219"/>
                <a:ext cx="235679" cy="71404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5" name="MaizeStage4_Leaf_4"/>
              <p:cNvSpPr/>
              <p:nvPr/>
            </p:nvSpPr>
            <p:spPr>
              <a:xfrm>
                <a:off x="7973568" y="3119583"/>
                <a:ext cx="683633" cy="40334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6" name="MaizeStage4_Vein_4a"/>
              <p:cNvSpPr/>
              <p:nvPr/>
            </p:nvSpPr>
            <p:spPr>
              <a:xfrm flipV="1">
                <a:off x="7973568" y="3264786"/>
                <a:ext cx="334980" cy="9572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7" name="MaizeStage4_Vein_4b"/>
              <p:cNvSpPr/>
              <p:nvPr/>
            </p:nvSpPr>
            <p:spPr>
              <a:xfrm>
                <a:off x="8308548" y="3264786"/>
                <a:ext cx="252944" cy="76635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8" name="MaizeStage4_Leaf_5"/>
              <p:cNvSpPr/>
              <p:nvPr/>
            </p:nvSpPr>
            <p:spPr>
              <a:xfrm flipH="1">
                <a:off x="7309000" y="2844281"/>
                <a:ext cx="664568" cy="392095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19" name="MaizeStage4_Vein_5a"/>
              <p:cNvSpPr/>
              <p:nvPr/>
            </p:nvSpPr>
            <p:spPr>
              <a:xfrm flipH="1" flipV="1">
                <a:off x="7647930" y="2985435"/>
                <a:ext cx="325638" cy="9280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0" name="MaizeStage4_Vein_5b"/>
              <p:cNvSpPr/>
              <p:nvPr/>
            </p:nvSpPr>
            <p:spPr>
              <a:xfrm flipH="1">
                <a:off x="7402039" y="2985435"/>
                <a:ext cx="245890" cy="7449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1" name="MaizeStage4_Leaf_6"/>
              <p:cNvSpPr/>
              <p:nvPr/>
            </p:nvSpPr>
            <p:spPr>
              <a:xfrm>
                <a:off x="7973568" y="2547446"/>
                <a:ext cx="704371" cy="41557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2" name="MaizeStage4_Vein_6a"/>
              <p:cNvSpPr/>
              <p:nvPr/>
            </p:nvSpPr>
            <p:spPr>
              <a:xfrm flipV="1">
                <a:off x="7973568" y="2697054"/>
                <a:ext cx="345142" cy="9890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3" name="MaizeStage4_Vein_6b"/>
              <p:cNvSpPr/>
              <p:nvPr/>
            </p:nvSpPr>
            <p:spPr>
              <a:xfrm>
                <a:off x="8318710" y="2697054"/>
                <a:ext cx="260617" cy="78960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4" name="MaizeStage4_Leaf_7"/>
              <p:cNvSpPr/>
              <p:nvPr/>
            </p:nvSpPr>
            <p:spPr>
              <a:xfrm flipH="1">
                <a:off x="7315858" y="2282239"/>
                <a:ext cx="657710" cy="38804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5" name="MaizeStage4_Vein_7a"/>
              <p:cNvSpPr/>
              <p:nvPr/>
            </p:nvSpPr>
            <p:spPr>
              <a:xfrm flipH="1" flipV="1">
                <a:off x="7651290" y="2421937"/>
                <a:ext cx="322278" cy="9174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6" name="MaizeStage4_Vein_7b"/>
              <p:cNvSpPr/>
              <p:nvPr/>
            </p:nvSpPr>
            <p:spPr>
              <a:xfrm flipH="1">
                <a:off x="7407938" y="2421937"/>
                <a:ext cx="243353" cy="7372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7" name="MaizeStage4_Leaf_8"/>
              <p:cNvSpPr/>
              <p:nvPr/>
            </p:nvSpPr>
            <p:spPr>
              <a:xfrm>
                <a:off x="7973568" y="1749448"/>
                <a:ext cx="556053" cy="51156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8" name="MaizeStage4_Vein_8a"/>
              <p:cNvSpPr/>
              <p:nvPr/>
            </p:nvSpPr>
            <p:spPr>
              <a:xfrm flipV="1">
                <a:off x="7973568" y="1954076"/>
                <a:ext cx="233542" cy="27733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29" name="MaizeStage4_Vein_8b"/>
              <p:cNvSpPr/>
              <p:nvPr/>
            </p:nvSpPr>
            <p:spPr>
              <a:xfrm flipV="1">
                <a:off x="8207110" y="1821068"/>
                <a:ext cx="244664" cy="133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0" name="MaizeStage4_Leaf_9"/>
              <p:cNvSpPr/>
              <p:nvPr/>
            </p:nvSpPr>
            <p:spPr>
              <a:xfrm flipH="1">
                <a:off x="7409182" y="1459813"/>
                <a:ext cx="564386" cy="519235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1" name="MaizeStage4_Vein_9a"/>
              <p:cNvSpPr/>
              <p:nvPr/>
            </p:nvSpPr>
            <p:spPr>
              <a:xfrm flipH="1" flipV="1">
                <a:off x="7736526" y="1667507"/>
                <a:ext cx="237042" cy="28162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2" name="MaizeStage4_Vein_9b"/>
              <p:cNvSpPr/>
              <p:nvPr/>
            </p:nvSpPr>
            <p:spPr>
              <a:xfrm flipH="1" flipV="1">
                <a:off x="7488196" y="1532506"/>
                <a:ext cx="248330" cy="1350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3" name="MaizeStage4_Leaf_10"/>
              <p:cNvSpPr/>
              <p:nvPr/>
            </p:nvSpPr>
            <p:spPr>
              <a:xfrm flipH="1">
                <a:off x="7644384" y="1425732"/>
                <a:ext cx="329184" cy="6675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AB94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4" name="MaizeStage4_Vein_10a"/>
              <p:cNvSpPr/>
              <p:nvPr/>
            </p:nvSpPr>
            <p:spPr>
              <a:xfrm flipH="1" flipV="1">
                <a:off x="7835311" y="1692737"/>
                <a:ext cx="138257" cy="36466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5" name="MaizeStage4_Vein_10b"/>
              <p:cNvSpPr/>
              <p:nvPr/>
            </p:nvSpPr>
            <p:spPr>
              <a:xfrm flipH="1" flipV="1">
                <a:off x="7690470" y="1519184"/>
                <a:ext cx="144841" cy="1735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6" name="MaizeStage4_Leaf_11"/>
              <p:cNvSpPr/>
              <p:nvPr/>
            </p:nvSpPr>
            <p:spPr>
              <a:xfrm>
                <a:off x="7973568" y="1514978"/>
                <a:ext cx="310896" cy="6126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DC34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7" name="MaizeStage4_Vein_11a"/>
              <p:cNvSpPr/>
              <p:nvPr/>
            </p:nvSpPr>
            <p:spPr>
              <a:xfrm flipV="1">
                <a:off x="7973568" y="1760037"/>
                <a:ext cx="130576" cy="33393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8" name="MaizeStage4_Vein_11b"/>
              <p:cNvSpPr/>
              <p:nvPr/>
            </p:nvSpPr>
            <p:spPr>
              <a:xfrm flipV="1">
                <a:off x="8104144" y="1600749"/>
                <a:ext cx="136794" cy="15928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39" name="MaizeStage4_TasselAxis"/>
              <p:cNvSpPr/>
              <p:nvPr/>
            </p:nvSpPr>
            <p:spPr>
              <a:xfrm flipV="1">
                <a:off x="7973568" y="1783080"/>
                <a:ext cx="0" cy="374904"/>
              </a:xfrm>
              <a:prstGeom prst="line">
                <a:avLst/>
              </a:prstGeom>
              <a:noFill/>
              <a:ln w="9906">
                <a:solidFill>
                  <a:srgbClr val="E2AE24"/>
                </a:solidFill>
                <a:prstDash val="solid"/>
              </a:ln>
            </p:spPr>
          </p:sp>
          <p:sp>
            <p:nvSpPr>
              <p:cNvPr id="840" name="MaizeStage4_TasselBranch_1"/>
              <p:cNvSpPr/>
              <p:nvPr/>
            </p:nvSpPr>
            <p:spPr>
              <a:xfrm flipH="1" flipV="1">
                <a:off x="7744968" y="1947672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841" name="MaizeStage4_TasselAnther_1"/>
              <p:cNvSpPr/>
              <p:nvPr/>
            </p:nvSpPr>
            <p:spPr>
              <a:xfrm>
                <a:off x="7731252" y="193487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42" name="MaizeStage4_TasselBranch_2"/>
              <p:cNvSpPr/>
              <p:nvPr/>
            </p:nvSpPr>
            <p:spPr>
              <a:xfrm flipH="1" flipV="1">
                <a:off x="7790688" y="1810512"/>
                <a:ext cx="117043" cy="22860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843" name="MaizeStage4_TasselAnther_2"/>
              <p:cNvSpPr/>
              <p:nvPr/>
            </p:nvSpPr>
            <p:spPr>
              <a:xfrm>
                <a:off x="7776972" y="179771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44" name="MaizeStage4_TasselBranch_3"/>
              <p:cNvSpPr/>
              <p:nvPr/>
            </p:nvSpPr>
            <p:spPr>
              <a:xfrm flipH="1" flipV="1">
                <a:off x="7854696" y="1746504"/>
                <a:ext cx="76078" cy="292608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845" name="MaizeStage4_TasselAnther_3"/>
              <p:cNvSpPr/>
              <p:nvPr/>
            </p:nvSpPr>
            <p:spPr>
              <a:xfrm>
                <a:off x="7840980" y="173370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46" name="MaizeStage4_TasselBranch_4"/>
              <p:cNvSpPr/>
              <p:nvPr/>
            </p:nvSpPr>
            <p:spPr>
              <a:xfrm flipH="1" flipV="1">
                <a:off x="7909560" y="1673352"/>
                <a:ext cx="40965" cy="36576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847" name="MaizeStage4_TasselAnther_4"/>
              <p:cNvSpPr/>
              <p:nvPr/>
            </p:nvSpPr>
            <p:spPr>
              <a:xfrm>
                <a:off x="7895844" y="166055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48" name="MaizeStage4_TasselBranch_5"/>
              <p:cNvSpPr/>
              <p:nvPr/>
            </p:nvSpPr>
            <p:spPr>
              <a:xfrm flipV="1">
                <a:off x="7993319" y="1673352"/>
                <a:ext cx="35113" cy="36576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849" name="MaizeStage4_TasselAnther_5"/>
              <p:cNvSpPr/>
              <p:nvPr/>
            </p:nvSpPr>
            <p:spPr>
              <a:xfrm>
                <a:off x="8014716" y="166055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50" name="MaizeStage4_TasselBranch_6"/>
              <p:cNvSpPr/>
              <p:nvPr/>
            </p:nvSpPr>
            <p:spPr>
              <a:xfrm flipV="1">
                <a:off x="8016362" y="1737360"/>
                <a:ext cx="76078" cy="301752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851" name="MaizeStage4_TasselAnther_6"/>
              <p:cNvSpPr/>
              <p:nvPr/>
            </p:nvSpPr>
            <p:spPr>
              <a:xfrm>
                <a:off x="8078724" y="1724558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52" name="MaizeStage4_TasselBranch_7"/>
              <p:cNvSpPr/>
              <p:nvPr/>
            </p:nvSpPr>
            <p:spPr>
              <a:xfrm flipV="1">
                <a:off x="8039405" y="1819656"/>
                <a:ext cx="117043" cy="219456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853" name="MaizeStage4_TasselAnther_7"/>
              <p:cNvSpPr/>
              <p:nvPr/>
            </p:nvSpPr>
            <p:spPr>
              <a:xfrm>
                <a:off x="8142732" y="1806854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54" name="MaizeStage4_TasselBranch_8"/>
              <p:cNvSpPr/>
              <p:nvPr/>
            </p:nvSpPr>
            <p:spPr>
              <a:xfrm flipV="1">
                <a:off x="8055864" y="1947672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855" name="MaizeStage4_TasselAnther_8"/>
              <p:cNvSpPr/>
              <p:nvPr/>
            </p:nvSpPr>
            <p:spPr>
              <a:xfrm>
                <a:off x="8188452" y="193487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856" name="MaizeStage4_Ear"/>
              <p:cNvSpPr/>
              <p:nvPr/>
            </p:nvSpPr>
            <p:spPr>
              <a:xfrm rot="-540000">
                <a:off x="7827264" y="3214207"/>
                <a:ext cx="109728" cy="292608"/>
              </a:xfrm>
              <a:prstGeom prst="ellipse">
                <a:avLst/>
              </a:prstGeom>
              <a:solidFill>
                <a:srgbClr val="F3C83C"/>
              </a:solidFill>
              <a:ln w="3556">
                <a:solidFill>
                  <a:srgbClr val="D3A825"/>
                </a:solidFill>
                <a:prstDash val="solid"/>
              </a:ln>
            </p:spPr>
          </p:sp>
          <p:sp>
            <p:nvSpPr>
              <p:cNvPr id="857" name="MaizeStage4_Husk"/>
              <p:cNvSpPr/>
              <p:nvPr/>
            </p:nvSpPr>
            <p:spPr>
              <a:xfrm flipH="1">
                <a:off x="7781544" y="3250783"/>
                <a:ext cx="155448" cy="31089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410" y="960"/>
                    </a:moveTo>
                    <a:cubicBezTo>
                      <a:pt x="105" y="650"/>
                      <a:pt x="40" y="210"/>
                      <a:pt x="335" y="0"/>
                    </a:cubicBezTo>
                    <a:cubicBezTo>
                      <a:pt x="390" y="288"/>
                      <a:pt x="795" y="690"/>
                      <a:pt x="410" y="960"/>
                    </a:cubicBezTo>
                    <a:close/>
                  </a:path>
                </a:pathLst>
              </a:custGeom>
              <a:solidFill>
                <a:srgbClr val="44983B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58" name="MaizeStage4_EarNode"/>
              <p:cNvSpPr/>
              <p:nvPr/>
            </p:nvSpPr>
            <p:spPr>
              <a:xfrm flipH="1" flipV="1">
                <a:off x="7882128" y="3442807"/>
                <a:ext cx="91440" cy="36576"/>
              </a:xfrm>
              <a:prstGeom prst="line">
                <a:avLst/>
              </a:prstGeom>
              <a:noFill/>
              <a:ln w="8636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59" name="MaizeStage4_Soil"/>
              <p:cNvSpPr/>
              <p:nvPr/>
            </p:nvSpPr>
            <p:spPr>
              <a:xfrm>
                <a:off x="7726680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sp>
          <p:nvSpPr>
            <p:cNvPr id="860" name="Shape 37"/>
            <p:cNvSpPr/>
            <p:nvPr/>
          </p:nvSpPr>
          <p:spPr>
            <a:xfrm>
              <a:off x="15710" y="2476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861" name="Shape 37"/>
            <p:cNvSpPr/>
            <p:nvPr/>
          </p:nvSpPr>
          <p:spPr>
            <a:xfrm>
              <a:off x="16737" y="2351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sp>
          <p:nvSpPr>
            <p:cNvPr id="862" name="Shape 37"/>
            <p:cNvSpPr/>
            <p:nvPr/>
          </p:nvSpPr>
          <p:spPr>
            <a:xfrm>
              <a:off x="17917" y="2326"/>
              <a:ext cx="130" cy="130"/>
            </a:xfrm>
            <a:prstGeom prst="ellipse">
              <a:avLst/>
            </a:prstGeom>
            <a:solidFill>
              <a:srgbClr val="5FD27D"/>
            </a:solidFill>
            <a:ln w="7620">
              <a:solidFill>
                <a:srgbClr val="1C8B3D"/>
              </a:solidFill>
              <a:prstDash val="solid"/>
            </a:ln>
          </p:spPr>
        </p:sp>
        <p:cxnSp>
          <p:nvCxnSpPr>
            <p:cNvPr id="863" name="直接箭头连接符 862"/>
            <p:cNvCxnSpPr>
              <a:stCxn id="39" idx="6"/>
              <a:endCxn id="860" idx="2"/>
            </p:cNvCxnSpPr>
            <p:nvPr/>
          </p:nvCxnSpPr>
          <p:spPr>
            <a:xfrm flipV="1">
              <a:off x="14812" y="2541"/>
              <a:ext cx="898" cy="167"/>
            </a:xfrm>
            <a:prstGeom prst="straightConnector1">
              <a:avLst/>
            </a:prstGeom>
            <a:ln>
              <a:solidFill>
                <a:srgbClr val="1C8B3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4" name="直接箭头连接符 863"/>
            <p:cNvCxnSpPr>
              <a:stCxn id="860" idx="6"/>
              <a:endCxn id="861" idx="2"/>
            </p:cNvCxnSpPr>
            <p:nvPr/>
          </p:nvCxnSpPr>
          <p:spPr>
            <a:xfrm flipV="1">
              <a:off x="15840" y="2416"/>
              <a:ext cx="897" cy="125"/>
            </a:xfrm>
            <a:prstGeom prst="straightConnector1">
              <a:avLst/>
            </a:prstGeom>
            <a:ln>
              <a:solidFill>
                <a:srgbClr val="1C8B3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5" name="直接箭头连接符 864"/>
            <p:cNvCxnSpPr>
              <a:stCxn id="861" idx="6"/>
              <a:endCxn id="862" idx="2"/>
            </p:cNvCxnSpPr>
            <p:nvPr/>
          </p:nvCxnSpPr>
          <p:spPr>
            <a:xfrm flipV="1">
              <a:off x="16867" y="2391"/>
              <a:ext cx="1050" cy="25"/>
            </a:xfrm>
            <a:prstGeom prst="straightConnector1">
              <a:avLst/>
            </a:prstGeom>
            <a:ln>
              <a:solidFill>
                <a:srgbClr val="1C8B3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6" name="曲线连接符 865"/>
            <p:cNvCxnSpPr>
              <a:stCxn id="862" idx="6"/>
              <a:endCxn id="50" idx="2"/>
            </p:cNvCxnSpPr>
            <p:nvPr/>
          </p:nvCxnSpPr>
          <p:spPr>
            <a:xfrm>
              <a:off x="18047" y="2391"/>
              <a:ext cx="1806" cy="109"/>
            </a:xfrm>
            <a:prstGeom prst="curvedConnector3">
              <a:avLst>
                <a:gd name="adj1" fmla="val 50000"/>
              </a:avLst>
            </a:prstGeom>
            <a:ln w="12700" cmpd="sng">
              <a:solidFill>
                <a:srgbClr val="1C8B3D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867" name="MaizeStage1"/>
            <p:cNvGrpSpPr/>
            <p:nvPr/>
          </p:nvGrpSpPr>
          <p:grpSpPr>
            <a:xfrm>
              <a:off x="17058" y="9088"/>
              <a:ext cx="224" cy="544"/>
              <a:chOff x="885624" y="3145536"/>
              <a:chExt cx="659994" cy="1600200"/>
            </a:xfrm>
          </p:grpSpPr>
          <p:sp>
            <p:nvSpPr>
              <p:cNvPr id="868" name="MaizeStage1_Stalk"/>
              <p:cNvSpPr/>
              <p:nvPr/>
            </p:nvSpPr>
            <p:spPr>
              <a:xfrm>
                <a:off x="1150315" y="3456432"/>
                <a:ext cx="76810" cy="12618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69" name="MaizeStage1_StalkHighlight"/>
              <p:cNvSpPr/>
              <p:nvPr/>
            </p:nvSpPr>
            <p:spPr>
              <a:xfrm>
                <a:off x="1180271" y="3502152"/>
                <a:ext cx="0" cy="11795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870" name="MaizeStage1_Leaf_1"/>
              <p:cNvSpPr/>
              <p:nvPr/>
            </p:nvSpPr>
            <p:spPr>
              <a:xfrm flipH="1">
                <a:off x="896761" y="4377233"/>
                <a:ext cx="291959" cy="2103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1" name="MaizeStage1_Vein_1a"/>
              <p:cNvSpPr/>
              <p:nvPr/>
            </p:nvSpPr>
            <p:spPr>
              <a:xfrm flipH="1" flipV="1">
                <a:off x="1045660" y="4452945"/>
                <a:ext cx="143060" cy="4553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2" name="MaizeStage1_Vein_1b"/>
              <p:cNvSpPr/>
              <p:nvPr/>
            </p:nvSpPr>
            <p:spPr>
              <a:xfrm flipH="1">
                <a:off x="937635" y="4452945"/>
                <a:ext cx="108025" cy="3995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3" name="MaizeStage1_Leaf_2"/>
              <p:cNvSpPr/>
              <p:nvPr/>
            </p:nvSpPr>
            <p:spPr>
              <a:xfrm>
                <a:off x="1188720" y="3903048"/>
                <a:ext cx="356898" cy="21057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4" name="MaizeStage1_Vein_2a"/>
              <p:cNvSpPr/>
              <p:nvPr/>
            </p:nvSpPr>
            <p:spPr>
              <a:xfrm flipV="1">
                <a:off x="1188720" y="3978853"/>
                <a:ext cx="174880" cy="4560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5" name="MaizeStage1_Vein_2b"/>
              <p:cNvSpPr/>
              <p:nvPr/>
            </p:nvSpPr>
            <p:spPr>
              <a:xfrm>
                <a:off x="1363600" y="3978853"/>
                <a:ext cx="132052" cy="4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6" name="MaizeStage1_Leaf_3"/>
              <p:cNvSpPr/>
              <p:nvPr/>
            </p:nvSpPr>
            <p:spPr>
              <a:xfrm flipH="1">
                <a:off x="885624" y="3291882"/>
                <a:ext cx="303096" cy="2788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7" name="MaizeStage1_Vein_3a"/>
              <p:cNvSpPr/>
              <p:nvPr/>
            </p:nvSpPr>
            <p:spPr>
              <a:xfrm flipH="1" flipV="1">
                <a:off x="1061420" y="3403421"/>
                <a:ext cx="127300" cy="14701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8" name="MaizeStage1_Vein_3b"/>
              <p:cNvSpPr/>
              <p:nvPr/>
            </p:nvSpPr>
            <p:spPr>
              <a:xfrm flipH="1" flipV="1">
                <a:off x="928057" y="3330921"/>
                <a:ext cx="133362" cy="725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79" name="MaizeStage1_Leaf_4"/>
              <p:cNvSpPr/>
              <p:nvPr/>
            </p:nvSpPr>
            <p:spPr>
              <a:xfrm>
                <a:off x="1188720" y="3145536"/>
                <a:ext cx="219456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80" name="MaizeStage1_Vein_4a"/>
              <p:cNvSpPr/>
              <p:nvPr/>
            </p:nvSpPr>
            <p:spPr>
              <a:xfrm flipV="1">
                <a:off x="1188720" y="3328416"/>
                <a:ext cx="9217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81" name="MaizeStage1_Vein_4b"/>
              <p:cNvSpPr/>
              <p:nvPr/>
            </p:nvSpPr>
            <p:spPr>
              <a:xfrm flipV="1">
                <a:off x="1280892" y="3209544"/>
                <a:ext cx="96561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82" name="MaizeStage1_Leaf_5"/>
              <p:cNvSpPr/>
              <p:nvPr/>
            </p:nvSpPr>
            <p:spPr>
              <a:xfrm flipH="1">
                <a:off x="996696" y="3252338"/>
                <a:ext cx="192024" cy="3840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83" name="MaizeStage1_Vein_5a"/>
              <p:cNvSpPr/>
              <p:nvPr/>
            </p:nvSpPr>
            <p:spPr>
              <a:xfrm flipH="1" flipV="1">
                <a:off x="1108070" y="3405957"/>
                <a:ext cx="80650" cy="20592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84" name="MaizeStage1_Vein_5b"/>
              <p:cNvSpPr/>
              <p:nvPr/>
            </p:nvSpPr>
            <p:spPr>
              <a:xfrm flipH="1" flipV="1">
                <a:off x="1023579" y="3306105"/>
                <a:ext cx="84491" cy="9985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85" name="MaizeStage1_Soil"/>
              <p:cNvSpPr/>
              <p:nvPr/>
            </p:nvSpPr>
            <p:spPr>
              <a:xfrm>
                <a:off x="941832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886" name="MaizeStage2"/>
            <p:cNvGrpSpPr/>
            <p:nvPr/>
          </p:nvGrpSpPr>
          <p:grpSpPr>
            <a:xfrm>
              <a:off x="17953" y="8941"/>
              <a:ext cx="300" cy="689"/>
              <a:chOff x="2914961" y="2545690"/>
              <a:chExt cx="959608" cy="2200046"/>
            </a:xfrm>
          </p:grpSpPr>
          <p:sp>
            <p:nvSpPr>
              <p:cNvPr id="887" name="MaizeStage2_Stalk"/>
              <p:cNvSpPr/>
              <p:nvPr/>
            </p:nvSpPr>
            <p:spPr>
              <a:xfrm>
                <a:off x="3377336" y="2944368"/>
                <a:ext cx="85039" cy="177393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88" name="MaizeStage2_StalkHighlight"/>
              <p:cNvSpPr/>
              <p:nvPr/>
            </p:nvSpPr>
            <p:spPr>
              <a:xfrm>
                <a:off x="3410502" y="2990088"/>
                <a:ext cx="0" cy="1691640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889" name="MaizeStage2_Leaf_1"/>
              <p:cNvSpPr/>
              <p:nvPr/>
            </p:nvSpPr>
            <p:spPr>
              <a:xfrm flipH="1">
                <a:off x="3044001" y="4288208"/>
                <a:ext cx="375855" cy="221754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0" name="MaizeStage2_Vein_1a"/>
              <p:cNvSpPr/>
              <p:nvPr/>
            </p:nvSpPr>
            <p:spPr>
              <a:xfrm flipH="1" flipV="1">
                <a:off x="3235687" y="4368040"/>
                <a:ext cx="184169" cy="4851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1" name="MaizeStage2_Vein_1b"/>
              <p:cNvSpPr/>
              <p:nvPr/>
            </p:nvSpPr>
            <p:spPr>
              <a:xfrm flipH="1">
                <a:off x="3096621" y="4368040"/>
                <a:ext cx="139066" cy="4213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2" name="MaizeStage2_Leaf_2"/>
              <p:cNvSpPr/>
              <p:nvPr/>
            </p:nvSpPr>
            <p:spPr>
              <a:xfrm>
                <a:off x="3419856" y="3949921"/>
                <a:ext cx="400741" cy="23643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3" name="MaizeStage2_Vein_2a"/>
              <p:cNvSpPr/>
              <p:nvPr/>
            </p:nvSpPr>
            <p:spPr>
              <a:xfrm flipV="1">
                <a:off x="3419856" y="4035038"/>
                <a:ext cx="196363" cy="5233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4" name="MaizeStage2_Vein_2b"/>
              <p:cNvSpPr/>
              <p:nvPr/>
            </p:nvSpPr>
            <p:spPr>
              <a:xfrm>
                <a:off x="3616219" y="4035038"/>
                <a:ext cx="148274" cy="4492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5" name="MaizeStage2_Leaf_3"/>
              <p:cNvSpPr/>
              <p:nvPr/>
            </p:nvSpPr>
            <p:spPr>
              <a:xfrm flipH="1">
                <a:off x="2914961" y="3582637"/>
                <a:ext cx="504895" cy="29788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6" name="MaizeStage2_Vein_3a"/>
              <p:cNvSpPr/>
              <p:nvPr/>
            </p:nvSpPr>
            <p:spPr>
              <a:xfrm flipH="1" flipV="1">
                <a:off x="3172457" y="3689877"/>
                <a:ext cx="247399" cy="6830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7" name="MaizeStage2_Vein_3b"/>
              <p:cNvSpPr/>
              <p:nvPr/>
            </p:nvSpPr>
            <p:spPr>
              <a:xfrm flipH="1">
                <a:off x="2985646" y="3689877"/>
                <a:ext cx="186811" cy="5659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8" name="MaizeStage2_Leaf_4"/>
              <p:cNvSpPr/>
              <p:nvPr/>
            </p:nvSpPr>
            <p:spPr>
              <a:xfrm>
                <a:off x="3419856" y="3271810"/>
                <a:ext cx="454713" cy="26828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899" name="MaizeStage2_Vein_4a"/>
              <p:cNvSpPr/>
              <p:nvPr/>
            </p:nvSpPr>
            <p:spPr>
              <a:xfrm flipV="1">
                <a:off x="3419856" y="3368391"/>
                <a:ext cx="222809" cy="6060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0" name="MaizeStage2_Vein_4b"/>
              <p:cNvSpPr/>
              <p:nvPr/>
            </p:nvSpPr>
            <p:spPr>
              <a:xfrm>
                <a:off x="3642665" y="3368391"/>
                <a:ext cx="168244" cy="5097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1" name="MaizeStage2_Leaf_5"/>
              <p:cNvSpPr/>
              <p:nvPr/>
            </p:nvSpPr>
            <p:spPr>
              <a:xfrm flipH="1">
                <a:off x="3064781" y="2795357"/>
                <a:ext cx="355075" cy="32666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2" name="MaizeStage2_Vein_5a"/>
              <p:cNvSpPr/>
              <p:nvPr/>
            </p:nvSpPr>
            <p:spPr>
              <a:xfrm flipH="1" flipV="1">
                <a:off x="3270724" y="2926025"/>
                <a:ext cx="149132" cy="17379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3" name="MaizeStage2_Vein_5b"/>
              <p:cNvSpPr/>
              <p:nvPr/>
            </p:nvSpPr>
            <p:spPr>
              <a:xfrm flipH="1" flipV="1">
                <a:off x="3114491" y="2841091"/>
                <a:ext cx="156233" cy="84934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4" name="MaizeStage2_Leaf_6"/>
              <p:cNvSpPr/>
              <p:nvPr/>
            </p:nvSpPr>
            <p:spPr>
              <a:xfrm>
                <a:off x="3419856" y="2545690"/>
                <a:ext cx="256032" cy="54864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5" name="MaizeStage2_Vein_6a"/>
              <p:cNvSpPr/>
              <p:nvPr/>
            </p:nvSpPr>
            <p:spPr>
              <a:xfrm flipV="1">
                <a:off x="3419856" y="2765146"/>
                <a:ext cx="107533" cy="29809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6" name="MaizeStage2_Vein_6b"/>
              <p:cNvSpPr/>
              <p:nvPr/>
            </p:nvSpPr>
            <p:spPr>
              <a:xfrm flipV="1">
                <a:off x="3527389" y="2622499"/>
                <a:ext cx="112654" cy="142646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7" name="MaizeStage2_Leaf_7"/>
              <p:cNvSpPr/>
              <p:nvPr/>
            </p:nvSpPr>
            <p:spPr>
              <a:xfrm flipH="1">
                <a:off x="3182112" y="2670048"/>
                <a:ext cx="237744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8" name="MaizeStage2_Vein_7a"/>
              <p:cNvSpPr/>
              <p:nvPr/>
            </p:nvSpPr>
            <p:spPr>
              <a:xfrm flipH="1" flipV="1">
                <a:off x="3320004" y="2852928"/>
                <a:ext cx="9985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09" name="MaizeStage2_Vein_7b"/>
              <p:cNvSpPr/>
              <p:nvPr/>
            </p:nvSpPr>
            <p:spPr>
              <a:xfrm flipH="1" flipV="1">
                <a:off x="3215396" y="2734056"/>
                <a:ext cx="104607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10" name="MaizeStage2_Soil"/>
              <p:cNvSpPr/>
              <p:nvPr/>
            </p:nvSpPr>
            <p:spPr>
              <a:xfrm>
                <a:off x="3172968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911" name="MaizeStage3"/>
            <p:cNvGrpSpPr/>
            <p:nvPr/>
          </p:nvGrpSpPr>
          <p:grpSpPr>
            <a:xfrm>
              <a:off x="16638" y="1435"/>
              <a:ext cx="367" cy="898"/>
              <a:chOff x="5086012" y="1863547"/>
              <a:chExt cx="1182575" cy="2882189"/>
            </a:xfrm>
          </p:grpSpPr>
          <p:sp>
            <p:nvSpPr>
              <p:cNvPr id="912" name="MaizeStage3_Stalk"/>
              <p:cNvSpPr/>
              <p:nvPr/>
            </p:nvSpPr>
            <p:spPr>
              <a:xfrm>
                <a:off x="5604358" y="2350008"/>
                <a:ext cx="93269" cy="236829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13" name="MaizeStage3_StalkHighlight"/>
              <p:cNvSpPr/>
              <p:nvPr/>
            </p:nvSpPr>
            <p:spPr>
              <a:xfrm>
                <a:off x="5640732" y="2395728"/>
                <a:ext cx="0" cy="2286000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914" name="MaizeStage3_Leaf_1"/>
              <p:cNvSpPr/>
              <p:nvPr/>
            </p:nvSpPr>
            <p:spPr>
              <a:xfrm flipH="1">
                <a:off x="5191241" y="4162421"/>
                <a:ext cx="459751" cy="27125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15" name="MaizeStage3_Vein_1a"/>
              <p:cNvSpPr/>
              <p:nvPr/>
            </p:nvSpPr>
            <p:spPr>
              <a:xfrm flipH="1" flipV="1">
                <a:off x="5425714" y="4260073"/>
                <a:ext cx="225278" cy="6138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16" name="MaizeStage3_Vein_1b"/>
              <p:cNvSpPr/>
              <p:nvPr/>
            </p:nvSpPr>
            <p:spPr>
              <a:xfrm flipH="1">
                <a:off x="5255606" y="4260073"/>
                <a:ext cx="170108" cy="5153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17" name="MaizeStage3_Leaf_2"/>
              <p:cNvSpPr/>
              <p:nvPr/>
            </p:nvSpPr>
            <p:spPr>
              <a:xfrm>
                <a:off x="5650992" y="3869264"/>
                <a:ext cx="466253" cy="27508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18" name="MaizeStage3_Vein_2a"/>
              <p:cNvSpPr/>
              <p:nvPr/>
            </p:nvSpPr>
            <p:spPr>
              <a:xfrm flipV="1">
                <a:off x="5650992" y="3968296"/>
                <a:ext cx="228464" cy="6237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19" name="MaizeStage3_Vein_2b"/>
              <p:cNvSpPr/>
              <p:nvPr/>
            </p:nvSpPr>
            <p:spPr>
              <a:xfrm>
                <a:off x="5879456" y="3968296"/>
                <a:ext cx="172514" cy="52267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0" name="MaizeStage3_Leaf_3"/>
              <p:cNvSpPr/>
              <p:nvPr/>
            </p:nvSpPr>
            <p:spPr>
              <a:xfrm flipH="1">
                <a:off x="5086012" y="3542370"/>
                <a:ext cx="564980" cy="33333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1" name="MaizeStage3_Vein_3a"/>
              <p:cNvSpPr/>
              <p:nvPr/>
            </p:nvSpPr>
            <p:spPr>
              <a:xfrm flipH="1" flipV="1">
                <a:off x="5374152" y="3662372"/>
                <a:ext cx="276840" cy="7752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2" name="MaizeStage3_Vein_3b"/>
              <p:cNvSpPr/>
              <p:nvPr/>
            </p:nvSpPr>
            <p:spPr>
              <a:xfrm flipH="1">
                <a:off x="5165109" y="3662372"/>
                <a:ext cx="209043" cy="63334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3" name="MaizeStage3_Leaf_4"/>
              <p:cNvSpPr/>
              <p:nvPr/>
            </p:nvSpPr>
            <p:spPr>
              <a:xfrm>
                <a:off x="5650992" y="3232345"/>
                <a:ext cx="617595" cy="364381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4" name="MaizeStage3_Vein_4a"/>
              <p:cNvSpPr/>
              <p:nvPr/>
            </p:nvSpPr>
            <p:spPr>
              <a:xfrm flipV="1">
                <a:off x="5650992" y="3363522"/>
                <a:ext cx="302622" cy="8559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5" name="MaizeStage3_Vein_4b"/>
              <p:cNvSpPr/>
              <p:nvPr/>
            </p:nvSpPr>
            <p:spPr>
              <a:xfrm>
                <a:off x="5953614" y="3363522"/>
                <a:ext cx="228510" cy="6923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6" name="MaizeStage3_Leaf_5"/>
              <p:cNvSpPr/>
              <p:nvPr/>
            </p:nvSpPr>
            <p:spPr>
              <a:xfrm flipH="1">
                <a:off x="5120900" y="2973574"/>
                <a:ext cx="530092" cy="312754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7" name="MaizeStage3_Vein_5a"/>
              <p:cNvSpPr/>
              <p:nvPr/>
            </p:nvSpPr>
            <p:spPr>
              <a:xfrm flipH="1" flipV="1">
                <a:off x="5391247" y="3086166"/>
                <a:ext cx="259745" cy="7217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8" name="MaizeStage3_Vein_5b"/>
              <p:cNvSpPr/>
              <p:nvPr/>
            </p:nvSpPr>
            <p:spPr>
              <a:xfrm flipH="1">
                <a:off x="5195113" y="3086166"/>
                <a:ext cx="196134" cy="5942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29" name="MaizeStage3_Leaf_6"/>
              <p:cNvSpPr/>
              <p:nvPr/>
            </p:nvSpPr>
            <p:spPr>
              <a:xfrm>
                <a:off x="5650992" y="2408691"/>
                <a:ext cx="529904" cy="4875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0" name="MaizeStage3_Vein_6a"/>
              <p:cNvSpPr/>
              <p:nvPr/>
            </p:nvSpPr>
            <p:spPr>
              <a:xfrm flipV="1">
                <a:off x="5650992" y="2603696"/>
                <a:ext cx="222560" cy="26386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1" name="MaizeStage3_Vein_6b"/>
              <p:cNvSpPr/>
              <p:nvPr/>
            </p:nvSpPr>
            <p:spPr>
              <a:xfrm flipV="1">
                <a:off x="5873552" y="2476943"/>
                <a:ext cx="233158" cy="1267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2" name="MaizeStage3_Leaf_7"/>
              <p:cNvSpPr/>
              <p:nvPr/>
            </p:nvSpPr>
            <p:spPr>
              <a:xfrm flipH="1">
                <a:off x="5173703" y="2164381"/>
                <a:ext cx="477289" cy="43910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3" name="MaizeStage3_Vein_7a"/>
              <p:cNvSpPr/>
              <p:nvPr/>
            </p:nvSpPr>
            <p:spPr>
              <a:xfrm flipH="1" flipV="1">
                <a:off x="5450530" y="2340024"/>
                <a:ext cx="200462" cy="23675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4" name="MaizeStage3_Vein_7b"/>
              <p:cNvSpPr/>
              <p:nvPr/>
            </p:nvSpPr>
            <p:spPr>
              <a:xfrm flipH="1" flipV="1">
                <a:off x="5240523" y="2225856"/>
                <a:ext cx="210007" cy="11416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5" name="MaizeStage3_Leaf_8"/>
              <p:cNvSpPr/>
              <p:nvPr/>
            </p:nvSpPr>
            <p:spPr>
              <a:xfrm>
                <a:off x="5650992" y="1863547"/>
                <a:ext cx="292608" cy="64008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6" name="MaizeStage3_Vein_8a"/>
              <p:cNvSpPr/>
              <p:nvPr/>
            </p:nvSpPr>
            <p:spPr>
              <a:xfrm flipV="1">
                <a:off x="5650992" y="2119579"/>
                <a:ext cx="122895" cy="34930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7" name="MaizeStage3_Vein_8b"/>
              <p:cNvSpPr/>
              <p:nvPr/>
            </p:nvSpPr>
            <p:spPr>
              <a:xfrm flipV="1">
                <a:off x="5773887" y="1953158"/>
                <a:ext cx="128748" cy="16642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8" name="MaizeStage3_Leaf_9"/>
              <p:cNvSpPr/>
              <p:nvPr/>
            </p:nvSpPr>
            <p:spPr>
              <a:xfrm flipH="1">
                <a:off x="5367528" y="2005462"/>
                <a:ext cx="283464" cy="53035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39" name="MaizeStage3_Vein_9a"/>
              <p:cNvSpPr/>
              <p:nvPr/>
            </p:nvSpPr>
            <p:spPr>
              <a:xfrm flipH="1" flipV="1">
                <a:off x="5531937" y="2217603"/>
                <a:ext cx="119055" cy="28785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40" name="MaizeStage3_Vein_9b"/>
              <p:cNvSpPr/>
              <p:nvPr/>
            </p:nvSpPr>
            <p:spPr>
              <a:xfrm flipH="1" flipV="1">
                <a:off x="5407213" y="2079711"/>
                <a:ext cx="124724" cy="13789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41" name="MaizeStage3_Soil"/>
              <p:cNvSpPr/>
              <p:nvPr/>
            </p:nvSpPr>
            <p:spPr>
              <a:xfrm>
                <a:off x="5404104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942" name="MaizeStage4"/>
            <p:cNvGrpSpPr/>
            <p:nvPr/>
          </p:nvGrpSpPr>
          <p:grpSpPr>
            <a:xfrm>
              <a:off x="19893" y="8368"/>
              <a:ext cx="522" cy="1273"/>
              <a:chOff x="7309000" y="1425732"/>
              <a:chExt cx="1368939" cy="3320004"/>
            </a:xfrm>
          </p:grpSpPr>
          <p:sp>
            <p:nvSpPr>
              <p:cNvPr id="943" name="MaizeStage4_Stalk"/>
              <p:cNvSpPr/>
              <p:nvPr/>
            </p:nvSpPr>
            <p:spPr>
              <a:xfrm>
                <a:off x="7922819" y="1856232"/>
                <a:ext cx="101498" cy="28620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44" name="MaizeStage4_StalkHighlight"/>
              <p:cNvSpPr/>
              <p:nvPr/>
            </p:nvSpPr>
            <p:spPr>
              <a:xfrm>
                <a:off x="7962403" y="1901952"/>
                <a:ext cx="0" cy="27797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945" name="MaizeStage4_Leaf_1"/>
              <p:cNvSpPr/>
              <p:nvPr/>
            </p:nvSpPr>
            <p:spPr>
              <a:xfrm flipH="1">
                <a:off x="7429921" y="4017615"/>
                <a:ext cx="543647" cy="32075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46" name="MaizeStage4_Vein_1a"/>
              <p:cNvSpPr/>
              <p:nvPr/>
            </p:nvSpPr>
            <p:spPr>
              <a:xfrm flipH="1" flipV="1">
                <a:off x="7707181" y="4133086"/>
                <a:ext cx="266387" cy="7425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47" name="MaizeStage4_Vein_1b"/>
              <p:cNvSpPr/>
              <p:nvPr/>
            </p:nvSpPr>
            <p:spPr>
              <a:xfrm flipH="1">
                <a:off x="7506031" y="4133086"/>
                <a:ext cx="201150" cy="6094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48" name="MaizeStage4_Leaf_2"/>
              <p:cNvSpPr/>
              <p:nvPr/>
            </p:nvSpPr>
            <p:spPr>
              <a:xfrm>
                <a:off x="7973568" y="3737705"/>
                <a:ext cx="537181" cy="31693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49" name="MaizeStage4_Vein_2a"/>
              <p:cNvSpPr/>
              <p:nvPr/>
            </p:nvSpPr>
            <p:spPr>
              <a:xfrm flipV="1">
                <a:off x="7973568" y="3851802"/>
                <a:ext cx="263219" cy="7326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0" name="MaizeStage4_Vein_2b"/>
              <p:cNvSpPr/>
              <p:nvPr/>
            </p:nvSpPr>
            <p:spPr>
              <a:xfrm>
                <a:off x="8236787" y="3851802"/>
                <a:ext cx="198757" cy="6021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1" name="MaizeStage4_Leaf_3"/>
              <p:cNvSpPr/>
              <p:nvPr/>
            </p:nvSpPr>
            <p:spPr>
              <a:xfrm flipH="1">
                <a:off x="7336597" y="3418927"/>
                <a:ext cx="636971" cy="37581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2" name="MaizeStage4_Vein_3a"/>
              <p:cNvSpPr/>
              <p:nvPr/>
            </p:nvSpPr>
            <p:spPr>
              <a:xfrm flipH="1" flipV="1">
                <a:off x="7661452" y="3554219"/>
                <a:ext cx="312116" cy="8856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3" name="MaizeStage4_Vein_3b"/>
              <p:cNvSpPr/>
              <p:nvPr/>
            </p:nvSpPr>
            <p:spPr>
              <a:xfrm flipH="1">
                <a:off x="7425773" y="3554219"/>
                <a:ext cx="235679" cy="71404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4" name="MaizeStage4_Leaf_4"/>
              <p:cNvSpPr/>
              <p:nvPr/>
            </p:nvSpPr>
            <p:spPr>
              <a:xfrm>
                <a:off x="7973568" y="3119583"/>
                <a:ext cx="683633" cy="40334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5" name="MaizeStage4_Vein_4a"/>
              <p:cNvSpPr/>
              <p:nvPr/>
            </p:nvSpPr>
            <p:spPr>
              <a:xfrm flipV="1">
                <a:off x="7973568" y="3264786"/>
                <a:ext cx="334980" cy="9572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6" name="MaizeStage4_Vein_4b"/>
              <p:cNvSpPr/>
              <p:nvPr/>
            </p:nvSpPr>
            <p:spPr>
              <a:xfrm>
                <a:off x="8308548" y="3264786"/>
                <a:ext cx="252944" cy="76635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7" name="MaizeStage4_Leaf_5"/>
              <p:cNvSpPr/>
              <p:nvPr/>
            </p:nvSpPr>
            <p:spPr>
              <a:xfrm flipH="1">
                <a:off x="7309000" y="2844281"/>
                <a:ext cx="664568" cy="392095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8" name="MaizeStage4_Vein_5a"/>
              <p:cNvSpPr/>
              <p:nvPr/>
            </p:nvSpPr>
            <p:spPr>
              <a:xfrm flipH="1" flipV="1">
                <a:off x="7647930" y="2985435"/>
                <a:ext cx="325638" cy="9280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59" name="MaizeStage4_Vein_5b"/>
              <p:cNvSpPr/>
              <p:nvPr/>
            </p:nvSpPr>
            <p:spPr>
              <a:xfrm flipH="1">
                <a:off x="7402039" y="2985435"/>
                <a:ext cx="245890" cy="7449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0" name="MaizeStage4_Leaf_6"/>
              <p:cNvSpPr/>
              <p:nvPr/>
            </p:nvSpPr>
            <p:spPr>
              <a:xfrm>
                <a:off x="7973568" y="2547446"/>
                <a:ext cx="704371" cy="41557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1" name="MaizeStage4_Vein_6a"/>
              <p:cNvSpPr/>
              <p:nvPr/>
            </p:nvSpPr>
            <p:spPr>
              <a:xfrm flipV="1">
                <a:off x="7973568" y="2697054"/>
                <a:ext cx="345142" cy="9890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2" name="MaizeStage4_Vein_6b"/>
              <p:cNvSpPr/>
              <p:nvPr/>
            </p:nvSpPr>
            <p:spPr>
              <a:xfrm>
                <a:off x="8318710" y="2697054"/>
                <a:ext cx="260617" cy="78960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3" name="MaizeStage4_Leaf_7"/>
              <p:cNvSpPr/>
              <p:nvPr/>
            </p:nvSpPr>
            <p:spPr>
              <a:xfrm flipH="1">
                <a:off x="7315858" y="2282239"/>
                <a:ext cx="657710" cy="38804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4" name="MaizeStage4_Vein_7a"/>
              <p:cNvSpPr/>
              <p:nvPr/>
            </p:nvSpPr>
            <p:spPr>
              <a:xfrm flipH="1" flipV="1">
                <a:off x="7651290" y="2421937"/>
                <a:ext cx="322278" cy="9174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5" name="MaizeStage4_Vein_7b"/>
              <p:cNvSpPr/>
              <p:nvPr/>
            </p:nvSpPr>
            <p:spPr>
              <a:xfrm flipH="1">
                <a:off x="7407938" y="2421937"/>
                <a:ext cx="243353" cy="7372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6" name="MaizeStage4_Leaf_8"/>
              <p:cNvSpPr/>
              <p:nvPr/>
            </p:nvSpPr>
            <p:spPr>
              <a:xfrm>
                <a:off x="7973568" y="1749448"/>
                <a:ext cx="556053" cy="51156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7" name="MaizeStage4_Vein_8a"/>
              <p:cNvSpPr/>
              <p:nvPr/>
            </p:nvSpPr>
            <p:spPr>
              <a:xfrm flipV="1">
                <a:off x="7973568" y="1954076"/>
                <a:ext cx="233542" cy="27733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8" name="MaizeStage4_Vein_8b"/>
              <p:cNvSpPr/>
              <p:nvPr/>
            </p:nvSpPr>
            <p:spPr>
              <a:xfrm flipV="1">
                <a:off x="8207110" y="1821068"/>
                <a:ext cx="244664" cy="133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69" name="MaizeStage4_Leaf_9"/>
              <p:cNvSpPr/>
              <p:nvPr/>
            </p:nvSpPr>
            <p:spPr>
              <a:xfrm flipH="1">
                <a:off x="7409182" y="1459813"/>
                <a:ext cx="564386" cy="519235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0" name="MaizeStage4_Vein_9a"/>
              <p:cNvSpPr/>
              <p:nvPr/>
            </p:nvSpPr>
            <p:spPr>
              <a:xfrm flipH="1" flipV="1">
                <a:off x="7736526" y="1667507"/>
                <a:ext cx="237042" cy="28162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1" name="MaizeStage4_Vein_9b"/>
              <p:cNvSpPr/>
              <p:nvPr/>
            </p:nvSpPr>
            <p:spPr>
              <a:xfrm flipH="1" flipV="1">
                <a:off x="7488196" y="1532506"/>
                <a:ext cx="248330" cy="1350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2" name="MaizeStage4_Leaf_10"/>
              <p:cNvSpPr/>
              <p:nvPr/>
            </p:nvSpPr>
            <p:spPr>
              <a:xfrm flipH="1">
                <a:off x="7644384" y="1425732"/>
                <a:ext cx="329184" cy="6675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AB94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3" name="MaizeStage4_Vein_10a"/>
              <p:cNvSpPr/>
              <p:nvPr/>
            </p:nvSpPr>
            <p:spPr>
              <a:xfrm flipH="1" flipV="1">
                <a:off x="7835311" y="1692737"/>
                <a:ext cx="138257" cy="36466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4" name="MaizeStage4_Vein_10b"/>
              <p:cNvSpPr/>
              <p:nvPr/>
            </p:nvSpPr>
            <p:spPr>
              <a:xfrm flipH="1" flipV="1">
                <a:off x="7690470" y="1519184"/>
                <a:ext cx="144841" cy="1735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5" name="MaizeStage4_Leaf_11"/>
              <p:cNvSpPr/>
              <p:nvPr/>
            </p:nvSpPr>
            <p:spPr>
              <a:xfrm>
                <a:off x="7973568" y="1514978"/>
                <a:ext cx="310896" cy="6126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DC34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6" name="MaizeStage4_Vein_11a"/>
              <p:cNvSpPr/>
              <p:nvPr/>
            </p:nvSpPr>
            <p:spPr>
              <a:xfrm flipV="1">
                <a:off x="7973568" y="1760037"/>
                <a:ext cx="130576" cy="33393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7" name="MaizeStage4_Vein_11b"/>
              <p:cNvSpPr/>
              <p:nvPr/>
            </p:nvSpPr>
            <p:spPr>
              <a:xfrm flipV="1">
                <a:off x="8104144" y="1600749"/>
                <a:ext cx="136794" cy="15928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78" name="MaizeStage4_TasselAxis"/>
              <p:cNvSpPr/>
              <p:nvPr/>
            </p:nvSpPr>
            <p:spPr>
              <a:xfrm flipV="1">
                <a:off x="7973568" y="1783080"/>
                <a:ext cx="0" cy="374904"/>
              </a:xfrm>
              <a:prstGeom prst="line">
                <a:avLst/>
              </a:prstGeom>
              <a:noFill/>
              <a:ln w="9906">
                <a:solidFill>
                  <a:srgbClr val="E2AE24"/>
                </a:solidFill>
                <a:prstDash val="solid"/>
              </a:ln>
            </p:spPr>
          </p:sp>
          <p:sp>
            <p:nvSpPr>
              <p:cNvPr id="979" name="MaizeStage4_TasselBranch_1"/>
              <p:cNvSpPr/>
              <p:nvPr/>
            </p:nvSpPr>
            <p:spPr>
              <a:xfrm flipH="1" flipV="1">
                <a:off x="7744968" y="1947672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980" name="MaizeStage4_TasselAnther_1"/>
              <p:cNvSpPr/>
              <p:nvPr/>
            </p:nvSpPr>
            <p:spPr>
              <a:xfrm>
                <a:off x="7731252" y="193487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81" name="MaizeStage4_TasselBranch_2"/>
              <p:cNvSpPr/>
              <p:nvPr/>
            </p:nvSpPr>
            <p:spPr>
              <a:xfrm flipH="1" flipV="1">
                <a:off x="7790688" y="1810512"/>
                <a:ext cx="117043" cy="22860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982" name="MaizeStage4_TasselAnther_2"/>
              <p:cNvSpPr/>
              <p:nvPr/>
            </p:nvSpPr>
            <p:spPr>
              <a:xfrm>
                <a:off x="7776972" y="179771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83" name="MaizeStage4_TasselBranch_3"/>
              <p:cNvSpPr/>
              <p:nvPr/>
            </p:nvSpPr>
            <p:spPr>
              <a:xfrm flipH="1" flipV="1">
                <a:off x="7854696" y="1746504"/>
                <a:ext cx="76078" cy="292608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984" name="MaizeStage4_TasselAnther_3"/>
              <p:cNvSpPr/>
              <p:nvPr/>
            </p:nvSpPr>
            <p:spPr>
              <a:xfrm>
                <a:off x="7840980" y="173370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85" name="MaizeStage4_TasselBranch_4"/>
              <p:cNvSpPr/>
              <p:nvPr/>
            </p:nvSpPr>
            <p:spPr>
              <a:xfrm flipH="1" flipV="1">
                <a:off x="7909560" y="1673352"/>
                <a:ext cx="40965" cy="36576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986" name="MaizeStage4_TasselAnther_4"/>
              <p:cNvSpPr/>
              <p:nvPr/>
            </p:nvSpPr>
            <p:spPr>
              <a:xfrm>
                <a:off x="7895844" y="166055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87" name="MaizeStage4_TasselBranch_5"/>
              <p:cNvSpPr/>
              <p:nvPr/>
            </p:nvSpPr>
            <p:spPr>
              <a:xfrm flipV="1">
                <a:off x="7993319" y="1673352"/>
                <a:ext cx="35113" cy="36576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988" name="MaizeStage4_TasselAnther_5"/>
              <p:cNvSpPr/>
              <p:nvPr/>
            </p:nvSpPr>
            <p:spPr>
              <a:xfrm>
                <a:off x="8014716" y="166055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89" name="MaizeStage4_TasselBranch_6"/>
              <p:cNvSpPr/>
              <p:nvPr/>
            </p:nvSpPr>
            <p:spPr>
              <a:xfrm flipV="1">
                <a:off x="8016362" y="1737360"/>
                <a:ext cx="76078" cy="301752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990" name="MaizeStage4_TasselAnther_6"/>
              <p:cNvSpPr/>
              <p:nvPr/>
            </p:nvSpPr>
            <p:spPr>
              <a:xfrm>
                <a:off x="8078724" y="1724558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91" name="MaizeStage4_TasselBranch_7"/>
              <p:cNvSpPr/>
              <p:nvPr/>
            </p:nvSpPr>
            <p:spPr>
              <a:xfrm flipV="1">
                <a:off x="8039405" y="1819656"/>
                <a:ext cx="117043" cy="219456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992" name="MaizeStage4_TasselAnther_7"/>
              <p:cNvSpPr/>
              <p:nvPr/>
            </p:nvSpPr>
            <p:spPr>
              <a:xfrm>
                <a:off x="8142732" y="1806854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93" name="MaizeStage4_TasselBranch_8"/>
              <p:cNvSpPr/>
              <p:nvPr/>
            </p:nvSpPr>
            <p:spPr>
              <a:xfrm flipV="1">
                <a:off x="8055864" y="1947672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994" name="MaizeStage4_TasselAnther_8"/>
              <p:cNvSpPr/>
              <p:nvPr/>
            </p:nvSpPr>
            <p:spPr>
              <a:xfrm>
                <a:off x="8188452" y="193487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995" name="MaizeStage4_Ear"/>
              <p:cNvSpPr/>
              <p:nvPr/>
            </p:nvSpPr>
            <p:spPr>
              <a:xfrm rot="-540000">
                <a:off x="7827264" y="3214207"/>
                <a:ext cx="109728" cy="292608"/>
              </a:xfrm>
              <a:prstGeom prst="ellipse">
                <a:avLst/>
              </a:prstGeom>
              <a:solidFill>
                <a:srgbClr val="F3C83C"/>
              </a:solidFill>
              <a:ln w="3556">
                <a:solidFill>
                  <a:srgbClr val="D3A825"/>
                </a:solidFill>
                <a:prstDash val="solid"/>
              </a:ln>
            </p:spPr>
          </p:sp>
          <p:sp>
            <p:nvSpPr>
              <p:cNvPr id="996" name="MaizeStage4_Husk"/>
              <p:cNvSpPr/>
              <p:nvPr/>
            </p:nvSpPr>
            <p:spPr>
              <a:xfrm flipH="1">
                <a:off x="7781544" y="3250783"/>
                <a:ext cx="155448" cy="31089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410" y="960"/>
                    </a:moveTo>
                    <a:cubicBezTo>
                      <a:pt x="105" y="650"/>
                      <a:pt x="40" y="210"/>
                      <a:pt x="335" y="0"/>
                    </a:cubicBezTo>
                    <a:cubicBezTo>
                      <a:pt x="390" y="288"/>
                      <a:pt x="795" y="690"/>
                      <a:pt x="410" y="960"/>
                    </a:cubicBezTo>
                    <a:close/>
                  </a:path>
                </a:pathLst>
              </a:custGeom>
              <a:solidFill>
                <a:srgbClr val="44983B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97" name="MaizeStage4_EarNode"/>
              <p:cNvSpPr/>
              <p:nvPr/>
            </p:nvSpPr>
            <p:spPr>
              <a:xfrm flipH="1" flipV="1">
                <a:off x="7882128" y="3442807"/>
                <a:ext cx="91440" cy="36576"/>
              </a:xfrm>
              <a:prstGeom prst="line">
                <a:avLst/>
              </a:prstGeom>
              <a:noFill/>
              <a:ln w="8636">
                <a:solidFill>
                  <a:srgbClr val="175D30"/>
                </a:solidFill>
                <a:prstDash val="solid"/>
              </a:ln>
            </p:spPr>
          </p:sp>
          <p:sp>
            <p:nvSpPr>
              <p:cNvPr id="998" name="MaizeStage4_Soil"/>
              <p:cNvSpPr/>
              <p:nvPr/>
            </p:nvSpPr>
            <p:spPr>
              <a:xfrm>
                <a:off x="7726680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1002" name="MaizeStage1"/>
            <p:cNvGrpSpPr/>
            <p:nvPr/>
          </p:nvGrpSpPr>
          <p:grpSpPr>
            <a:xfrm>
              <a:off x="11367" y="12302"/>
              <a:ext cx="316" cy="767"/>
              <a:chOff x="885624" y="3145536"/>
              <a:chExt cx="659994" cy="1600200"/>
            </a:xfrm>
          </p:grpSpPr>
          <p:sp>
            <p:nvSpPr>
              <p:cNvPr id="1003" name="MaizeStage1_Stalk"/>
              <p:cNvSpPr/>
              <p:nvPr/>
            </p:nvSpPr>
            <p:spPr>
              <a:xfrm>
                <a:off x="1150315" y="3456432"/>
                <a:ext cx="76810" cy="12618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04" name="MaizeStage1_StalkHighlight"/>
              <p:cNvSpPr/>
              <p:nvPr/>
            </p:nvSpPr>
            <p:spPr>
              <a:xfrm>
                <a:off x="1180271" y="3502152"/>
                <a:ext cx="0" cy="11795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1005" name="MaizeStage1_Leaf_1"/>
              <p:cNvSpPr/>
              <p:nvPr/>
            </p:nvSpPr>
            <p:spPr>
              <a:xfrm flipH="1">
                <a:off x="896761" y="4377233"/>
                <a:ext cx="291959" cy="2103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06" name="MaizeStage1_Vein_1a"/>
              <p:cNvSpPr/>
              <p:nvPr/>
            </p:nvSpPr>
            <p:spPr>
              <a:xfrm flipH="1" flipV="1">
                <a:off x="1045660" y="4452945"/>
                <a:ext cx="143060" cy="4553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07" name="MaizeStage1_Vein_1b"/>
              <p:cNvSpPr/>
              <p:nvPr/>
            </p:nvSpPr>
            <p:spPr>
              <a:xfrm flipH="1">
                <a:off x="937635" y="4452945"/>
                <a:ext cx="108025" cy="3995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08" name="MaizeStage1_Leaf_2"/>
              <p:cNvSpPr/>
              <p:nvPr/>
            </p:nvSpPr>
            <p:spPr>
              <a:xfrm>
                <a:off x="1188720" y="3903048"/>
                <a:ext cx="356898" cy="21057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09" name="MaizeStage1_Vein_2a"/>
              <p:cNvSpPr/>
              <p:nvPr/>
            </p:nvSpPr>
            <p:spPr>
              <a:xfrm flipV="1">
                <a:off x="1188720" y="3978853"/>
                <a:ext cx="174880" cy="45604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0" name="MaizeStage1_Vein_2b"/>
              <p:cNvSpPr/>
              <p:nvPr/>
            </p:nvSpPr>
            <p:spPr>
              <a:xfrm>
                <a:off x="1363600" y="3978853"/>
                <a:ext cx="132052" cy="40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1" name="MaizeStage1_Leaf_3"/>
              <p:cNvSpPr/>
              <p:nvPr/>
            </p:nvSpPr>
            <p:spPr>
              <a:xfrm flipH="1">
                <a:off x="885624" y="3291882"/>
                <a:ext cx="303096" cy="2788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2" name="MaizeStage1_Vein_3a"/>
              <p:cNvSpPr/>
              <p:nvPr/>
            </p:nvSpPr>
            <p:spPr>
              <a:xfrm flipH="1" flipV="1">
                <a:off x="1061420" y="3403421"/>
                <a:ext cx="127300" cy="14701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3" name="MaizeStage1_Vein_3b"/>
              <p:cNvSpPr/>
              <p:nvPr/>
            </p:nvSpPr>
            <p:spPr>
              <a:xfrm flipH="1" flipV="1">
                <a:off x="928057" y="3330921"/>
                <a:ext cx="133362" cy="725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4" name="MaizeStage1_Leaf_4"/>
              <p:cNvSpPr/>
              <p:nvPr/>
            </p:nvSpPr>
            <p:spPr>
              <a:xfrm>
                <a:off x="1188720" y="3145536"/>
                <a:ext cx="219456" cy="457200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2BE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5" name="MaizeStage1_Vein_4a"/>
              <p:cNvSpPr/>
              <p:nvPr/>
            </p:nvSpPr>
            <p:spPr>
              <a:xfrm flipV="1">
                <a:off x="1188720" y="3328416"/>
                <a:ext cx="92172" cy="24688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6" name="MaizeStage1_Vein_4b"/>
              <p:cNvSpPr/>
              <p:nvPr/>
            </p:nvSpPr>
            <p:spPr>
              <a:xfrm flipV="1">
                <a:off x="1280892" y="3209544"/>
                <a:ext cx="96561" cy="11887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7" name="MaizeStage1_Leaf_5"/>
              <p:cNvSpPr/>
              <p:nvPr/>
            </p:nvSpPr>
            <p:spPr>
              <a:xfrm flipH="1">
                <a:off x="996696" y="3252338"/>
                <a:ext cx="192024" cy="3840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1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8" name="MaizeStage1_Vein_5a"/>
              <p:cNvSpPr/>
              <p:nvPr/>
            </p:nvSpPr>
            <p:spPr>
              <a:xfrm flipH="1" flipV="1">
                <a:off x="1108070" y="3405957"/>
                <a:ext cx="80650" cy="20592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19" name="MaizeStage1_Vein_5b"/>
              <p:cNvSpPr/>
              <p:nvPr/>
            </p:nvSpPr>
            <p:spPr>
              <a:xfrm flipH="1" flipV="1">
                <a:off x="1023579" y="3306105"/>
                <a:ext cx="84491" cy="99852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20" name="MaizeStage1_Soil"/>
              <p:cNvSpPr/>
              <p:nvPr/>
            </p:nvSpPr>
            <p:spPr>
              <a:xfrm>
                <a:off x="941832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grpSp>
          <p:nvGrpSpPr>
            <p:cNvPr id="1021" name="MaizeStage4"/>
            <p:cNvGrpSpPr/>
            <p:nvPr/>
          </p:nvGrpSpPr>
          <p:grpSpPr>
            <a:xfrm>
              <a:off x="14530" y="12056"/>
              <a:ext cx="435" cy="1062"/>
              <a:chOff x="7309000" y="1425732"/>
              <a:chExt cx="1368939" cy="3320004"/>
            </a:xfrm>
          </p:grpSpPr>
          <p:sp>
            <p:nvSpPr>
              <p:cNvPr id="1022" name="MaizeStage4_Stalk"/>
              <p:cNvSpPr/>
              <p:nvPr/>
            </p:nvSpPr>
            <p:spPr>
              <a:xfrm>
                <a:off x="7922819" y="1856232"/>
                <a:ext cx="101498" cy="286207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25" y="0"/>
                    </a:moveTo>
                    <a:lnTo>
                      <a:pt x="60" y="0"/>
                    </a:lnTo>
                    <a:lnTo>
                      <a:pt x="94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175D30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23" name="MaizeStage4_StalkHighlight"/>
              <p:cNvSpPr/>
              <p:nvPr/>
            </p:nvSpPr>
            <p:spPr>
              <a:xfrm>
                <a:off x="7962403" y="1901952"/>
                <a:ext cx="0" cy="2779776"/>
              </a:xfrm>
              <a:prstGeom prst="line">
                <a:avLst/>
              </a:prstGeom>
              <a:noFill/>
              <a:ln w="5080">
                <a:solidFill>
                  <a:srgbClr val="9BCC66"/>
                </a:solidFill>
                <a:prstDash val="solid"/>
              </a:ln>
            </p:spPr>
          </p:sp>
          <p:sp>
            <p:nvSpPr>
              <p:cNvPr id="1024" name="MaizeStage4_Leaf_1"/>
              <p:cNvSpPr/>
              <p:nvPr/>
            </p:nvSpPr>
            <p:spPr>
              <a:xfrm flipH="1">
                <a:off x="7429921" y="4017615"/>
                <a:ext cx="543647" cy="32075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25" name="MaizeStage4_Vein_1a"/>
              <p:cNvSpPr/>
              <p:nvPr/>
            </p:nvSpPr>
            <p:spPr>
              <a:xfrm flipH="1" flipV="1">
                <a:off x="7707181" y="4133086"/>
                <a:ext cx="266387" cy="74252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26" name="MaizeStage4_Vein_1b"/>
              <p:cNvSpPr/>
              <p:nvPr/>
            </p:nvSpPr>
            <p:spPr>
              <a:xfrm flipH="1">
                <a:off x="7506031" y="4133086"/>
                <a:ext cx="201150" cy="6094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27" name="MaizeStage4_Leaf_2"/>
              <p:cNvSpPr/>
              <p:nvPr/>
            </p:nvSpPr>
            <p:spPr>
              <a:xfrm>
                <a:off x="7973568" y="3737705"/>
                <a:ext cx="537181" cy="316937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28" name="MaizeStage4_Vein_2a"/>
              <p:cNvSpPr/>
              <p:nvPr/>
            </p:nvSpPr>
            <p:spPr>
              <a:xfrm flipV="1">
                <a:off x="7973568" y="3851802"/>
                <a:ext cx="263219" cy="73260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29" name="MaizeStage4_Vein_2b"/>
              <p:cNvSpPr/>
              <p:nvPr/>
            </p:nvSpPr>
            <p:spPr>
              <a:xfrm>
                <a:off x="8236787" y="3851802"/>
                <a:ext cx="198757" cy="6021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0" name="MaizeStage4_Leaf_3"/>
              <p:cNvSpPr/>
              <p:nvPr/>
            </p:nvSpPr>
            <p:spPr>
              <a:xfrm flipH="1">
                <a:off x="7336597" y="3418927"/>
                <a:ext cx="636971" cy="37581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1" name="MaizeStage4_Vein_3a"/>
              <p:cNvSpPr/>
              <p:nvPr/>
            </p:nvSpPr>
            <p:spPr>
              <a:xfrm flipH="1" flipV="1">
                <a:off x="7661452" y="3554219"/>
                <a:ext cx="312116" cy="8856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2" name="MaizeStage4_Vein_3b"/>
              <p:cNvSpPr/>
              <p:nvPr/>
            </p:nvSpPr>
            <p:spPr>
              <a:xfrm flipH="1">
                <a:off x="7425773" y="3554219"/>
                <a:ext cx="235679" cy="71404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3" name="MaizeStage4_Leaf_4"/>
              <p:cNvSpPr/>
              <p:nvPr/>
            </p:nvSpPr>
            <p:spPr>
              <a:xfrm>
                <a:off x="7973568" y="3119583"/>
                <a:ext cx="683633" cy="403343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4" name="MaizeStage4_Vein_4a"/>
              <p:cNvSpPr/>
              <p:nvPr/>
            </p:nvSpPr>
            <p:spPr>
              <a:xfrm flipV="1">
                <a:off x="7973568" y="3264786"/>
                <a:ext cx="334980" cy="9572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5" name="MaizeStage4_Vein_4b"/>
              <p:cNvSpPr/>
              <p:nvPr/>
            </p:nvSpPr>
            <p:spPr>
              <a:xfrm>
                <a:off x="8308548" y="3264786"/>
                <a:ext cx="252944" cy="76635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6" name="MaizeStage4_Leaf_5"/>
              <p:cNvSpPr/>
              <p:nvPr/>
            </p:nvSpPr>
            <p:spPr>
              <a:xfrm flipH="1">
                <a:off x="7309000" y="2844281"/>
                <a:ext cx="664568" cy="392095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78BE4E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7" name="MaizeStage4_Vein_5a"/>
              <p:cNvSpPr/>
              <p:nvPr/>
            </p:nvSpPr>
            <p:spPr>
              <a:xfrm flipH="1" flipV="1">
                <a:off x="7647930" y="2985435"/>
                <a:ext cx="325638" cy="92801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8" name="MaizeStage4_Vein_5b"/>
              <p:cNvSpPr/>
              <p:nvPr/>
            </p:nvSpPr>
            <p:spPr>
              <a:xfrm flipH="1">
                <a:off x="7402039" y="2985435"/>
                <a:ext cx="245890" cy="7449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39" name="MaizeStage4_Leaf_6"/>
              <p:cNvSpPr/>
              <p:nvPr/>
            </p:nvSpPr>
            <p:spPr>
              <a:xfrm>
                <a:off x="7973568" y="2547446"/>
                <a:ext cx="704371" cy="41557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20"/>
                    </a:moveTo>
                    <a:cubicBezTo>
                      <a:pt x="145" y="535"/>
                      <a:pt x="240" y="165"/>
                      <a:pt x="465" y="105"/>
                    </a:cubicBezTo>
                    <a:cubicBezTo>
                      <a:pt x="655" y="55"/>
                      <a:pt x="850" y="520"/>
                      <a:pt x="1000" y="785"/>
                    </a:cubicBezTo>
                    <a:cubicBezTo>
                      <a:pt x="782" y="555"/>
                      <a:pt x="655" y="337"/>
                      <a:pt x="495" y="386"/>
                    </a:cubicBezTo>
                    <a:cubicBezTo>
                      <a:pt x="310" y="435"/>
                      <a:pt x="205" y="735"/>
                      <a:pt x="0" y="700"/>
                    </a:cubicBezTo>
                    <a:close/>
                  </a:path>
                </a:pathLst>
              </a:custGeom>
              <a:solidFill>
                <a:srgbClr val="3B943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0" name="MaizeStage4_Vein_6a"/>
              <p:cNvSpPr/>
              <p:nvPr/>
            </p:nvSpPr>
            <p:spPr>
              <a:xfrm flipV="1">
                <a:off x="7973568" y="2697054"/>
                <a:ext cx="345142" cy="98907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1" name="MaizeStage4_Vein_6b"/>
              <p:cNvSpPr/>
              <p:nvPr/>
            </p:nvSpPr>
            <p:spPr>
              <a:xfrm>
                <a:off x="8318710" y="2697054"/>
                <a:ext cx="260617" cy="78960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2" name="MaizeStage4_Leaf_7"/>
              <p:cNvSpPr/>
              <p:nvPr/>
            </p:nvSpPr>
            <p:spPr>
              <a:xfrm flipH="1">
                <a:off x="7315858" y="2282239"/>
                <a:ext cx="657710" cy="38804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690"/>
                    </a:moveTo>
                    <a:cubicBezTo>
                      <a:pt x="150" y="460"/>
                      <a:pt x="360" y="225"/>
                      <a:pt x="595" y="215"/>
                    </a:cubicBezTo>
                    <a:cubicBezTo>
                      <a:pt x="755" y="205"/>
                      <a:pt x="935" y="275"/>
                      <a:pt x="1000" y="492"/>
                    </a:cubicBezTo>
                    <a:cubicBezTo>
                      <a:pt x="785" y="395"/>
                      <a:pt x="670" y="401"/>
                      <a:pt x="565" y="435"/>
                    </a:cubicBezTo>
                    <a:cubicBezTo>
                      <a:pt x="300" y="535"/>
                      <a:pt x="175" y="745"/>
                      <a:pt x="0" y="735"/>
                    </a:cubicBezTo>
                    <a:close/>
                  </a:path>
                </a:pathLst>
              </a:custGeom>
              <a:solidFill>
                <a:srgbClr val="56AB3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3" name="MaizeStage4_Vein_7a"/>
              <p:cNvSpPr/>
              <p:nvPr/>
            </p:nvSpPr>
            <p:spPr>
              <a:xfrm flipH="1" flipV="1">
                <a:off x="7651290" y="2421937"/>
                <a:ext cx="322278" cy="9174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4" name="MaizeStage4_Vein_7b"/>
              <p:cNvSpPr/>
              <p:nvPr/>
            </p:nvSpPr>
            <p:spPr>
              <a:xfrm flipH="1">
                <a:off x="7407938" y="2421937"/>
                <a:ext cx="243353" cy="73729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5" name="MaizeStage4_Leaf_8"/>
              <p:cNvSpPr/>
              <p:nvPr/>
            </p:nvSpPr>
            <p:spPr>
              <a:xfrm>
                <a:off x="7973568" y="1749448"/>
                <a:ext cx="556053" cy="511569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4C9E3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6" name="MaizeStage4_Vein_8a"/>
              <p:cNvSpPr/>
              <p:nvPr/>
            </p:nvSpPr>
            <p:spPr>
              <a:xfrm flipV="1">
                <a:off x="7973568" y="1954076"/>
                <a:ext cx="233542" cy="277335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7" name="MaizeStage4_Vein_8b"/>
              <p:cNvSpPr/>
              <p:nvPr/>
            </p:nvSpPr>
            <p:spPr>
              <a:xfrm flipV="1">
                <a:off x="8207110" y="1821068"/>
                <a:ext cx="244664" cy="13300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8" name="MaizeStage4_Leaf_9"/>
              <p:cNvSpPr/>
              <p:nvPr/>
            </p:nvSpPr>
            <p:spPr>
              <a:xfrm flipH="1">
                <a:off x="7409182" y="1459813"/>
                <a:ext cx="564386" cy="519235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5B748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49" name="MaizeStage4_Vein_9a"/>
              <p:cNvSpPr/>
              <p:nvPr/>
            </p:nvSpPr>
            <p:spPr>
              <a:xfrm flipH="1" flipV="1">
                <a:off x="7736526" y="1667507"/>
                <a:ext cx="237042" cy="281628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0" name="MaizeStage4_Vein_9b"/>
              <p:cNvSpPr/>
              <p:nvPr/>
            </p:nvSpPr>
            <p:spPr>
              <a:xfrm flipH="1" flipV="1">
                <a:off x="7488196" y="1532506"/>
                <a:ext cx="248330" cy="135001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1" name="MaizeStage4_Leaf_10"/>
              <p:cNvSpPr/>
              <p:nvPr/>
            </p:nvSpPr>
            <p:spPr>
              <a:xfrm flipH="1">
                <a:off x="7644384" y="1425732"/>
                <a:ext cx="329184" cy="667512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6AB947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2" name="MaizeStage4_Vein_10a"/>
              <p:cNvSpPr/>
              <p:nvPr/>
            </p:nvSpPr>
            <p:spPr>
              <a:xfrm flipH="1" flipV="1">
                <a:off x="7835311" y="1692737"/>
                <a:ext cx="138257" cy="364663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3" name="MaizeStage4_Vein_10b"/>
              <p:cNvSpPr/>
              <p:nvPr/>
            </p:nvSpPr>
            <p:spPr>
              <a:xfrm flipH="1" flipV="1">
                <a:off x="7690470" y="1519184"/>
                <a:ext cx="144841" cy="173553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4" name="MaizeStage4_Leaf_11"/>
              <p:cNvSpPr/>
              <p:nvPr/>
            </p:nvSpPr>
            <p:spPr>
              <a:xfrm>
                <a:off x="7973568" y="1514978"/>
                <a:ext cx="310896" cy="612648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0" y="970"/>
                    </a:moveTo>
                    <a:cubicBezTo>
                      <a:pt x="90" y="755"/>
                      <a:pt x="215" y="290"/>
                      <a:pt x="665" y="50"/>
                    </a:cubicBezTo>
                    <a:cubicBezTo>
                      <a:pt x="785" y="0"/>
                      <a:pt x="935" y="12"/>
                      <a:pt x="1000" y="16"/>
                    </a:cubicBezTo>
                    <a:cubicBezTo>
                      <a:pt x="742" y="175"/>
                      <a:pt x="485" y="370"/>
                      <a:pt x="302" y="758"/>
                    </a:cubicBezTo>
                    <a:cubicBezTo>
                      <a:pt x="220" y="915"/>
                      <a:pt x="100" y="955"/>
                      <a:pt x="0" y="970"/>
                    </a:cubicBezTo>
                    <a:close/>
                  </a:path>
                </a:pathLst>
              </a:custGeom>
              <a:solidFill>
                <a:srgbClr val="7DC34D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5" name="MaizeStage4_Vein_11a"/>
              <p:cNvSpPr/>
              <p:nvPr/>
            </p:nvSpPr>
            <p:spPr>
              <a:xfrm flipV="1">
                <a:off x="7973568" y="1760037"/>
                <a:ext cx="130576" cy="333939"/>
              </a:xfrm>
              <a:prstGeom prst="line">
                <a:avLst/>
              </a:prstGeom>
              <a:noFill/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6" name="MaizeStage4_Vein_11b"/>
              <p:cNvSpPr/>
              <p:nvPr/>
            </p:nvSpPr>
            <p:spPr>
              <a:xfrm flipV="1">
                <a:off x="8104144" y="1600749"/>
                <a:ext cx="136794" cy="159288"/>
              </a:xfrm>
              <a:prstGeom prst="line">
                <a:avLst/>
              </a:prstGeom>
              <a:noFill/>
              <a:ln w="2794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57" name="MaizeStage4_TasselAxis"/>
              <p:cNvSpPr/>
              <p:nvPr/>
            </p:nvSpPr>
            <p:spPr>
              <a:xfrm flipV="1">
                <a:off x="7973568" y="1783080"/>
                <a:ext cx="0" cy="374904"/>
              </a:xfrm>
              <a:prstGeom prst="line">
                <a:avLst/>
              </a:prstGeom>
              <a:noFill/>
              <a:ln w="9906">
                <a:solidFill>
                  <a:srgbClr val="E2AE24"/>
                </a:solidFill>
                <a:prstDash val="solid"/>
              </a:ln>
            </p:spPr>
          </p:sp>
          <p:sp>
            <p:nvSpPr>
              <p:cNvPr id="1058" name="MaizeStage4_TasselBranch_1"/>
              <p:cNvSpPr/>
              <p:nvPr/>
            </p:nvSpPr>
            <p:spPr>
              <a:xfrm flipH="1" flipV="1">
                <a:off x="7744968" y="1947672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1059" name="MaizeStage4_TasselAnther_1"/>
              <p:cNvSpPr/>
              <p:nvPr/>
            </p:nvSpPr>
            <p:spPr>
              <a:xfrm>
                <a:off x="7731252" y="193487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60" name="MaizeStage4_TasselBranch_2"/>
              <p:cNvSpPr/>
              <p:nvPr/>
            </p:nvSpPr>
            <p:spPr>
              <a:xfrm flipH="1" flipV="1">
                <a:off x="7790688" y="1810512"/>
                <a:ext cx="117043" cy="22860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1061" name="MaizeStage4_TasselAnther_2"/>
              <p:cNvSpPr/>
              <p:nvPr/>
            </p:nvSpPr>
            <p:spPr>
              <a:xfrm>
                <a:off x="7776972" y="179771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62" name="MaizeStage4_TasselBranch_3"/>
              <p:cNvSpPr/>
              <p:nvPr/>
            </p:nvSpPr>
            <p:spPr>
              <a:xfrm flipH="1" flipV="1">
                <a:off x="7854696" y="1746504"/>
                <a:ext cx="76078" cy="292608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1063" name="MaizeStage4_TasselAnther_3"/>
              <p:cNvSpPr/>
              <p:nvPr/>
            </p:nvSpPr>
            <p:spPr>
              <a:xfrm>
                <a:off x="7840980" y="1733702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64" name="MaizeStage4_TasselBranch_4"/>
              <p:cNvSpPr/>
              <p:nvPr/>
            </p:nvSpPr>
            <p:spPr>
              <a:xfrm flipH="1" flipV="1">
                <a:off x="7909560" y="1673352"/>
                <a:ext cx="40965" cy="365760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1065" name="MaizeStage4_TasselAnther_4"/>
              <p:cNvSpPr/>
              <p:nvPr/>
            </p:nvSpPr>
            <p:spPr>
              <a:xfrm>
                <a:off x="7895844" y="166055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66" name="MaizeStage4_TasselBranch_5"/>
              <p:cNvSpPr/>
              <p:nvPr/>
            </p:nvSpPr>
            <p:spPr>
              <a:xfrm flipV="1">
                <a:off x="7993319" y="1673352"/>
                <a:ext cx="35113" cy="36576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1067" name="MaizeStage4_TasselAnther_5"/>
              <p:cNvSpPr/>
              <p:nvPr/>
            </p:nvSpPr>
            <p:spPr>
              <a:xfrm>
                <a:off x="8014716" y="166055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68" name="MaizeStage4_TasselBranch_6"/>
              <p:cNvSpPr/>
              <p:nvPr/>
            </p:nvSpPr>
            <p:spPr>
              <a:xfrm flipV="1">
                <a:off x="8016362" y="1737360"/>
                <a:ext cx="76078" cy="301752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1069" name="MaizeStage4_TasselAnther_6"/>
              <p:cNvSpPr/>
              <p:nvPr/>
            </p:nvSpPr>
            <p:spPr>
              <a:xfrm>
                <a:off x="8078724" y="1724558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70" name="MaizeStage4_TasselBranch_7"/>
              <p:cNvSpPr/>
              <p:nvPr/>
            </p:nvSpPr>
            <p:spPr>
              <a:xfrm flipV="1">
                <a:off x="8039405" y="1819656"/>
                <a:ext cx="117043" cy="219456"/>
              </a:xfrm>
              <a:prstGeom prst="line">
                <a:avLst/>
              </a:prstGeom>
              <a:noFill/>
              <a:ln w="6985">
                <a:solidFill>
                  <a:srgbClr val="F0C94F"/>
                </a:solidFill>
                <a:prstDash val="solid"/>
              </a:ln>
            </p:spPr>
          </p:sp>
          <p:sp>
            <p:nvSpPr>
              <p:cNvPr id="1071" name="MaizeStage4_TasselAnther_7"/>
              <p:cNvSpPr/>
              <p:nvPr/>
            </p:nvSpPr>
            <p:spPr>
              <a:xfrm>
                <a:off x="8142732" y="1806854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72" name="MaizeStage4_TasselBranch_8"/>
              <p:cNvSpPr/>
              <p:nvPr/>
            </p:nvSpPr>
            <p:spPr>
              <a:xfrm flipV="1">
                <a:off x="8055864" y="1947672"/>
                <a:ext cx="146304" cy="91440"/>
              </a:xfrm>
              <a:prstGeom prst="line">
                <a:avLst/>
              </a:prstGeom>
              <a:noFill/>
              <a:ln w="6985">
                <a:solidFill>
                  <a:srgbClr val="D8A51A"/>
                </a:solidFill>
                <a:prstDash val="solid"/>
              </a:ln>
            </p:spPr>
          </p:sp>
          <p:sp>
            <p:nvSpPr>
              <p:cNvPr id="1073" name="MaizeStage4_TasselAnther_8"/>
              <p:cNvSpPr/>
              <p:nvPr/>
            </p:nvSpPr>
            <p:spPr>
              <a:xfrm>
                <a:off x="8188452" y="1934870"/>
                <a:ext cx="25603" cy="35662"/>
              </a:xfrm>
              <a:prstGeom prst="ellipse">
                <a:avLst/>
              </a:prstGeom>
              <a:solidFill>
                <a:srgbClr val="EBC95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74" name="MaizeStage4_Ear"/>
              <p:cNvSpPr/>
              <p:nvPr/>
            </p:nvSpPr>
            <p:spPr>
              <a:xfrm rot="-540000">
                <a:off x="7827264" y="3214207"/>
                <a:ext cx="109728" cy="292608"/>
              </a:xfrm>
              <a:prstGeom prst="ellipse">
                <a:avLst/>
              </a:prstGeom>
              <a:solidFill>
                <a:srgbClr val="F3C83C"/>
              </a:solidFill>
              <a:ln w="3556">
                <a:solidFill>
                  <a:srgbClr val="D3A825"/>
                </a:solidFill>
                <a:prstDash val="solid"/>
              </a:ln>
            </p:spPr>
          </p:sp>
          <p:sp>
            <p:nvSpPr>
              <p:cNvPr id="1075" name="MaizeStage4_Husk"/>
              <p:cNvSpPr/>
              <p:nvPr/>
            </p:nvSpPr>
            <p:spPr>
              <a:xfrm flipH="1">
                <a:off x="7781544" y="3250783"/>
                <a:ext cx="155448" cy="310896"/>
              </a:xfrm>
              <a:custGeom>
                <a:avLst/>
                <a:gdLst/>
                <a:ahLst/>
                <a:cxnLst/>
                <a:rect l="0" t="0" r="w" b="h"/>
                <a:pathLst>
                  <a:path w="1000" h="1000">
                    <a:moveTo>
                      <a:pt x="410" y="960"/>
                    </a:moveTo>
                    <a:cubicBezTo>
                      <a:pt x="105" y="650"/>
                      <a:pt x="40" y="210"/>
                      <a:pt x="335" y="0"/>
                    </a:cubicBezTo>
                    <a:cubicBezTo>
                      <a:pt x="390" y="288"/>
                      <a:pt x="795" y="690"/>
                      <a:pt x="410" y="960"/>
                    </a:cubicBezTo>
                    <a:close/>
                  </a:path>
                </a:pathLst>
              </a:custGeom>
              <a:solidFill>
                <a:srgbClr val="44983B"/>
              </a:solidFill>
              <a:ln w="3429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76" name="MaizeStage4_EarNode"/>
              <p:cNvSpPr/>
              <p:nvPr/>
            </p:nvSpPr>
            <p:spPr>
              <a:xfrm flipH="1" flipV="1">
                <a:off x="7882128" y="3442807"/>
                <a:ext cx="91440" cy="36576"/>
              </a:xfrm>
              <a:prstGeom prst="line">
                <a:avLst/>
              </a:prstGeom>
              <a:noFill/>
              <a:ln w="8636">
                <a:solidFill>
                  <a:srgbClr val="175D30"/>
                </a:solidFill>
                <a:prstDash val="solid"/>
              </a:ln>
            </p:spPr>
          </p:sp>
          <p:sp>
            <p:nvSpPr>
              <p:cNvPr id="1077" name="MaizeStage4_Soil"/>
              <p:cNvSpPr/>
              <p:nvPr/>
            </p:nvSpPr>
            <p:spPr>
              <a:xfrm>
                <a:off x="7726680" y="4686300"/>
                <a:ext cx="493776" cy="59436"/>
              </a:xfrm>
              <a:prstGeom prst="ellipse">
                <a:avLst/>
              </a:prstGeom>
              <a:solidFill>
                <a:srgbClr val="57442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</p:grpSp>
        <p:cxnSp>
          <p:nvCxnSpPr>
            <p:cNvPr id="1079" name="肘形连接符 1078"/>
            <p:cNvCxnSpPr>
              <a:stCxn id="419" idx="2"/>
              <a:endCxn id="416" idx="2"/>
            </p:cNvCxnSpPr>
            <p:nvPr/>
          </p:nvCxnSpPr>
          <p:spPr>
            <a:xfrm rot="5400000">
              <a:off x="8694" y="11976"/>
              <a:ext cx="86" cy="1995"/>
            </a:xfrm>
            <a:prstGeom prst="bentConnector3">
              <a:avLst>
                <a:gd name="adj1" fmla="val 279651"/>
              </a:avLst>
            </a:prstGeom>
            <a:ln>
              <a:solidFill>
                <a:srgbClr val="D82C5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86" name="Text 198"/>
            <p:cNvSpPr txBox="1"/>
            <p:nvPr/>
          </p:nvSpPr>
          <p:spPr>
            <a:xfrm>
              <a:off x="8052" y="9432"/>
              <a:ext cx="1247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 fontScale="90000" lnSpcReduction="20000"/>
            </a:bodyPr>
            <a:p>
              <a:pPr marL="0" indent="0" algn="ctr">
                <a:buNone/>
              </a:pPr>
              <a:r>
                <a:rPr lang="en-US" sz="900" b="1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  <a:sym typeface="+mn-ea"/>
                </a:rPr>
                <a:t>Aᵢ=U</a:t>
              </a:r>
              <a:r>
                <a:rPr lang="en-US" sz="900" b="1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  <a:sym typeface="+mn-ea"/>
                </a:rPr>
                <a:t>ᵢVᵢ</a:t>
              </a:r>
              <a:endParaRPr lang="en-US" sz="900" b="1" i="1" dirty="0">
                <a:solidFill>
                  <a:srgbClr val="11182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endParaRPr>
            </a:p>
            <a:p>
              <a:pPr marL="0" indent="0" algn="ctr">
                <a:buNone/>
              </a:pPr>
              <a:r>
                <a:rPr lang="en-US" sz="90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  <a:sym typeface="+mn-ea"/>
                </a:rPr>
                <a:t>(r × r)</a:t>
              </a:r>
              <a:endParaRPr lang="en-US" sz="900" dirty="0"/>
            </a:p>
          </p:txBody>
        </p:sp>
        <p:grpSp>
          <p:nvGrpSpPr>
            <p:cNvPr id="1097" name="组合 1096"/>
            <p:cNvGrpSpPr/>
            <p:nvPr/>
          </p:nvGrpSpPr>
          <p:grpSpPr>
            <a:xfrm>
              <a:off x="9431" y="9317"/>
              <a:ext cx="517" cy="490"/>
              <a:chOff x="7854" y="9291"/>
              <a:chExt cx="517" cy="490"/>
            </a:xfrm>
          </p:grpSpPr>
          <p:sp>
            <p:nvSpPr>
              <p:cNvPr id="1092" name="Shape 176"/>
              <p:cNvSpPr/>
              <p:nvPr/>
            </p:nvSpPr>
            <p:spPr>
              <a:xfrm rot="16200000">
                <a:off x="7861" y="9529"/>
                <a:ext cx="245" cy="25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093" name="Shape 177"/>
              <p:cNvSpPr/>
              <p:nvPr/>
            </p:nvSpPr>
            <p:spPr>
              <a:xfrm rot="16200000">
                <a:off x="7861" y="9284"/>
                <a:ext cx="245" cy="259"/>
              </a:xfrm>
              <a:prstGeom prst="rect">
                <a:avLst/>
              </a:prstGeom>
              <a:solidFill>
                <a:srgbClr val="FFE2C4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094" name="Shape 179"/>
              <p:cNvSpPr/>
              <p:nvPr/>
            </p:nvSpPr>
            <p:spPr>
              <a:xfrm rot="16200000">
                <a:off x="8120" y="9529"/>
                <a:ext cx="245" cy="259"/>
              </a:xfrm>
              <a:prstGeom prst="rect">
                <a:avLst/>
              </a:prstGeom>
              <a:solidFill>
                <a:srgbClr val="FFE2C4"/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095" name="Shape 180"/>
              <p:cNvSpPr/>
              <p:nvPr/>
            </p:nvSpPr>
            <p:spPr>
              <a:xfrm rot="16200000">
                <a:off x="8120" y="9284"/>
                <a:ext cx="245" cy="25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4445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096" name="Shape 182"/>
              <p:cNvSpPr/>
              <p:nvPr/>
            </p:nvSpPr>
            <p:spPr>
              <a:xfrm rot="16200000">
                <a:off x="7865" y="9280"/>
                <a:ext cx="491" cy="513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6985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</a:ln>
            </p:spPr>
          </p:sp>
        </p:grpSp>
        <p:grpSp>
          <p:nvGrpSpPr>
            <p:cNvPr id="1099" name="组合 1098"/>
            <p:cNvGrpSpPr/>
            <p:nvPr/>
          </p:nvGrpSpPr>
          <p:grpSpPr>
            <a:xfrm>
              <a:off x="15641" y="12113"/>
              <a:ext cx="1592" cy="998"/>
              <a:chOff x="16906" y="5803"/>
              <a:chExt cx="3053" cy="1915"/>
            </a:xfrm>
          </p:grpSpPr>
          <p:sp>
            <p:nvSpPr>
              <p:cNvPr id="1100" name="Shape 242"/>
              <p:cNvSpPr/>
              <p:nvPr/>
            </p:nvSpPr>
            <p:spPr>
              <a:xfrm>
                <a:off x="16906" y="7718"/>
                <a:ext cx="3053" cy="0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1101" name="Shape 243"/>
              <p:cNvSpPr/>
              <p:nvPr/>
            </p:nvSpPr>
            <p:spPr>
              <a:xfrm flipV="1">
                <a:off x="16906" y="5803"/>
                <a:ext cx="0" cy="1915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1102" name="Shape 244"/>
              <p:cNvSpPr/>
              <p:nvPr/>
            </p:nvSpPr>
            <p:spPr>
              <a:xfrm>
                <a:off x="16906" y="6282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103" name="Shape 245"/>
              <p:cNvSpPr/>
              <p:nvPr/>
            </p:nvSpPr>
            <p:spPr>
              <a:xfrm>
                <a:off x="16906" y="6761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104" name="Shape 246"/>
              <p:cNvSpPr/>
              <p:nvPr/>
            </p:nvSpPr>
            <p:spPr>
              <a:xfrm>
                <a:off x="16906" y="7240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105" name="Shape 247"/>
              <p:cNvSpPr/>
              <p:nvPr/>
            </p:nvSpPr>
            <p:spPr>
              <a:xfrm>
                <a:off x="16906" y="6996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06" name="Shape 248"/>
              <p:cNvSpPr/>
              <p:nvPr/>
            </p:nvSpPr>
            <p:spPr>
              <a:xfrm flipV="1">
                <a:off x="17394" y="6939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07" name="Shape 249"/>
              <p:cNvSpPr/>
              <p:nvPr/>
            </p:nvSpPr>
            <p:spPr>
              <a:xfrm flipV="1">
                <a:off x="17944" y="6613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08" name="Shape 250"/>
              <p:cNvSpPr/>
              <p:nvPr/>
            </p:nvSpPr>
            <p:spPr>
              <a:xfrm flipV="1">
                <a:off x="18585" y="636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09" name="Shape 251"/>
              <p:cNvSpPr/>
              <p:nvPr/>
            </p:nvSpPr>
            <p:spPr>
              <a:xfrm flipV="1">
                <a:off x="19226" y="6268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0" name="Shape 252"/>
              <p:cNvSpPr/>
              <p:nvPr/>
            </p:nvSpPr>
            <p:spPr>
              <a:xfrm>
                <a:off x="16906" y="7022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1" name="Shape 253"/>
              <p:cNvSpPr/>
              <p:nvPr/>
            </p:nvSpPr>
            <p:spPr>
              <a:xfrm flipV="1">
                <a:off x="17394" y="6965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2" name="Shape 254"/>
              <p:cNvSpPr/>
              <p:nvPr/>
            </p:nvSpPr>
            <p:spPr>
              <a:xfrm flipV="1">
                <a:off x="17944" y="6639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3" name="Shape 255"/>
              <p:cNvSpPr/>
              <p:nvPr/>
            </p:nvSpPr>
            <p:spPr>
              <a:xfrm flipV="1">
                <a:off x="18585" y="639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4" name="Shape 256"/>
              <p:cNvSpPr/>
              <p:nvPr/>
            </p:nvSpPr>
            <p:spPr>
              <a:xfrm flipV="1">
                <a:off x="19226" y="6294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5" name="Shape 257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6" name="Shape 258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7" name="Shape 259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8" name="Shape 260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19" name="Shape 261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0" name="Shape 262"/>
              <p:cNvSpPr/>
              <p:nvPr/>
            </p:nvSpPr>
            <p:spPr>
              <a:xfrm>
                <a:off x="16906" y="7074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1" name="Shape 263"/>
              <p:cNvSpPr/>
              <p:nvPr/>
            </p:nvSpPr>
            <p:spPr>
              <a:xfrm flipV="1">
                <a:off x="17394" y="7017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2" name="Shape 264"/>
              <p:cNvSpPr/>
              <p:nvPr/>
            </p:nvSpPr>
            <p:spPr>
              <a:xfrm flipV="1">
                <a:off x="17944" y="6691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3" name="Shape 265"/>
              <p:cNvSpPr/>
              <p:nvPr/>
            </p:nvSpPr>
            <p:spPr>
              <a:xfrm flipV="1">
                <a:off x="18585" y="644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4" name="Shape 266"/>
              <p:cNvSpPr/>
              <p:nvPr/>
            </p:nvSpPr>
            <p:spPr>
              <a:xfrm flipV="1">
                <a:off x="19226" y="6346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5" name="Shape 267"/>
              <p:cNvSpPr/>
              <p:nvPr/>
            </p:nvSpPr>
            <p:spPr>
              <a:xfrm>
                <a:off x="16906" y="7100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6" name="Shape 268"/>
              <p:cNvSpPr/>
              <p:nvPr/>
            </p:nvSpPr>
            <p:spPr>
              <a:xfrm flipV="1">
                <a:off x="17394" y="7042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7" name="Shape 269"/>
              <p:cNvSpPr/>
              <p:nvPr/>
            </p:nvSpPr>
            <p:spPr>
              <a:xfrm flipV="1">
                <a:off x="17944" y="6717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8" name="Shape 270"/>
              <p:cNvSpPr/>
              <p:nvPr/>
            </p:nvSpPr>
            <p:spPr>
              <a:xfrm flipV="1">
                <a:off x="18585" y="646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29" name="Shape 271"/>
              <p:cNvSpPr/>
              <p:nvPr/>
            </p:nvSpPr>
            <p:spPr>
              <a:xfrm flipV="1">
                <a:off x="19226" y="6372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30" name="Shape 272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31" name="Shape 273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32" name="Shape 274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33" name="Shape 275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34" name="Shape 276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2700" cmpd="sng">
                <a:solidFill>
                  <a:srgbClr val="4B83E6"/>
                </a:solidFill>
                <a:prstDash val="sysDot"/>
              </a:ln>
            </p:spPr>
          </p:sp>
          <p:sp>
            <p:nvSpPr>
              <p:cNvPr id="1135" name="Shape 277"/>
              <p:cNvSpPr/>
              <p:nvPr/>
            </p:nvSpPr>
            <p:spPr>
              <a:xfrm>
                <a:off x="16906" y="7188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36" name="Shape 278"/>
              <p:cNvSpPr/>
              <p:nvPr/>
            </p:nvSpPr>
            <p:spPr>
              <a:xfrm flipV="1">
                <a:off x="17455" y="7149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37" name="Shape 279"/>
              <p:cNvSpPr/>
              <p:nvPr/>
            </p:nvSpPr>
            <p:spPr>
              <a:xfrm flipV="1">
                <a:off x="18005" y="6843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38" name="Shape 280"/>
              <p:cNvSpPr/>
              <p:nvPr/>
            </p:nvSpPr>
            <p:spPr>
              <a:xfrm flipV="1">
                <a:off x="18646" y="659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39" name="Shape 281"/>
              <p:cNvSpPr/>
              <p:nvPr/>
            </p:nvSpPr>
            <p:spPr>
              <a:xfrm flipV="1">
                <a:off x="19287" y="6498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0" name="Shape 282"/>
              <p:cNvSpPr/>
              <p:nvPr/>
            </p:nvSpPr>
            <p:spPr>
              <a:xfrm>
                <a:off x="16906" y="7214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1" name="Shape 283"/>
              <p:cNvSpPr/>
              <p:nvPr/>
            </p:nvSpPr>
            <p:spPr>
              <a:xfrm flipV="1">
                <a:off x="17455" y="7175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2" name="Shape 284"/>
              <p:cNvSpPr/>
              <p:nvPr/>
            </p:nvSpPr>
            <p:spPr>
              <a:xfrm flipV="1">
                <a:off x="18005" y="6869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3" name="Shape 285"/>
              <p:cNvSpPr/>
              <p:nvPr/>
            </p:nvSpPr>
            <p:spPr>
              <a:xfrm flipV="1">
                <a:off x="18646" y="662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4" name="Shape 286"/>
              <p:cNvSpPr/>
              <p:nvPr/>
            </p:nvSpPr>
            <p:spPr>
              <a:xfrm flipV="1">
                <a:off x="19287" y="6524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5" name="Shape 287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6" name="Shape 288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7" name="Shape 289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8" name="Shape 290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49" name="Shape 291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0" name="Shape 292"/>
              <p:cNvSpPr/>
              <p:nvPr/>
            </p:nvSpPr>
            <p:spPr>
              <a:xfrm>
                <a:off x="16906" y="7266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1" name="Shape 293"/>
              <p:cNvSpPr/>
              <p:nvPr/>
            </p:nvSpPr>
            <p:spPr>
              <a:xfrm flipV="1">
                <a:off x="17455" y="7227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2" name="Shape 294"/>
              <p:cNvSpPr/>
              <p:nvPr/>
            </p:nvSpPr>
            <p:spPr>
              <a:xfrm flipV="1">
                <a:off x="18005" y="6921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3" name="Shape 295"/>
              <p:cNvSpPr/>
              <p:nvPr/>
            </p:nvSpPr>
            <p:spPr>
              <a:xfrm flipV="1">
                <a:off x="18646" y="667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4" name="Shape 296"/>
              <p:cNvSpPr/>
              <p:nvPr/>
            </p:nvSpPr>
            <p:spPr>
              <a:xfrm flipV="1">
                <a:off x="19287" y="6576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5" name="Shape 297"/>
              <p:cNvSpPr/>
              <p:nvPr/>
            </p:nvSpPr>
            <p:spPr>
              <a:xfrm>
                <a:off x="16906" y="7291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6" name="Shape 298"/>
              <p:cNvSpPr/>
              <p:nvPr/>
            </p:nvSpPr>
            <p:spPr>
              <a:xfrm flipV="1">
                <a:off x="17455" y="7253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7" name="Shape 299"/>
              <p:cNvSpPr/>
              <p:nvPr/>
            </p:nvSpPr>
            <p:spPr>
              <a:xfrm flipV="1">
                <a:off x="18005" y="6947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8" name="Shape 300"/>
              <p:cNvSpPr/>
              <p:nvPr/>
            </p:nvSpPr>
            <p:spPr>
              <a:xfrm flipV="1">
                <a:off x="18646" y="669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59" name="Shape 301"/>
              <p:cNvSpPr/>
              <p:nvPr/>
            </p:nvSpPr>
            <p:spPr>
              <a:xfrm flipV="1">
                <a:off x="19287" y="6602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60" name="Shape 302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61" name="Shape 303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62" name="Shape 304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63" name="Shape 305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64" name="Shape 306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2700" cmpd="sng">
                <a:solidFill>
                  <a:srgbClr val="4B83E6"/>
                </a:solidFill>
                <a:prstDash val="sysDot"/>
              </a:ln>
            </p:spPr>
          </p:sp>
          <p:sp>
            <p:nvSpPr>
              <p:cNvPr id="1165" name="Shape 307"/>
              <p:cNvSpPr/>
              <p:nvPr/>
            </p:nvSpPr>
            <p:spPr>
              <a:xfrm>
                <a:off x="16906" y="7360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66" name="Shape 308"/>
              <p:cNvSpPr/>
              <p:nvPr/>
            </p:nvSpPr>
            <p:spPr>
              <a:xfrm flipV="1">
                <a:off x="17425" y="7303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67" name="Shape 309"/>
              <p:cNvSpPr/>
              <p:nvPr/>
            </p:nvSpPr>
            <p:spPr>
              <a:xfrm flipV="1">
                <a:off x="18005" y="7073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68" name="Shape 310"/>
              <p:cNvSpPr/>
              <p:nvPr/>
            </p:nvSpPr>
            <p:spPr>
              <a:xfrm flipV="1">
                <a:off x="18676" y="6862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69" name="Shape 311"/>
              <p:cNvSpPr/>
              <p:nvPr/>
            </p:nvSpPr>
            <p:spPr>
              <a:xfrm flipV="1">
                <a:off x="19348" y="6843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0" name="Shape 312"/>
              <p:cNvSpPr/>
              <p:nvPr/>
            </p:nvSpPr>
            <p:spPr>
              <a:xfrm>
                <a:off x="16906" y="7386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1" name="Shape 313"/>
              <p:cNvSpPr/>
              <p:nvPr/>
            </p:nvSpPr>
            <p:spPr>
              <a:xfrm flipV="1">
                <a:off x="17425" y="7329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2" name="Shape 314"/>
              <p:cNvSpPr/>
              <p:nvPr/>
            </p:nvSpPr>
            <p:spPr>
              <a:xfrm flipV="1">
                <a:off x="18005" y="7099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3" name="Shape 315"/>
              <p:cNvSpPr/>
              <p:nvPr/>
            </p:nvSpPr>
            <p:spPr>
              <a:xfrm flipV="1">
                <a:off x="18676" y="6888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4" name="Shape 316"/>
              <p:cNvSpPr/>
              <p:nvPr/>
            </p:nvSpPr>
            <p:spPr>
              <a:xfrm flipV="1">
                <a:off x="19348" y="6869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5" name="Shape 317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6" name="Shape 318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7" name="Shape 319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8" name="Shape 320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79" name="Shape 321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0" name="Shape 322"/>
              <p:cNvSpPr/>
              <p:nvPr/>
            </p:nvSpPr>
            <p:spPr>
              <a:xfrm>
                <a:off x="16906" y="7438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1" name="Shape 323"/>
              <p:cNvSpPr/>
              <p:nvPr/>
            </p:nvSpPr>
            <p:spPr>
              <a:xfrm flipV="1">
                <a:off x="17425" y="7380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2" name="Shape 324"/>
              <p:cNvSpPr/>
              <p:nvPr/>
            </p:nvSpPr>
            <p:spPr>
              <a:xfrm flipV="1">
                <a:off x="18005" y="7151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3" name="Shape 325"/>
              <p:cNvSpPr/>
              <p:nvPr/>
            </p:nvSpPr>
            <p:spPr>
              <a:xfrm flipV="1">
                <a:off x="18676" y="6940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4" name="Shape 326"/>
              <p:cNvSpPr/>
              <p:nvPr/>
            </p:nvSpPr>
            <p:spPr>
              <a:xfrm flipV="1">
                <a:off x="19348" y="6921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5" name="Shape 327"/>
              <p:cNvSpPr/>
              <p:nvPr/>
            </p:nvSpPr>
            <p:spPr>
              <a:xfrm>
                <a:off x="16906" y="7464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6" name="Shape 328"/>
              <p:cNvSpPr/>
              <p:nvPr/>
            </p:nvSpPr>
            <p:spPr>
              <a:xfrm flipV="1">
                <a:off x="17425" y="7406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7" name="Shape 329"/>
              <p:cNvSpPr/>
              <p:nvPr/>
            </p:nvSpPr>
            <p:spPr>
              <a:xfrm flipV="1">
                <a:off x="18005" y="7177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8" name="Shape 330"/>
              <p:cNvSpPr/>
              <p:nvPr/>
            </p:nvSpPr>
            <p:spPr>
              <a:xfrm flipV="1">
                <a:off x="18676" y="6966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89" name="Shape 331"/>
              <p:cNvSpPr/>
              <p:nvPr/>
            </p:nvSpPr>
            <p:spPr>
              <a:xfrm flipV="1">
                <a:off x="19348" y="6947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190" name="Shape 332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1" name="Shape 333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2" name="Shape 334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3" name="Shape 335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4" name="Shape 336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2700" cmpd="sng">
                <a:solidFill>
                  <a:srgbClr val="4B83E6"/>
                </a:solidFill>
                <a:prstDash val="sysDot"/>
              </a:ln>
            </p:spPr>
          </p:sp>
          <p:sp>
            <p:nvSpPr>
              <p:cNvPr id="1195" name="Shape 337"/>
              <p:cNvSpPr/>
              <p:nvPr/>
            </p:nvSpPr>
            <p:spPr>
              <a:xfrm>
                <a:off x="16906" y="7565"/>
                <a:ext cx="550" cy="19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6" name="Shape 338"/>
              <p:cNvSpPr/>
              <p:nvPr/>
            </p:nvSpPr>
            <p:spPr>
              <a:xfrm flipV="1">
                <a:off x="17455" y="7527"/>
                <a:ext cx="611" cy="57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7" name="Shape 339"/>
              <p:cNvSpPr/>
              <p:nvPr/>
            </p:nvSpPr>
            <p:spPr>
              <a:xfrm flipV="1">
                <a:off x="18066" y="7374"/>
                <a:ext cx="672" cy="153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8" name="Shape 340"/>
              <p:cNvSpPr/>
              <p:nvPr/>
            </p:nvSpPr>
            <p:spPr>
              <a:xfrm flipV="1">
                <a:off x="18737" y="7259"/>
                <a:ext cx="611" cy="115"/>
              </a:xfrm>
              <a:prstGeom prst="line">
                <a:avLst/>
              </a:prstGeom>
              <a:noFill/>
              <a:ln w="15875">
                <a:solidFill>
                  <a:srgbClr val="4B83E6"/>
                </a:solidFill>
                <a:prstDash val="solid"/>
              </a:ln>
            </p:spPr>
          </p:sp>
          <p:sp>
            <p:nvSpPr>
              <p:cNvPr id="1199" name="Shape 341"/>
              <p:cNvSpPr/>
              <p:nvPr/>
            </p:nvSpPr>
            <p:spPr>
              <a:xfrm flipV="1">
                <a:off x="19348" y="7240"/>
                <a:ext cx="611" cy="19"/>
              </a:xfrm>
              <a:prstGeom prst="line">
                <a:avLst/>
              </a:prstGeom>
              <a:noFill/>
              <a:ln w="12700" cmpd="sng">
                <a:solidFill>
                  <a:srgbClr val="4B83E6"/>
                </a:solidFill>
                <a:prstDash val="sysDot"/>
              </a:ln>
            </p:spPr>
          </p:sp>
        </p:grpSp>
        <p:grpSp>
          <p:nvGrpSpPr>
            <p:cNvPr id="1210" name="组合 1209"/>
            <p:cNvGrpSpPr/>
            <p:nvPr/>
          </p:nvGrpSpPr>
          <p:grpSpPr>
            <a:xfrm>
              <a:off x="17611" y="12120"/>
              <a:ext cx="1592" cy="998"/>
              <a:chOff x="16906" y="5803"/>
              <a:chExt cx="3053" cy="1915"/>
            </a:xfrm>
          </p:grpSpPr>
          <p:sp>
            <p:nvSpPr>
              <p:cNvPr id="1211" name="Shape 242"/>
              <p:cNvSpPr/>
              <p:nvPr/>
            </p:nvSpPr>
            <p:spPr>
              <a:xfrm>
                <a:off x="16906" y="7718"/>
                <a:ext cx="3053" cy="0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1212" name="Shape 243"/>
              <p:cNvSpPr/>
              <p:nvPr/>
            </p:nvSpPr>
            <p:spPr>
              <a:xfrm flipV="1">
                <a:off x="16906" y="5803"/>
                <a:ext cx="0" cy="1915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1213" name="Shape 244"/>
              <p:cNvSpPr/>
              <p:nvPr/>
            </p:nvSpPr>
            <p:spPr>
              <a:xfrm>
                <a:off x="16906" y="6282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214" name="Shape 245"/>
              <p:cNvSpPr/>
              <p:nvPr/>
            </p:nvSpPr>
            <p:spPr>
              <a:xfrm>
                <a:off x="16906" y="6761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215" name="Shape 246"/>
              <p:cNvSpPr/>
              <p:nvPr/>
            </p:nvSpPr>
            <p:spPr>
              <a:xfrm>
                <a:off x="16906" y="7240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216" name="Shape 247"/>
              <p:cNvSpPr/>
              <p:nvPr/>
            </p:nvSpPr>
            <p:spPr>
              <a:xfrm>
                <a:off x="16906" y="6996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17" name="Shape 248"/>
              <p:cNvSpPr/>
              <p:nvPr/>
            </p:nvSpPr>
            <p:spPr>
              <a:xfrm flipV="1">
                <a:off x="17394" y="6939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18" name="Shape 249"/>
              <p:cNvSpPr/>
              <p:nvPr/>
            </p:nvSpPr>
            <p:spPr>
              <a:xfrm flipV="1">
                <a:off x="17944" y="6613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19" name="Shape 250"/>
              <p:cNvSpPr/>
              <p:nvPr/>
            </p:nvSpPr>
            <p:spPr>
              <a:xfrm flipV="1">
                <a:off x="18585" y="636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0" name="Shape 251"/>
              <p:cNvSpPr/>
              <p:nvPr/>
            </p:nvSpPr>
            <p:spPr>
              <a:xfrm flipV="1">
                <a:off x="19226" y="6268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1" name="Shape 252"/>
              <p:cNvSpPr/>
              <p:nvPr/>
            </p:nvSpPr>
            <p:spPr>
              <a:xfrm>
                <a:off x="16906" y="7022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2" name="Shape 253"/>
              <p:cNvSpPr/>
              <p:nvPr/>
            </p:nvSpPr>
            <p:spPr>
              <a:xfrm flipV="1">
                <a:off x="17394" y="6965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3" name="Shape 254"/>
              <p:cNvSpPr/>
              <p:nvPr/>
            </p:nvSpPr>
            <p:spPr>
              <a:xfrm flipV="1">
                <a:off x="17944" y="6639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4" name="Shape 255"/>
              <p:cNvSpPr/>
              <p:nvPr/>
            </p:nvSpPr>
            <p:spPr>
              <a:xfrm flipV="1">
                <a:off x="18585" y="639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5" name="Shape 256"/>
              <p:cNvSpPr/>
              <p:nvPr/>
            </p:nvSpPr>
            <p:spPr>
              <a:xfrm flipV="1">
                <a:off x="19226" y="6294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6" name="Shape 257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7" name="Shape 258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8" name="Shape 259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29" name="Shape 260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0" name="Shape 261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1" name="Shape 262"/>
              <p:cNvSpPr/>
              <p:nvPr/>
            </p:nvSpPr>
            <p:spPr>
              <a:xfrm>
                <a:off x="16906" y="7074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2" name="Shape 263"/>
              <p:cNvSpPr/>
              <p:nvPr/>
            </p:nvSpPr>
            <p:spPr>
              <a:xfrm flipV="1">
                <a:off x="17394" y="7017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3" name="Shape 264"/>
              <p:cNvSpPr/>
              <p:nvPr/>
            </p:nvSpPr>
            <p:spPr>
              <a:xfrm flipV="1">
                <a:off x="17944" y="6691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4" name="Shape 265"/>
              <p:cNvSpPr/>
              <p:nvPr/>
            </p:nvSpPr>
            <p:spPr>
              <a:xfrm flipV="1">
                <a:off x="18585" y="644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5" name="Shape 266"/>
              <p:cNvSpPr/>
              <p:nvPr/>
            </p:nvSpPr>
            <p:spPr>
              <a:xfrm flipV="1">
                <a:off x="19226" y="6346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6" name="Shape 267"/>
              <p:cNvSpPr/>
              <p:nvPr/>
            </p:nvSpPr>
            <p:spPr>
              <a:xfrm>
                <a:off x="16906" y="7100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7" name="Shape 268"/>
              <p:cNvSpPr/>
              <p:nvPr/>
            </p:nvSpPr>
            <p:spPr>
              <a:xfrm flipV="1">
                <a:off x="17394" y="7042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8" name="Shape 269"/>
              <p:cNvSpPr/>
              <p:nvPr/>
            </p:nvSpPr>
            <p:spPr>
              <a:xfrm flipV="1">
                <a:off x="17944" y="6717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39" name="Shape 270"/>
              <p:cNvSpPr/>
              <p:nvPr/>
            </p:nvSpPr>
            <p:spPr>
              <a:xfrm flipV="1">
                <a:off x="18585" y="646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40" name="Shape 271"/>
              <p:cNvSpPr/>
              <p:nvPr/>
            </p:nvSpPr>
            <p:spPr>
              <a:xfrm flipV="1">
                <a:off x="19226" y="6372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41" name="Shape 272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42" name="Shape 273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43" name="Shape 274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44" name="Shape 275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45" name="Shape 276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2700" cmpd="sng">
                <a:solidFill>
                  <a:srgbClr val="49C779"/>
                </a:solidFill>
                <a:prstDash val="sysDot"/>
              </a:ln>
            </p:spPr>
          </p:sp>
          <p:sp>
            <p:nvSpPr>
              <p:cNvPr id="1246" name="Shape 277"/>
              <p:cNvSpPr/>
              <p:nvPr/>
            </p:nvSpPr>
            <p:spPr>
              <a:xfrm>
                <a:off x="16906" y="7188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47" name="Shape 278"/>
              <p:cNvSpPr/>
              <p:nvPr/>
            </p:nvSpPr>
            <p:spPr>
              <a:xfrm flipV="1">
                <a:off x="17455" y="7149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48" name="Shape 279"/>
              <p:cNvSpPr/>
              <p:nvPr/>
            </p:nvSpPr>
            <p:spPr>
              <a:xfrm flipV="1">
                <a:off x="18005" y="6843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49" name="Shape 280"/>
              <p:cNvSpPr/>
              <p:nvPr/>
            </p:nvSpPr>
            <p:spPr>
              <a:xfrm flipV="1">
                <a:off x="18646" y="659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0" name="Shape 281"/>
              <p:cNvSpPr/>
              <p:nvPr/>
            </p:nvSpPr>
            <p:spPr>
              <a:xfrm flipV="1">
                <a:off x="19287" y="6498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1" name="Shape 282"/>
              <p:cNvSpPr/>
              <p:nvPr/>
            </p:nvSpPr>
            <p:spPr>
              <a:xfrm>
                <a:off x="16906" y="7214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2" name="Shape 283"/>
              <p:cNvSpPr/>
              <p:nvPr/>
            </p:nvSpPr>
            <p:spPr>
              <a:xfrm flipV="1">
                <a:off x="17455" y="7175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3" name="Shape 284"/>
              <p:cNvSpPr/>
              <p:nvPr/>
            </p:nvSpPr>
            <p:spPr>
              <a:xfrm flipV="1">
                <a:off x="18005" y="6869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4" name="Shape 285"/>
              <p:cNvSpPr/>
              <p:nvPr/>
            </p:nvSpPr>
            <p:spPr>
              <a:xfrm flipV="1">
                <a:off x="18646" y="662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5" name="Shape 286"/>
              <p:cNvSpPr/>
              <p:nvPr/>
            </p:nvSpPr>
            <p:spPr>
              <a:xfrm flipV="1">
                <a:off x="19287" y="6524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6" name="Shape 287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7" name="Shape 288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8" name="Shape 289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59" name="Shape 290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0" name="Shape 291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1" name="Shape 292"/>
              <p:cNvSpPr/>
              <p:nvPr/>
            </p:nvSpPr>
            <p:spPr>
              <a:xfrm>
                <a:off x="16906" y="7266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2" name="Shape 293"/>
              <p:cNvSpPr/>
              <p:nvPr/>
            </p:nvSpPr>
            <p:spPr>
              <a:xfrm flipV="1">
                <a:off x="17455" y="7227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3" name="Shape 294"/>
              <p:cNvSpPr/>
              <p:nvPr/>
            </p:nvSpPr>
            <p:spPr>
              <a:xfrm flipV="1">
                <a:off x="18005" y="6921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4" name="Shape 295"/>
              <p:cNvSpPr/>
              <p:nvPr/>
            </p:nvSpPr>
            <p:spPr>
              <a:xfrm flipV="1">
                <a:off x="18646" y="667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5" name="Shape 296"/>
              <p:cNvSpPr/>
              <p:nvPr/>
            </p:nvSpPr>
            <p:spPr>
              <a:xfrm flipV="1">
                <a:off x="19287" y="6576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6" name="Shape 297"/>
              <p:cNvSpPr/>
              <p:nvPr/>
            </p:nvSpPr>
            <p:spPr>
              <a:xfrm>
                <a:off x="16906" y="7291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7" name="Shape 298"/>
              <p:cNvSpPr/>
              <p:nvPr/>
            </p:nvSpPr>
            <p:spPr>
              <a:xfrm flipV="1">
                <a:off x="17455" y="7253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8" name="Shape 299"/>
              <p:cNvSpPr/>
              <p:nvPr/>
            </p:nvSpPr>
            <p:spPr>
              <a:xfrm flipV="1">
                <a:off x="18005" y="6947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69" name="Shape 300"/>
              <p:cNvSpPr/>
              <p:nvPr/>
            </p:nvSpPr>
            <p:spPr>
              <a:xfrm flipV="1">
                <a:off x="18646" y="669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70" name="Shape 301"/>
              <p:cNvSpPr/>
              <p:nvPr/>
            </p:nvSpPr>
            <p:spPr>
              <a:xfrm flipV="1">
                <a:off x="19287" y="6602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71" name="Shape 302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72" name="Shape 303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73" name="Shape 304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74" name="Shape 305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275" name="Shape 306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2700" cmpd="sng">
                <a:solidFill>
                  <a:srgbClr val="49C779"/>
                </a:solidFill>
                <a:prstDash val="sysDot"/>
              </a:ln>
            </p:spPr>
          </p:sp>
          <p:sp>
            <p:nvSpPr>
              <p:cNvPr id="1276" name="Shape 307"/>
              <p:cNvSpPr/>
              <p:nvPr/>
            </p:nvSpPr>
            <p:spPr>
              <a:xfrm>
                <a:off x="16906" y="7360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77" name="Shape 308"/>
              <p:cNvSpPr/>
              <p:nvPr/>
            </p:nvSpPr>
            <p:spPr>
              <a:xfrm flipV="1">
                <a:off x="17425" y="7303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78" name="Shape 309"/>
              <p:cNvSpPr/>
              <p:nvPr/>
            </p:nvSpPr>
            <p:spPr>
              <a:xfrm flipV="1">
                <a:off x="18005" y="7073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79" name="Shape 310"/>
              <p:cNvSpPr/>
              <p:nvPr/>
            </p:nvSpPr>
            <p:spPr>
              <a:xfrm flipV="1">
                <a:off x="18676" y="6862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0" name="Shape 311"/>
              <p:cNvSpPr/>
              <p:nvPr/>
            </p:nvSpPr>
            <p:spPr>
              <a:xfrm flipV="1">
                <a:off x="19348" y="6843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1" name="Shape 312"/>
              <p:cNvSpPr/>
              <p:nvPr/>
            </p:nvSpPr>
            <p:spPr>
              <a:xfrm>
                <a:off x="16906" y="7386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2" name="Shape 313"/>
              <p:cNvSpPr/>
              <p:nvPr/>
            </p:nvSpPr>
            <p:spPr>
              <a:xfrm flipV="1">
                <a:off x="17425" y="7329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3" name="Shape 314"/>
              <p:cNvSpPr/>
              <p:nvPr/>
            </p:nvSpPr>
            <p:spPr>
              <a:xfrm flipV="1">
                <a:off x="18005" y="7099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4" name="Shape 315"/>
              <p:cNvSpPr/>
              <p:nvPr/>
            </p:nvSpPr>
            <p:spPr>
              <a:xfrm flipV="1">
                <a:off x="18676" y="6888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5" name="Shape 316"/>
              <p:cNvSpPr/>
              <p:nvPr/>
            </p:nvSpPr>
            <p:spPr>
              <a:xfrm flipV="1">
                <a:off x="19348" y="6869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6" name="Shape 317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7" name="Shape 318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8" name="Shape 319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89" name="Shape 320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0" name="Shape 321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1" name="Shape 322"/>
              <p:cNvSpPr/>
              <p:nvPr/>
            </p:nvSpPr>
            <p:spPr>
              <a:xfrm>
                <a:off x="16906" y="7438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2" name="Shape 323"/>
              <p:cNvSpPr/>
              <p:nvPr/>
            </p:nvSpPr>
            <p:spPr>
              <a:xfrm flipV="1">
                <a:off x="17425" y="7380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3" name="Shape 324"/>
              <p:cNvSpPr/>
              <p:nvPr/>
            </p:nvSpPr>
            <p:spPr>
              <a:xfrm flipV="1">
                <a:off x="18005" y="7151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4" name="Shape 325"/>
              <p:cNvSpPr/>
              <p:nvPr/>
            </p:nvSpPr>
            <p:spPr>
              <a:xfrm flipV="1">
                <a:off x="18676" y="6940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5" name="Shape 326"/>
              <p:cNvSpPr/>
              <p:nvPr/>
            </p:nvSpPr>
            <p:spPr>
              <a:xfrm flipV="1">
                <a:off x="19348" y="6921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6" name="Shape 327"/>
              <p:cNvSpPr/>
              <p:nvPr/>
            </p:nvSpPr>
            <p:spPr>
              <a:xfrm>
                <a:off x="16906" y="7464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7" name="Shape 328"/>
              <p:cNvSpPr/>
              <p:nvPr/>
            </p:nvSpPr>
            <p:spPr>
              <a:xfrm flipV="1">
                <a:off x="17425" y="7406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8" name="Shape 329"/>
              <p:cNvSpPr/>
              <p:nvPr/>
            </p:nvSpPr>
            <p:spPr>
              <a:xfrm flipV="1">
                <a:off x="18005" y="7177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299" name="Shape 330"/>
              <p:cNvSpPr/>
              <p:nvPr/>
            </p:nvSpPr>
            <p:spPr>
              <a:xfrm flipV="1">
                <a:off x="18676" y="6966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00" name="Shape 331"/>
              <p:cNvSpPr/>
              <p:nvPr/>
            </p:nvSpPr>
            <p:spPr>
              <a:xfrm flipV="1">
                <a:off x="19348" y="6947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01" name="Shape 332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02" name="Shape 333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03" name="Shape 334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04" name="Shape 335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05" name="Shape 336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2700" cmpd="sng">
                <a:solidFill>
                  <a:srgbClr val="49C779"/>
                </a:solidFill>
                <a:prstDash val="sysDot"/>
              </a:ln>
            </p:spPr>
          </p:sp>
          <p:sp>
            <p:nvSpPr>
              <p:cNvPr id="1306" name="Shape 337"/>
              <p:cNvSpPr/>
              <p:nvPr/>
            </p:nvSpPr>
            <p:spPr>
              <a:xfrm>
                <a:off x="16906" y="7565"/>
                <a:ext cx="550" cy="19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07" name="Shape 338"/>
              <p:cNvSpPr/>
              <p:nvPr/>
            </p:nvSpPr>
            <p:spPr>
              <a:xfrm flipV="1">
                <a:off x="17455" y="7527"/>
                <a:ext cx="611" cy="57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08" name="Shape 339"/>
              <p:cNvSpPr/>
              <p:nvPr/>
            </p:nvSpPr>
            <p:spPr>
              <a:xfrm flipV="1">
                <a:off x="18066" y="7374"/>
                <a:ext cx="672" cy="153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09" name="Shape 340"/>
              <p:cNvSpPr/>
              <p:nvPr/>
            </p:nvSpPr>
            <p:spPr>
              <a:xfrm flipV="1">
                <a:off x="18737" y="7259"/>
                <a:ext cx="611" cy="115"/>
              </a:xfrm>
              <a:prstGeom prst="line">
                <a:avLst/>
              </a:prstGeom>
              <a:noFill/>
              <a:ln w="15875">
                <a:solidFill>
                  <a:srgbClr val="49C779"/>
                </a:solidFill>
                <a:prstDash val="solid"/>
              </a:ln>
            </p:spPr>
          </p:sp>
          <p:sp>
            <p:nvSpPr>
              <p:cNvPr id="1310" name="Shape 341"/>
              <p:cNvSpPr/>
              <p:nvPr/>
            </p:nvSpPr>
            <p:spPr>
              <a:xfrm flipV="1">
                <a:off x="19348" y="7240"/>
                <a:ext cx="611" cy="19"/>
              </a:xfrm>
              <a:prstGeom prst="line">
                <a:avLst/>
              </a:prstGeom>
              <a:noFill/>
              <a:ln w="12700" cmpd="sng">
                <a:solidFill>
                  <a:srgbClr val="49C779"/>
                </a:solidFill>
                <a:prstDash val="sysDot"/>
              </a:ln>
            </p:spPr>
          </p:sp>
        </p:grpSp>
        <p:grpSp>
          <p:nvGrpSpPr>
            <p:cNvPr id="1311" name="组合 1310"/>
            <p:cNvGrpSpPr/>
            <p:nvPr/>
          </p:nvGrpSpPr>
          <p:grpSpPr>
            <a:xfrm>
              <a:off x="19420" y="12120"/>
              <a:ext cx="1592" cy="998"/>
              <a:chOff x="16906" y="5803"/>
              <a:chExt cx="3053" cy="1915"/>
            </a:xfrm>
          </p:grpSpPr>
          <p:sp>
            <p:nvSpPr>
              <p:cNvPr id="1312" name="Shape 242"/>
              <p:cNvSpPr/>
              <p:nvPr/>
            </p:nvSpPr>
            <p:spPr>
              <a:xfrm>
                <a:off x="16906" y="7718"/>
                <a:ext cx="3053" cy="0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1313" name="Shape 243"/>
              <p:cNvSpPr/>
              <p:nvPr/>
            </p:nvSpPr>
            <p:spPr>
              <a:xfrm flipV="1">
                <a:off x="16906" y="5803"/>
                <a:ext cx="0" cy="1915"/>
              </a:xfrm>
              <a:prstGeom prst="line">
                <a:avLst/>
              </a:prstGeom>
              <a:noFill/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1314" name="Shape 244"/>
              <p:cNvSpPr/>
              <p:nvPr/>
            </p:nvSpPr>
            <p:spPr>
              <a:xfrm>
                <a:off x="16906" y="6282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315" name="Shape 245"/>
              <p:cNvSpPr/>
              <p:nvPr/>
            </p:nvSpPr>
            <p:spPr>
              <a:xfrm>
                <a:off x="16906" y="6761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316" name="Shape 246"/>
              <p:cNvSpPr/>
              <p:nvPr/>
            </p:nvSpPr>
            <p:spPr>
              <a:xfrm>
                <a:off x="16906" y="7240"/>
                <a:ext cx="3053" cy="0"/>
              </a:xfrm>
              <a:prstGeom prst="line">
                <a:avLst/>
              </a:prstGeom>
              <a:noFill/>
              <a:ln w="4445">
                <a:solidFill>
                  <a:srgbClr val="D9E2EA"/>
                </a:solidFill>
                <a:prstDash val="solid"/>
              </a:ln>
            </p:spPr>
          </p:sp>
          <p:sp>
            <p:nvSpPr>
              <p:cNvPr id="1317" name="Shape 247"/>
              <p:cNvSpPr/>
              <p:nvPr/>
            </p:nvSpPr>
            <p:spPr>
              <a:xfrm>
                <a:off x="16906" y="6996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18" name="Shape 248"/>
              <p:cNvSpPr/>
              <p:nvPr/>
            </p:nvSpPr>
            <p:spPr>
              <a:xfrm flipV="1">
                <a:off x="17394" y="6939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19" name="Shape 249"/>
              <p:cNvSpPr/>
              <p:nvPr/>
            </p:nvSpPr>
            <p:spPr>
              <a:xfrm flipV="1">
                <a:off x="17944" y="6613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0" name="Shape 250"/>
              <p:cNvSpPr/>
              <p:nvPr/>
            </p:nvSpPr>
            <p:spPr>
              <a:xfrm flipV="1">
                <a:off x="18585" y="636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1" name="Shape 251"/>
              <p:cNvSpPr/>
              <p:nvPr/>
            </p:nvSpPr>
            <p:spPr>
              <a:xfrm flipV="1">
                <a:off x="19226" y="6268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2" name="Shape 252"/>
              <p:cNvSpPr/>
              <p:nvPr/>
            </p:nvSpPr>
            <p:spPr>
              <a:xfrm>
                <a:off x="16906" y="7022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3" name="Shape 253"/>
              <p:cNvSpPr/>
              <p:nvPr/>
            </p:nvSpPr>
            <p:spPr>
              <a:xfrm flipV="1">
                <a:off x="17394" y="6965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4" name="Shape 254"/>
              <p:cNvSpPr/>
              <p:nvPr/>
            </p:nvSpPr>
            <p:spPr>
              <a:xfrm flipV="1">
                <a:off x="17944" y="6639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5" name="Shape 255"/>
              <p:cNvSpPr/>
              <p:nvPr/>
            </p:nvSpPr>
            <p:spPr>
              <a:xfrm flipV="1">
                <a:off x="18585" y="639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6" name="Shape 256"/>
              <p:cNvSpPr/>
              <p:nvPr/>
            </p:nvSpPr>
            <p:spPr>
              <a:xfrm flipV="1">
                <a:off x="19226" y="6294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7" name="Shape 257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8" name="Shape 258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29" name="Shape 259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0" name="Shape 260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1" name="Shape 261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2" name="Shape 262"/>
              <p:cNvSpPr/>
              <p:nvPr/>
            </p:nvSpPr>
            <p:spPr>
              <a:xfrm>
                <a:off x="16906" y="7074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3" name="Shape 263"/>
              <p:cNvSpPr/>
              <p:nvPr/>
            </p:nvSpPr>
            <p:spPr>
              <a:xfrm flipV="1">
                <a:off x="17394" y="7017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4" name="Shape 264"/>
              <p:cNvSpPr/>
              <p:nvPr/>
            </p:nvSpPr>
            <p:spPr>
              <a:xfrm flipV="1">
                <a:off x="17944" y="6691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5" name="Shape 265"/>
              <p:cNvSpPr/>
              <p:nvPr/>
            </p:nvSpPr>
            <p:spPr>
              <a:xfrm flipV="1">
                <a:off x="18585" y="644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6" name="Shape 266"/>
              <p:cNvSpPr/>
              <p:nvPr/>
            </p:nvSpPr>
            <p:spPr>
              <a:xfrm flipV="1">
                <a:off x="19226" y="6346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7" name="Shape 267"/>
              <p:cNvSpPr/>
              <p:nvPr/>
            </p:nvSpPr>
            <p:spPr>
              <a:xfrm>
                <a:off x="16906" y="7100"/>
                <a:ext cx="488" cy="77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8" name="Shape 268"/>
              <p:cNvSpPr/>
              <p:nvPr/>
            </p:nvSpPr>
            <p:spPr>
              <a:xfrm flipV="1">
                <a:off x="17394" y="7042"/>
                <a:ext cx="550" cy="134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39" name="Shape 269"/>
              <p:cNvSpPr/>
              <p:nvPr/>
            </p:nvSpPr>
            <p:spPr>
              <a:xfrm flipV="1">
                <a:off x="17944" y="6717"/>
                <a:ext cx="641" cy="32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40" name="Shape 270"/>
              <p:cNvSpPr/>
              <p:nvPr/>
            </p:nvSpPr>
            <p:spPr>
              <a:xfrm flipV="1">
                <a:off x="18585" y="646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41" name="Shape 271"/>
              <p:cNvSpPr/>
              <p:nvPr/>
            </p:nvSpPr>
            <p:spPr>
              <a:xfrm flipV="1">
                <a:off x="19226" y="6372"/>
                <a:ext cx="733" cy="96"/>
              </a:xfrm>
              <a:prstGeom prst="line">
                <a:avLst/>
              </a:prstGeom>
              <a:noFill/>
              <a:ln w="13970">
                <a:solidFill>
                  <a:srgbClr val="4B83E6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42" name="Shape 272"/>
              <p:cNvSpPr/>
              <p:nvPr/>
            </p:nvSpPr>
            <p:spPr>
              <a:xfrm>
                <a:off x="16906" y="7048"/>
                <a:ext cx="488" cy="77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43" name="Shape 273"/>
              <p:cNvSpPr/>
              <p:nvPr/>
            </p:nvSpPr>
            <p:spPr>
              <a:xfrm flipV="1">
                <a:off x="17394" y="6991"/>
                <a:ext cx="550" cy="134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44" name="Shape 274"/>
              <p:cNvSpPr/>
              <p:nvPr/>
            </p:nvSpPr>
            <p:spPr>
              <a:xfrm flipV="1">
                <a:off x="17944" y="6665"/>
                <a:ext cx="641" cy="326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45" name="Shape 275"/>
              <p:cNvSpPr/>
              <p:nvPr/>
            </p:nvSpPr>
            <p:spPr>
              <a:xfrm flipV="1">
                <a:off x="18585" y="641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46" name="Shape 276"/>
              <p:cNvSpPr/>
              <p:nvPr/>
            </p:nvSpPr>
            <p:spPr>
              <a:xfrm flipV="1">
                <a:off x="19226" y="6320"/>
                <a:ext cx="733" cy="96"/>
              </a:xfrm>
              <a:prstGeom prst="line">
                <a:avLst/>
              </a:prstGeom>
              <a:noFill/>
              <a:ln w="12700" cmpd="sng">
                <a:solidFill>
                  <a:srgbClr val="F29A5A"/>
                </a:solidFill>
                <a:prstDash val="sysDot"/>
              </a:ln>
            </p:spPr>
          </p:sp>
          <p:sp>
            <p:nvSpPr>
              <p:cNvPr id="1347" name="Shape 277"/>
              <p:cNvSpPr/>
              <p:nvPr/>
            </p:nvSpPr>
            <p:spPr>
              <a:xfrm>
                <a:off x="16906" y="7188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48" name="Shape 278"/>
              <p:cNvSpPr/>
              <p:nvPr/>
            </p:nvSpPr>
            <p:spPr>
              <a:xfrm flipV="1">
                <a:off x="17455" y="7149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49" name="Shape 279"/>
              <p:cNvSpPr/>
              <p:nvPr/>
            </p:nvSpPr>
            <p:spPr>
              <a:xfrm flipV="1">
                <a:off x="18005" y="6843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0" name="Shape 280"/>
              <p:cNvSpPr/>
              <p:nvPr/>
            </p:nvSpPr>
            <p:spPr>
              <a:xfrm flipV="1">
                <a:off x="18646" y="6594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1" name="Shape 281"/>
              <p:cNvSpPr/>
              <p:nvPr/>
            </p:nvSpPr>
            <p:spPr>
              <a:xfrm flipV="1">
                <a:off x="19287" y="6498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2" name="Shape 282"/>
              <p:cNvSpPr/>
              <p:nvPr/>
            </p:nvSpPr>
            <p:spPr>
              <a:xfrm>
                <a:off x="16906" y="7214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3" name="Shape 283"/>
              <p:cNvSpPr/>
              <p:nvPr/>
            </p:nvSpPr>
            <p:spPr>
              <a:xfrm flipV="1">
                <a:off x="17455" y="7175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4" name="Shape 284"/>
              <p:cNvSpPr/>
              <p:nvPr/>
            </p:nvSpPr>
            <p:spPr>
              <a:xfrm flipV="1">
                <a:off x="18005" y="6869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5" name="Shape 285"/>
              <p:cNvSpPr/>
              <p:nvPr/>
            </p:nvSpPr>
            <p:spPr>
              <a:xfrm flipV="1">
                <a:off x="18646" y="6620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6" name="Shape 286"/>
              <p:cNvSpPr/>
              <p:nvPr/>
            </p:nvSpPr>
            <p:spPr>
              <a:xfrm flipV="1">
                <a:off x="19287" y="6524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7" name="Shape 287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8" name="Shape 288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59" name="Shape 289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0" name="Shape 290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1" name="Shape 291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2" name="Shape 292"/>
              <p:cNvSpPr/>
              <p:nvPr/>
            </p:nvSpPr>
            <p:spPr>
              <a:xfrm>
                <a:off x="16906" y="7266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3" name="Shape 293"/>
              <p:cNvSpPr/>
              <p:nvPr/>
            </p:nvSpPr>
            <p:spPr>
              <a:xfrm flipV="1">
                <a:off x="17455" y="7227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4" name="Shape 294"/>
              <p:cNvSpPr/>
              <p:nvPr/>
            </p:nvSpPr>
            <p:spPr>
              <a:xfrm flipV="1">
                <a:off x="18005" y="6921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5" name="Shape 295"/>
              <p:cNvSpPr/>
              <p:nvPr/>
            </p:nvSpPr>
            <p:spPr>
              <a:xfrm flipV="1">
                <a:off x="18646" y="6672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6" name="Shape 296"/>
              <p:cNvSpPr/>
              <p:nvPr/>
            </p:nvSpPr>
            <p:spPr>
              <a:xfrm flipV="1">
                <a:off x="19287" y="6576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7" name="Shape 297"/>
              <p:cNvSpPr/>
              <p:nvPr/>
            </p:nvSpPr>
            <p:spPr>
              <a:xfrm>
                <a:off x="16906" y="7291"/>
                <a:ext cx="550" cy="57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8" name="Shape 298"/>
              <p:cNvSpPr/>
              <p:nvPr/>
            </p:nvSpPr>
            <p:spPr>
              <a:xfrm flipV="1">
                <a:off x="17455" y="7253"/>
                <a:ext cx="550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69" name="Shape 299"/>
              <p:cNvSpPr/>
              <p:nvPr/>
            </p:nvSpPr>
            <p:spPr>
              <a:xfrm flipV="1">
                <a:off x="18005" y="6947"/>
                <a:ext cx="641" cy="30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70" name="Shape 300"/>
              <p:cNvSpPr/>
              <p:nvPr/>
            </p:nvSpPr>
            <p:spPr>
              <a:xfrm flipV="1">
                <a:off x="18646" y="6698"/>
                <a:ext cx="641" cy="249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71" name="Shape 301"/>
              <p:cNvSpPr/>
              <p:nvPr/>
            </p:nvSpPr>
            <p:spPr>
              <a:xfrm flipV="1">
                <a:off x="19287" y="6602"/>
                <a:ext cx="672" cy="96"/>
              </a:xfrm>
              <a:prstGeom prst="line">
                <a:avLst/>
              </a:prstGeom>
              <a:noFill/>
              <a:ln w="13970">
                <a:solidFill>
                  <a:srgbClr val="49C779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72" name="Shape 302"/>
              <p:cNvSpPr/>
              <p:nvPr/>
            </p:nvSpPr>
            <p:spPr>
              <a:xfrm>
                <a:off x="16906" y="7240"/>
                <a:ext cx="550" cy="57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73" name="Shape 303"/>
              <p:cNvSpPr/>
              <p:nvPr/>
            </p:nvSpPr>
            <p:spPr>
              <a:xfrm flipV="1">
                <a:off x="17455" y="7201"/>
                <a:ext cx="550" cy="96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74" name="Shape 304"/>
              <p:cNvSpPr/>
              <p:nvPr/>
            </p:nvSpPr>
            <p:spPr>
              <a:xfrm flipV="1">
                <a:off x="18005" y="6895"/>
                <a:ext cx="641" cy="306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75" name="Shape 305"/>
              <p:cNvSpPr/>
              <p:nvPr/>
            </p:nvSpPr>
            <p:spPr>
              <a:xfrm flipV="1">
                <a:off x="18646" y="6646"/>
                <a:ext cx="641" cy="249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376" name="Shape 306"/>
              <p:cNvSpPr/>
              <p:nvPr/>
            </p:nvSpPr>
            <p:spPr>
              <a:xfrm flipV="1">
                <a:off x="19287" y="6550"/>
                <a:ext cx="672" cy="96"/>
              </a:xfrm>
              <a:prstGeom prst="line">
                <a:avLst/>
              </a:prstGeom>
              <a:noFill/>
              <a:ln w="12700" cmpd="sng">
                <a:solidFill>
                  <a:srgbClr val="F29A5A"/>
                </a:solidFill>
                <a:prstDash val="sysDot"/>
              </a:ln>
            </p:spPr>
          </p:sp>
          <p:sp>
            <p:nvSpPr>
              <p:cNvPr id="1377" name="Shape 307"/>
              <p:cNvSpPr/>
              <p:nvPr/>
            </p:nvSpPr>
            <p:spPr>
              <a:xfrm>
                <a:off x="16906" y="7360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78" name="Shape 308"/>
              <p:cNvSpPr/>
              <p:nvPr/>
            </p:nvSpPr>
            <p:spPr>
              <a:xfrm flipV="1">
                <a:off x="17425" y="7303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79" name="Shape 309"/>
              <p:cNvSpPr/>
              <p:nvPr/>
            </p:nvSpPr>
            <p:spPr>
              <a:xfrm flipV="1">
                <a:off x="18005" y="7073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0" name="Shape 310"/>
              <p:cNvSpPr/>
              <p:nvPr/>
            </p:nvSpPr>
            <p:spPr>
              <a:xfrm flipV="1">
                <a:off x="18676" y="6862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1" name="Shape 311"/>
              <p:cNvSpPr/>
              <p:nvPr/>
            </p:nvSpPr>
            <p:spPr>
              <a:xfrm flipV="1">
                <a:off x="19348" y="6843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2" name="Shape 312"/>
              <p:cNvSpPr/>
              <p:nvPr/>
            </p:nvSpPr>
            <p:spPr>
              <a:xfrm>
                <a:off x="16906" y="7386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3" name="Shape 313"/>
              <p:cNvSpPr/>
              <p:nvPr/>
            </p:nvSpPr>
            <p:spPr>
              <a:xfrm flipV="1">
                <a:off x="17425" y="7329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4" name="Shape 314"/>
              <p:cNvSpPr/>
              <p:nvPr/>
            </p:nvSpPr>
            <p:spPr>
              <a:xfrm flipV="1">
                <a:off x="18005" y="7099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5" name="Shape 315"/>
              <p:cNvSpPr/>
              <p:nvPr/>
            </p:nvSpPr>
            <p:spPr>
              <a:xfrm flipV="1">
                <a:off x="18676" y="6888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6" name="Shape 316"/>
              <p:cNvSpPr/>
              <p:nvPr/>
            </p:nvSpPr>
            <p:spPr>
              <a:xfrm flipV="1">
                <a:off x="19348" y="6869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7" name="Shape 317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8" name="Shape 318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89" name="Shape 319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0" name="Shape 320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1" name="Shape 321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2" name="Shape 322"/>
              <p:cNvSpPr/>
              <p:nvPr/>
            </p:nvSpPr>
            <p:spPr>
              <a:xfrm>
                <a:off x="16906" y="7438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3" name="Shape 323"/>
              <p:cNvSpPr/>
              <p:nvPr/>
            </p:nvSpPr>
            <p:spPr>
              <a:xfrm flipV="1">
                <a:off x="17425" y="7380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4" name="Shape 324"/>
              <p:cNvSpPr/>
              <p:nvPr/>
            </p:nvSpPr>
            <p:spPr>
              <a:xfrm flipV="1">
                <a:off x="18005" y="7151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5" name="Shape 325"/>
              <p:cNvSpPr/>
              <p:nvPr/>
            </p:nvSpPr>
            <p:spPr>
              <a:xfrm flipV="1">
                <a:off x="18676" y="6940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6" name="Shape 326"/>
              <p:cNvSpPr/>
              <p:nvPr/>
            </p:nvSpPr>
            <p:spPr>
              <a:xfrm flipV="1">
                <a:off x="19348" y="6921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7" name="Shape 327"/>
              <p:cNvSpPr/>
              <p:nvPr/>
            </p:nvSpPr>
            <p:spPr>
              <a:xfrm>
                <a:off x="16906" y="7464"/>
                <a:ext cx="519" cy="38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8" name="Shape 328"/>
              <p:cNvSpPr/>
              <p:nvPr/>
            </p:nvSpPr>
            <p:spPr>
              <a:xfrm flipV="1">
                <a:off x="17425" y="7406"/>
                <a:ext cx="580" cy="96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399" name="Shape 329"/>
              <p:cNvSpPr/>
              <p:nvPr/>
            </p:nvSpPr>
            <p:spPr>
              <a:xfrm flipV="1">
                <a:off x="18005" y="7177"/>
                <a:ext cx="672" cy="230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400" name="Shape 330"/>
              <p:cNvSpPr/>
              <p:nvPr/>
            </p:nvSpPr>
            <p:spPr>
              <a:xfrm flipV="1">
                <a:off x="18676" y="6966"/>
                <a:ext cx="672" cy="211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401" name="Shape 331"/>
              <p:cNvSpPr/>
              <p:nvPr/>
            </p:nvSpPr>
            <p:spPr>
              <a:xfrm flipV="1">
                <a:off x="19348" y="6947"/>
                <a:ext cx="611" cy="19"/>
              </a:xfrm>
              <a:prstGeom prst="line">
                <a:avLst/>
              </a:prstGeom>
              <a:noFill/>
              <a:ln w="13970">
                <a:solidFill>
                  <a:srgbClr val="F29A5A">
                    <a:alpha val="26000"/>
                  </a:srgbClr>
                </a:solidFill>
                <a:prstDash val="solid"/>
              </a:ln>
            </p:spPr>
          </p:sp>
          <p:sp>
            <p:nvSpPr>
              <p:cNvPr id="1402" name="Shape 332"/>
              <p:cNvSpPr/>
              <p:nvPr/>
            </p:nvSpPr>
            <p:spPr>
              <a:xfrm>
                <a:off x="16906" y="7412"/>
                <a:ext cx="519" cy="38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03" name="Shape 333"/>
              <p:cNvSpPr/>
              <p:nvPr/>
            </p:nvSpPr>
            <p:spPr>
              <a:xfrm flipV="1">
                <a:off x="17425" y="7355"/>
                <a:ext cx="580" cy="96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04" name="Shape 334"/>
              <p:cNvSpPr/>
              <p:nvPr/>
            </p:nvSpPr>
            <p:spPr>
              <a:xfrm flipV="1">
                <a:off x="18005" y="7125"/>
                <a:ext cx="672" cy="230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05" name="Shape 335"/>
              <p:cNvSpPr/>
              <p:nvPr/>
            </p:nvSpPr>
            <p:spPr>
              <a:xfrm flipV="1">
                <a:off x="18676" y="6914"/>
                <a:ext cx="672" cy="211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06" name="Shape 336"/>
              <p:cNvSpPr/>
              <p:nvPr/>
            </p:nvSpPr>
            <p:spPr>
              <a:xfrm flipV="1">
                <a:off x="19348" y="6895"/>
                <a:ext cx="611" cy="19"/>
              </a:xfrm>
              <a:prstGeom prst="line">
                <a:avLst/>
              </a:prstGeom>
              <a:noFill/>
              <a:ln w="12700" cmpd="sng">
                <a:solidFill>
                  <a:srgbClr val="F29A5A"/>
                </a:solidFill>
                <a:prstDash val="sysDot"/>
              </a:ln>
            </p:spPr>
          </p:sp>
          <p:sp>
            <p:nvSpPr>
              <p:cNvPr id="1407" name="Shape 337"/>
              <p:cNvSpPr/>
              <p:nvPr/>
            </p:nvSpPr>
            <p:spPr>
              <a:xfrm>
                <a:off x="16906" y="7565"/>
                <a:ext cx="550" cy="19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08" name="Shape 338"/>
              <p:cNvSpPr/>
              <p:nvPr/>
            </p:nvSpPr>
            <p:spPr>
              <a:xfrm flipV="1">
                <a:off x="17455" y="7527"/>
                <a:ext cx="611" cy="57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09" name="Shape 339"/>
              <p:cNvSpPr/>
              <p:nvPr/>
            </p:nvSpPr>
            <p:spPr>
              <a:xfrm flipV="1">
                <a:off x="18066" y="7374"/>
                <a:ext cx="672" cy="153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10" name="Shape 340"/>
              <p:cNvSpPr/>
              <p:nvPr/>
            </p:nvSpPr>
            <p:spPr>
              <a:xfrm flipV="1">
                <a:off x="18737" y="7259"/>
                <a:ext cx="611" cy="115"/>
              </a:xfrm>
              <a:prstGeom prst="line">
                <a:avLst/>
              </a:prstGeom>
              <a:noFill/>
              <a:ln w="15875">
                <a:solidFill>
                  <a:srgbClr val="F29A5A"/>
                </a:solidFill>
                <a:prstDash val="solid"/>
              </a:ln>
            </p:spPr>
          </p:sp>
          <p:sp>
            <p:nvSpPr>
              <p:cNvPr id="1411" name="Shape 341"/>
              <p:cNvSpPr/>
              <p:nvPr/>
            </p:nvSpPr>
            <p:spPr>
              <a:xfrm flipV="1">
                <a:off x="19348" y="7240"/>
                <a:ext cx="611" cy="19"/>
              </a:xfrm>
              <a:prstGeom prst="line">
                <a:avLst/>
              </a:prstGeom>
              <a:noFill/>
              <a:ln w="12700" cmpd="sng">
                <a:solidFill>
                  <a:srgbClr val="F29A5A"/>
                </a:solidFill>
                <a:prstDash val="sysDot"/>
              </a:ln>
            </p:spPr>
          </p:sp>
        </p:grpSp>
        <p:sp>
          <p:nvSpPr>
            <p:cNvPr id="1412" name="Text 226"/>
            <p:cNvSpPr txBox="1"/>
            <p:nvPr/>
          </p:nvSpPr>
          <p:spPr>
            <a:xfrm>
              <a:off x="19318" y="9792"/>
              <a:ext cx="7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p>
              <a:pPr marL="0" indent="0" algn="ctr">
                <a:buNone/>
              </a:pPr>
              <a:r>
                <a:rPr lang="en-US" sz="730" i="1" dirty="0">
                  <a:solidFill>
                    <a:srgbClr val="11182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…</a:t>
              </a:r>
              <a:endParaRPr lang="en-US" sz="730" dirty="0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WZhYzFmZTY3M2YxZTAzOGQzNjIwODFiODJjNDU2MWEifQ=="/>
  <p:tag name="resource_record_key" val="{&quot;10&quot;:[21557347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1833</Words>
  <Application>WPS 演示</Application>
  <PresentationFormat>On-screen Show (16:9)</PresentationFormat>
  <Paragraphs>212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Arial</vt:lpstr>
      <vt:lpstr>Arial</vt:lpstr>
      <vt:lpstr>Cambria Math</vt:lpstr>
      <vt:lpstr>Cambria Math</vt:lpstr>
      <vt:lpstr>Cambria Math</vt:lpstr>
      <vt:lpstr>微软雅黑</vt:lpstr>
      <vt:lpstr>Arial Unicode MS</vt:lpstr>
      <vt:lpstr>等线</vt:lpstr>
      <vt:lpstr>Calibri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Kode model: genotype-conditioned continuous-time developmental dynamics</dc:title>
  <dc:creator>OpenAI</dc:creator>
  <dc:subject>Editable Kode scientific architecture figure</dc:subject>
  <cp:lastModifiedBy>影</cp:lastModifiedBy>
  <cp:revision>10</cp:revision>
  <dcterms:created xsi:type="dcterms:W3CDTF">2026-09-27T05:16:00Z</dcterms:created>
  <dcterms:modified xsi:type="dcterms:W3CDTF">2026-09-27T12:00:33Z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A07D005E5E364D1E8FCFB2D24164C3F3_12</vt:lpwstr>
  </property>
  <property fmtid="{D5CDD505-2E9C-101B-9397-08002B2CF9AE}" pid="3" name="KSOProductBuildVer">
    <vt:lpwstr>2052-12.1.0.18276</vt:lpwstr>
  </property>
</Properties>
</file>